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5206" r:id="rId2"/>
    <p:sldId id="5115" r:id="rId3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000000"/>
          </p15:clr>
        </p15:guide>
        <p15:guide id="2" pos="3840" userDrawn="1">
          <p15:clr>
            <a:srgbClr val="000000"/>
          </p15:clr>
        </p15:guide>
        <p15:guide id="3" orient="horz" pos="22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0" roundtripDataSignature="AMtx7miltv7uYRUZWiu2TFhseFwJ8jltD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ngh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E6D6"/>
    <a:srgbClr val="6C7AF5"/>
    <a:srgbClr val="CD3C35"/>
    <a:srgbClr val="05FFED"/>
    <a:srgbClr val="00B8AB"/>
    <a:srgbClr val="00FFED"/>
    <a:srgbClr val="2BE6FF"/>
    <a:srgbClr val="29F729"/>
    <a:srgbClr val="00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1C6F6D-104B-4AAF-82D7-F5CF231855AB}">
  <a:tblStyle styleId="{351C6F6D-104B-4AAF-82D7-F5CF231855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C2236F-A6BD-4835-82EB-C3BB24E55C3A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A56C63A-55DB-4F42-B5BD-9CADE035B796}" styleName="Table_2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49" autoAdjust="0"/>
    <p:restoredTop sz="96922" autoAdjust="0"/>
  </p:normalViewPr>
  <p:slideViewPr>
    <p:cSldViewPr snapToGrid="0">
      <p:cViewPr>
        <p:scale>
          <a:sx n="100" d="100"/>
          <a:sy n="100" d="100"/>
        </p:scale>
        <p:origin x="1416" y="456"/>
      </p:cViewPr>
      <p:guideLst>
        <p:guide orient="horz" pos="2183"/>
        <p:guide pos="3840"/>
        <p:guide orient="horz" pos="227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2852"/>
    </p:cViewPr>
  </p:sorterViewPr>
  <p:notesViewPr>
    <p:cSldViewPr snapToGrid="0">
      <p:cViewPr varScale="1">
        <p:scale>
          <a:sx n="113" d="100"/>
          <a:sy n="113" d="100"/>
        </p:scale>
        <p:origin x="5142" y="9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324" Type="http://schemas.openxmlformats.org/officeDocument/2006/relationships/theme" Target="theme/theme1.xml"/><Relationship Id="rId323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22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321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320" Type="http://customschemas.google.com/relationships/presentationmetadata" Target="metadata"/><Relationship Id="rId32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19E84-A579-4CC5-AA04-7EEA82ADDB39}" type="datetimeFigureOut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2026-02-04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221F58-75FC-427B-9EDB-5CFFC3F21D49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5967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44" tIns="47758" rIns="95544" bIns="47758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1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44" tIns="47758" rIns="95544" bIns="47758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44" tIns="47758" rIns="95544" bIns="47758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44" tIns="47758" rIns="95544" bIns="47758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44" tIns="47758" rIns="95544" bIns="47758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‹#›</a:t>
            </a:fld>
            <a:endParaRPr lang="en-US" sz="13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5410781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5CB1-1A9D-46B5-35EF-88A32B7C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249CDA-BC13-5C4F-3878-EBFED7F2B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440AC4-245D-A2C2-19DD-97B8B745E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E29B48-A3AA-1294-D0A9-BC6C1B72C61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1</a:t>
            </a:fld>
            <a:endParaRPr lang="en-US" sz="13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28738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D954D-57BF-DF0A-9BDD-B4221A2F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44B663-4BC8-2996-2F7A-9CFB9ED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311972-2F49-7C49-5098-38215B58E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811D1F-1D40-085D-248F-45A8F69173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2</a:t>
            </a:fld>
            <a:endParaRPr lang="en-US" sz="13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87367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@SW제품개발본부_BODY">
  <p:cSld name="@SW제품개발본부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0"/>
          <p:cNvSpPr/>
          <p:nvPr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4" name="Google Shape;54;p250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11363324" y="6543079"/>
            <a:ext cx="810071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50"/>
          <p:cNvSpPr/>
          <p:nvPr/>
        </p:nvSpPr>
        <p:spPr>
          <a:xfrm>
            <a:off x="226419" y="571480"/>
            <a:ext cx="1082494" cy="290150"/>
          </a:xfrm>
          <a:custGeom>
            <a:avLst/>
            <a:gdLst/>
            <a:ahLst/>
            <a:cxnLst/>
            <a:rect l="l" t="t" r="r" b="b"/>
            <a:pathLst>
              <a:path w="2844" h="1075" extrusionOk="0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56;p250"/>
          <p:cNvSpPr txBox="1"/>
          <p:nvPr/>
        </p:nvSpPr>
        <p:spPr>
          <a:xfrm>
            <a:off x="488057" y="6455596"/>
            <a:ext cx="10020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200"/>
              <a:buFont typeface="Malgun Gothic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243E"/>
                </a:buClr>
                <a:buSzPts val="1200"/>
                <a:buFont typeface="Malgun Gothic"/>
                <a:buNone/>
              </a:pPr>
              <a:t>‹#›</a:t>
            </a:fld>
            <a:r>
              <a:rPr lang="en-US" sz="1200" b="0" i="0" u="none" strike="noStrike" cap="none" dirty="0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rPr>
              <a:t>/#</a:t>
            </a:r>
            <a:endParaRPr sz="1600" b="0" i="0" u="none" strike="noStrike" cap="none" dirty="0">
              <a:solidFill>
                <a:srgbClr val="0F243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57;p250"/>
          <p:cNvSpPr txBox="1">
            <a:spLocks noGrp="1"/>
          </p:cNvSpPr>
          <p:nvPr>
            <p:ph type="title"/>
          </p:nvPr>
        </p:nvSpPr>
        <p:spPr>
          <a:xfrm>
            <a:off x="812801" y="120835"/>
            <a:ext cx="7950048" cy="36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algun Gothic"/>
              <a:buNone/>
              <a:defRPr sz="2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0"/>
          <p:cNvSpPr txBox="1">
            <a:spLocks noGrp="1"/>
          </p:cNvSpPr>
          <p:nvPr>
            <p:ph type="body" idx="1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None/>
              <a:defRPr sz="1800" b="1">
                <a:solidFill>
                  <a:srgbClr val="2440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9880" algn="l"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280"/>
              <a:buFont typeface="Arial"/>
              <a:buChar char="•"/>
              <a:defRPr sz="1600">
                <a:solidFill>
                  <a:srgbClr val="2440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Font typeface="Malgun Gothic"/>
              <a:buChar char="–"/>
              <a:defRPr sz="1600">
                <a:solidFill>
                  <a:srgbClr val="2440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rgbClr val="244061"/>
              </a:buClr>
              <a:buSzPts val="1400"/>
              <a:buFont typeface="Malgun Gothic"/>
              <a:buChar char="√"/>
              <a:defRPr sz="1400">
                <a:solidFill>
                  <a:srgbClr val="2440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" name="Picture 3"/>
          <p:cNvPicPr>
            <a:picLocks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40" y="2880000"/>
            <a:ext cx="144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3"/>
          <p:cNvPicPr>
            <a:picLocks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32655" y="2880000"/>
            <a:ext cx="144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"/>
          <p:cNvPicPr>
            <a:picLocks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98644" y="6696750"/>
            <a:ext cx="1224000" cy="14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T_BODY1" preserve="1">
  <p:cSld name="1_IT_BODY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1"/>
          <p:cNvSpPr/>
          <p:nvPr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61;p251"/>
          <p:cNvSpPr/>
          <p:nvPr/>
        </p:nvSpPr>
        <p:spPr>
          <a:xfrm>
            <a:off x="226419" y="571480"/>
            <a:ext cx="1082494" cy="290150"/>
          </a:xfrm>
          <a:custGeom>
            <a:avLst/>
            <a:gdLst/>
            <a:ahLst/>
            <a:cxnLst/>
            <a:rect l="l" t="t" r="r" b="b"/>
            <a:pathLst>
              <a:path w="2844" h="1075" extrusionOk="0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251"/>
          <p:cNvSpPr txBox="1"/>
          <p:nvPr/>
        </p:nvSpPr>
        <p:spPr>
          <a:xfrm>
            <a:off x="9168341" y="6492878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Malgun Gothic"/>
                <a:buNone/>
              </a:pPr>
              <a:t>‹#›</a:t>
            </a:fld>
            <a:endParaRPr sz="1600" b="0" i="0" u="none" strike="noStrike" cap="none" dirty="0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p251"/>
          <p:cNvSpPr txBox="1">
            <a:spLocks noGrp="1"/>
          </p:cNvSpPr>
          <p:nvPr>
            <p:ph type="title"/>
          </p:nvPr>
        </p:nvSpPr>
        <p:spPr>
          <a:xfrm>
            <a:off x="812802" y="120834"/>
            <a:ext cx="6534251" cy="36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algun Gothic"/>
              <a:buNone/>
              <a:defRPr sz="2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1"/>
          <p:cNvSpPr txBox="1">
            <a:spLocks noGrp="1"/>
          </p:cNvSpPr>
          <p:nvPr>
            <p:ph type="body" idx="1"/>
          </p:nvPr>
        </p:nvSpPr>
        <p:spPr>
          <a:xfrm>
            <a:off x="966425" y="716555"/>
            <a:ext cx="10618245" cy="50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None/>
              <a:defRPr sz="1800" b="1">
                <a:solidFill>
                  <a:srgbClr val="2440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9880" algn="l"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280"/>
              <a:buFont typeface="Arial"/>
              <a:buChar char="•"/>
              <a:defRPr sz="1600">
                <a:solidFill>
                  <a:srgbClr val="2440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Font typeface="Malgun Gothic"/>
              <a:buChar char="–"/>
              <a:defRPr sz="1600">
                <a:solidFill>
                  <a:srgbClr val="2440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rgbClr val="244061"/>
              </a:buClr>
              <a:buSzPts val="1400"/>
              <a:buFont typeface="Malgun Gothic"/>
              <a:buChar char="√"/>
              <a:defRPr sz="1400">
                <a:solidFill>
                  <a:srgbClr val="2440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" name="Picture 3"/>
          <p:cNvPicPr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40" y="2880000"/>
            <a:ext cx="144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3"/>
          <p:cNvPicPr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32655" y="2880000"/>
            <a:ext cx="144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2"/>
          <p:cNvPicPr>
            <a:picLocks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98644" y="6696750"/>
            <a:ext cx="1224000" cy="14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7"/>
          <p:cNvSpPr txBox="1"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7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57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9" name="Google Shape;99;p257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0" name="Google Shape;100;p257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58"/>
          <p:cNvSpPr txBox="1"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58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5" name="Google Shape;105;p258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6" name="Google Shape;106;p258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9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59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1" name="Google Shape;111;p259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2" name="Google Shape;112;p259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60"/>
          <p:cNvSpPr txBox="1">
            <a:spLocks noGrp="1"/>
          </p:cNvSpPr>
          <p:nvPr>
            <p:ph type="body" idx="1"/>
          </p:nvPr>
        </p:nvSpPr>
        <p:spPr>
          <a:xfrm>
            <a:off x="609600" y="1600202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6" name="Google Shape;116;p260"/>
          <p:cNvSpPr txBox="1">
            <a:spLocks noGrp="1"/>
          </p:cNvSpPr>
          <p:nvPr>
            <p:ph type="body" idx="2"/>
          </p:nvPr>
        </p:nvSpPr>
        <p:spPr>
          <a:xfrm>
            <a:off x="6197600" y="1600202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7" name="Google Shape;117;p26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26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9" name="Google Shape;119;p260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1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3" name="Google Shape;123;p261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4" name="Google Shape;124;p261"/>
          <p:cNvSpPr txBox="1">
            <a:spLocks noGrp="1"/>
          </p:cNvSpPr>
          <p:nvPr>
            <p:ph type="body" idx="3"/>
          </p:nvPr>
        </p:nvSpPr>
        <p:spPr>
          <a:xfrm>
            <a:off x="6193367" y="1535113"/>
            <a:ext cx="5389034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5" name="Google Shape;125;p261"/>
          <p:cNvSpPr txBox="1">
            <a:spLocks noGrp="1"/>
          </p:cNvSpPr>
          <p:nvPr>
            <p:ph type="body" idx="4"/>
          </p:nvPr>
        </p:nvSpPr>
        <p:spPr>
          <a:xfrm>
            <a:off x="6193367" y="2174875"/>
            <a:ext cx="5389034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6" name="Google Shape;126;p26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7" name="Google Shape;127;p26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8" name="Google Shape;128;p261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62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2" name="Google Shape;132;p262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3" name="Google Shape;133;p262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3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6" name="Google Shape;136;p263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7" name="Google Shape;137;p263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5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5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dirty="0"/>
          </a:p>
        </p:txBody>
      </p:sp>
      <p:sp>
        <p:nvSpPr>
          <p:cNvPr id="148" name="Google Shape;148;p265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9" name="Google Shape;149;p265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0" name="Google Shape;150;p265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1" name="Google Shape;151;p265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66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66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6" name="Google Shape;156;p266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7" name="Google Shape;157;p266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7"/>
          <p:cNvSpPr txBox="1">
            <a:spLocks noGrp="1"/>
          </p:cNvSpPr>
          <p:nvPr>
            <p:ph type="title"/>
          </p:nvPr>
        </p:nvSpPr>
        <p:spPr>
          <a:xfrm rot="5400000">
            <a:off x="7285038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67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8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67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2" name="Google Shape;162;p267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3" name="Google Shape;163;p267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2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8" y="6455598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/70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7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2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8" y="6455598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/70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7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2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8" y="6455598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/70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7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2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8" y="6455598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/70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7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2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8" y="6455598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/70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7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2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8" y="6455598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/70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7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2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8" y="6455598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/70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7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2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8" y="6455598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/70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7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2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8" y="6455598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/70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7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1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488057" y="6455596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/63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5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1" name="Freeform 8"/>
          <p:cNvSpPr>
            <a:spLocks/>
          </p:cNvSpPr>
          <p:nvPr userDrawn="1"/>
        </p:nvSpPr>
        <p:spPr bwMode="auto">
          <a:xfrm>
            <a:off x="343202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35361" y="116632"/>
            <a:ext cx="8736971" cy="432048"/>
          </a:xfrm>
          <a:prstGeom prst="rect">
            <a:avLst/>
          </a:prstGeom>
        </p:spPr>
        <p:txBody>
          <a:bodyPr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altLang="ko-KR" dirty="0"/>
              <a:t>1. </a:t>
            </a:r>
            <a:r>
              <a:rPr lang="ko-KR" altLang="en-US" dirty="0"/>
              <a:t>꼭지 제목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1007434" y="692696"/>
            <a:ext cx="8255001" cy="432048"/>
          </a:xfrm>
          <a:prstGeom prst="rect">
            <a:avLst/>
          </a:prstGeom>
        </p:spPr>
        <p:txBody>
          <a:bodyPr/>
          <a:lstStyle>
            <a:lvl1pPr>
              <a:buNone/>
              <a:defRPr sz="2000" b="1"/>
            </a:lvl1pPr>
            <a:lvl2pPr>
              <a:buNone/>
              <a:defRPr/>
            </a:lvl2pPr>
          </a:lstStyle>
          <a:p>
            <a:pPr lvl="0"/>
            <a:r>
              <a:rPr lang="en-US" altLang="ko-KR" dirty="0"/>
              <a:t>1-1 </a:t>
            </a:r>
            <a:r>
              <a:rPr lang="ko-KR" altLang="en-US" dirty="0"/>
              <a:t>페이지 제목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593747"/>
            <a:ext cx="12192000" cy="264277"/>
          </a:xfrm>
          <a:prstGeom prst="rect">
            <a:avLst/>
          </a:prstGeom>
          <a:solidFill>
            <a:srgbClr val="F5F5F5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0" name="슬라이드 번호 개체 틀 3"/>
          <p:cNvSpPr txBox="1">
            <a:spLocks/>
          </p:cNvSpPr>
          <p:nvPr userDrawn="1"/>
        </p:nvSpPr>
        <p:spPr>
          <a:xfrm>
            <a:off x="11188115" y="6500919"/>
            <a:ext cx="1002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/22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8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9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8233588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**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reeform 8"/>
          <p:cNvSpPr>
            <a:spLocks/>
          </p:cNvSpPr>
          <p:nvPr userDrawn="1"/>
        </p:nvSpPr>
        <p:spPr bwMode="auto">
          <a:xfrm>
            <a:off x="343202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088556" y="6460559"/>
            <a:ext cx="1103445" cy="393423"/>
          </a:xfrm>
          <a:prstGeom prst="rect">
            <a:avLst/>
          </a:prstGeom>
          <a:noFill/>
        </p:spPr>
      </p:pic>
      <p:pic>
        <p:nvPicPr>
          <p:cNvPr id="13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5919" y="96331"/>
            <a:ext cx="1063385" cy="370285"/>
          </a:xfrm>
          <a:prstGeom prst="rect">
            <a:avLst/>
          </a:prstGeom>
          <a:noFill/>
        </p:spPr>
      </p:pic>
      <p:sp>
        <p:nvSpPr>
          <p:cNvPr id="12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4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5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8233588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**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reeform 8"/>
          <p:cNvSpPr>
            <a:spLocks/>
          </p:cNvSpPr>
          <p:nvPr userDrawn="1"/>
        </p:nvSpPr>
        <p:spPr bwMode="auto">
          <a:xfrm>
            <a:off x="343202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088556" y="6460559"/>
            <a:ext cx="1103445" cy="393423"/>
          </a:xfrm>
          <a:prstGeom prst="rect">
            <a:avLst/>
          </a:prstGeom>
          <a:noFill/>
        </p:spPr>
      </p:pic>
      <p:pic>
        <p:nvPicPr>
          <p:cNvPr id="13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5919" y="96331"/>
            <a:ext cx="1063385" cy="370285"/>
          </a:xfrm>
          <a:prstGeom prst="rect">
            <a:avLst/>
          </a:prstGeom>
          <a:noFill/>
        </p:spPr>
      </p:pic>
      <p:sp>
        <p:nvSpPr>
          <p:cNvPr id="12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4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5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8233588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**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reeform 8"/>
          <p:cNvSpPr>
            <a:spLocks/>
          </p:cNvSpPr>
          <p:nvPr userDrawn="1"/>
        </p:nvSpPr>
        <p:spPr bwMode="auto">
          <a:xfrm>
            <a:off x="343202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088556" y="6460559"/>
            <a:ext cx="1103445" cy="393423"/>
          </a:xfrm>
          <a:prstGeom prst="rect">
            <a:avLst/>
          </a:prstGeom>
          <a:noFill/>
        </p:spPr>
      </p:pic>
      <p:pic>
        <p:nvPicPr>
          <p:cNvPr id="13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5919" y="96331"/>
            <a:ext cx="1063385" cy="370285"/>
          </a:xfrm>
          <a:prstGeom prst="rect">
            <a:avLst/>
          </a:prstGeom>
          <a:noFill/>
        </p:spPr>
      </p:pic>
      <p:sp>
        <p:nvSpPr>
          <p:cNvPr id="12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4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5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8233588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**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reeform 8"/>
          <p:cNvSpPr>
            <a:spLocks/>
          </p:cNvSpPr>
          <p:nvPr userDrawn="1"/>
        </p:nvSpPr>
        <p:spPr bwMode="auto">
          <a:xfrm>
            <a:off x="343202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088556" y="6460559"/>
            <a:ext cx="1103445" cy="393423"/>
          </a:xfrm>
          <a:prstGeom prst="rect">
            <a:avLst/>
          </a:prstGeom>
          <a:noFill/>
        </p:spPr>
      </p:pic>
      <p:pic>
        <p:nvPicPr>
          <p:cNvPr id="13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5919" y="96331"/>
            <a:ext cx="1063385" cy="370285"/>
          </a:xfrm>
          <a:prstGeom prst="rect">
            <a:avLst/>
          </a:prstGeom>
          <a:noFill/>
        </p:spPr>
      </p:pic>
      <p:sp>
        <p:nvSpPr>
          <p:cNvPr id="12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4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5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8233588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**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reeform 8"/>
          <p:cNvSpPr>
            <a:spLocks/>
          </p:cNvSpPr>
          <p:nvPr userDrawn="1"/>
        </p:nvSpPr>
        <p:spPr bwMode="auto">
          <a:xfrm>
            <a:off x="343202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088556" y="6460559"/>
            <a:ext cx="1103445" cy="393423"/>
          </a:xfrm>
          <a:prstGeom prst="rect">
            <a:avLst/>
          </a:prstGeom>
          <a:noFill/>
        </p:spPr>
      </p:pic>
      <p:pic>
        <p:nvPicPr>
          <p:cNvPr id="13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5919" y="96331"/>
            <a:ext cx="1063385" cy="370285"/>
          </a:xfrm>
          <a:prstGeom prst="rect">
            <a:avLst/>
          </a:prstGeom>
          <a:noFill/>
        </p:spPr>
      </p:pic>
      <p:sp>
        <p:nvSpPr>
          <p:cNvPr id="12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4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5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8233588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**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reeform 8"/>
          <p:cNvSpPr>
            <a:spLocks/>
          </p:cNvSpPr>
          <p:nvPr userDrawn="1"/>
        </p:nvSpPr>
        <p:spPr bwMode="auto">
          <a:xfrm>
            <a:off x="343202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088556" y="6460559"/>
            <a:ext cx="1103445" cy="393423"/>
          </a:xfrm>
          <a:prstGeom prst="rect">
            <a:avLst/>
          </a:prstGeom>
          <a:noFill/>
        </p:spPr>
      </p:pic>
      <p:pic>
        <p:nvPicPr>
          <p:cNvPr id="13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5919" y="96331"/>
            <a:ext cx="1063385" cy="370285"/>
          </a:xfrm>
          <a:prstGeom prst="rect">
            <a:avLst/>
          </a:prstGeom>
          <a:noFill/>
        </p:spPr>
      </p:pic>
      <p:sp>
        <p:nvSpPr>
          <p:cNvPr id="12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4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5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8233588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**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reeform 8"/>
          <p:cNvSpPr>
            <a:spLocks/>
          </p:cNvSpPr>
          <p:nvPr userDrawn="1"/>
        </p:nvSpPr>
        <p:spPr bwMode="auto">
          <a:xfrm>
            <a:off x="343202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088556" y="6460559"/>
            <a:ext cx="1103445" cy="393423"/>
          </a:xfrm>
          <a:prstGeom prst="rect">
            <a:avLst/>
          </a:prstGeom>
          <a:noFill/>
        </p:spPr>
      </p:pic>
      <p:pic>
        <p:nvPicPr>
          <p:cNvPr id="13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5919" y="96331"/>
            <a:ext cx="1063385" cy="370285"/>
          </a:xfrm>
          <a:prstGeom prst="rect">
            <a:avLst/>
          </a:prstGeom>
          <a:noFill/>
        </p:spPr>
      </p:pic>
      <p:sp>
        <p:nvSpPr>
          <p:cNvPr id="12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4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5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8233588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**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reeform 8"/>
          <p:cNvSpPr>
            <a:spLocks/>
          </p:cNvSpPr>
          <p:nvPr userDrawn="1"/>
        </p:nvSpPr>
        <p:spPr bwMode="auto">
          <a:xfrm>
            <a:off x="343202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088556" y="6460559"/>
            <a:ext cx="1103445" cy="393423"/>
          </a:xfrm>
          <a:prstGeom prst="rect">
            <a:avLst/>
          </a:prstGeom>
          <a:noFill/>
        </p:spPr>
      </p:pic>
      <p:pic>
        <p:nvPicPr>
          <p:cNvPr id="13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5919" y="96331"/>
            <a:ext cx="1063385" cy="370285"/>
          </a:xfrm>
          <a:prstGeom prst="rect">
            <a:avLst/>
          </a:prstGeom>
          <a:noFill/>
        </p:spPr>
      </p:pic>
      <p:sp>
        <p:nvSpPr>
          <p:cNvPr id="12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4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5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1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5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15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6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7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1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5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15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6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7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1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5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15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6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7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1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5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15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6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7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1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5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15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6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7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1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5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15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6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7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@SW제품개발본부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Calibri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lum bright="20000"/>
            <a:grayscl/>
          </a:blip>
          <a:stretch>
            <a:fillRect/>
          </a:stretch>
        </p:blipFill>
        <p:spPr>
          <a:xfrm>
            <a:off x="10807901" y="6490804"/>
            <a:ext cx="1083228" cy="29470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26419" y="571480"/>
            <a:ext cx="1082494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12801" y="120835"/>
            <a:ext cx="7950048" cy="364795"/>
          </a:xfrm>
          <a:prstGeom prst="rect">
            <a:avLst/>
          </a:prstGeom>
        </p:spPr>
        <p:txBody>
          <a:bodyPr>
            <a:noAutofit/>
          </a:bodyPr>
          <a:lstStyle>
            <a:lvl1pPr algn="l" latinLnBrk="0"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4"/>
          <p:cNvSpPr>
            <a:spLocks noGrp="1"/>
          </p:cNvSpPr>
          <p:nvPr>
            <p:ph idx="10"/>
          </p:nvPr>
        </p:nvSpPr>
        <p:spPr>
          <a:xfrm>
            <a:off x="966425" y="657286"/>
            <a:ext cx="10618245" cy="504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625475" indent="-263525">
              <a:buSzPct val="80000"/>
              <a:buFont typeface="Arial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2pPr>
            <a:lvl3pPr marL="987425" indent="-271463">
              <a:buFont typeface="맑은 고딕" pitchFamily="50" charset="-127"/>
              <a:buChar char="–"/>
              <a:defRPr sz="16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3pPr>
            <a:lvl4pPr marL="1349375" indent="-271463">
              <a:buFont typeface="맑은 고딕" pitchFamily="50" charset="-127"/>
              <a:buChar char="√"/>
              <a:defRPr sz="14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15" name="TextBox 18"/>
          <p:cNvSpPr txBox="1"/>
          <p:nvPr userDrawn="1"/>
        </p:nvSpPr>
        <p:spPr>
          <a:xfrm>
            <a:off x="4886178" y="6653376"/>
            <a:ext cx="2194560" cy="18466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</a:t>
            </a:r>
            <a:r>
              <a:rPr lang="en-US" altLang="ko-KR" sz="1200" b="1" i="1" baseline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b="1" i="1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Confidential</a:t>
            </a:r>
            <a:endParaRPr lang="ko-KR" altLang="en-US" sz="1200" b="1" i="1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6" name="TextBox 20"/>
          <p:cNvSpPr txBox="1"/>
          <p:nvPr userDrawn="1"/>
        </p:nvSpPr>
        <p:spPr>
          <a:xfrm rot="16200000">
            <a:off x="11233708" y="3240001"/>
            <a:ext cx="170664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7" name="TextBox 28"/>
          <p:cNvSpPr txBox="1"/>
          <p:nvPr userDrawn="1"/>
        </p:nvSpPr>
        <p:spPr>
          <a:xfrm rot="16200000">
            <a:off x="-747121" y="3240001"/>
            <a:ext cx="1712997" cy="1692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OSSTEM  Confidential</a:t>
            </a:r>
            <a:endParaRPr lang="ko-KR" altLang="en-US" sz="1100" b="1" i="0" dirty="0">
              <a:solidFill>
                <a:schemeClr val="bg1">
                  <a:lumMod val="75000"/>
                </a:schemeClr>
              </a:solidFill>
              <a:effectLst/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3793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>
            <a:off x="1" y="-10633"/>
            <a:ext cx="12191751" cy="684247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 latinLnBrk="0" hangingPunct="0"/>
            <a:endParaRPr lang="ko-KR" altLang="en-US" sz="3200" dirty="0">
              <a:solidFill>
                <a:srgbClr val="000000"/>
              </a:solidFill>
              <a:sym typeface="Calibri"/>
            </a:endParaRPr>
          </a:p>
        </p:txBody>
      </p:sp>
      <p:pic>
        <p:nvPicPr>
          <p:cNvPr id="19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2" cstate="print"/>
          <a:srcRect l="4728" t="9238" r="7012" b="16857"/>
          <a:stretch>
            <a:fillRect/>
          </a:stretch>
        </p:blipFill>
        <p:spPr bwMode="auto">
          <a:xfrm>
            <a:off x="11024348" y="137452"/>
            <a:ext cx="960107" cy="411473"/>
          </a:xfrm>
          <a:prstGeom prst="rect">
            <a:avLst/>
          </a:prstGeom>
          <a:noFill/>
        </p:spPr>
      </p:pic>
      <p:sp>
        <p:nvSpPr>
          <p:cNvPr id="12" name="Freeform 8"/>
          <p:cNvSpPr>
            <a:spLocks/>
          </p:cNvSpPr>
          <p:nvPr userDrawn="1"/>
        </p:nvSpPr>
        <p:spPr bwMode="auto">
          <a:xfrm>
            <a:off x="481458" y="673612"/>
            <a:ext cx="814009" cy="29091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ko-KR" altLang="en-US" sz="320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431371" y="132833"/>
            <a:ext cx="9505056" cy="48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1. </a:t>
            </a:r>
            <a:r>
              <a:rPr lang="ko-KR" altLang="en-US" dirty="0"/>
              <a:t>꼭지 제목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007435" y="740701"/>
            <a:ext cx="8928992" cy="48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ko-KR" dirty="0"/>
              <a:t>1-1. </a:t>
            </a:r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3509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6"/>
          <p:cNvSpPr txBox="1"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46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dirty="0"/>
          </a:p>
        </p:txBody>
      </p:sp>
      <p:sp>
        <p:nvSpPr>
          <p:cNvPr id="13" name="Google Shape;13;p246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dirty="0"/>
          </a:p>
        </p:txBody>
      </p:sp>
      <p:sp>
        <p:nvSpPr>
          <p:cNvPr id="14" name="Google Shape;14;p246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752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7" r:id="rId10"/>
    <p:sldLayoutId id="2147483668" r:id="rId11"/>
    <p:sldLayoutId id="2147483669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9" r:id="rId22"/>
    <p:sldLayoutId id="2147483690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14" r:id="rId32"/>
    <p:sldLayoutId id="2147483715" r:id="rId33"/>
    <p:sldLayoutId id="2147483716" r:id="rId34"/>
    <p:sldLayoutId id="2147483745" r:id="rId35"/>
    <p:sldLayoutId id="2147483746" r:id="rId36"/>
    <p:sldLayoutId id="2147483747" r:id="rId37"/>
    <p:sldLayoutId id="2147483748" r:id="rId38"/>
    <p:sldLayoutId id="2147483757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8D9A6-02EB-6D68-F396-A951FDD6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CFF7347-A137-6759-5300-EDF197D22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650551"/>
              </p:ext>
            </p:extLst>
          </p:nvPr>
        </p:nvGraphicFramePr>
        <p:xfrm>
          <a:off x="7918567" y="673646"/>
          <a:ext cx="4273432" cy="6074978"/>
        </p:xfrm>
        <a:graphic>
          <a:graphicData uri="http://schemas.openxmlformats.org/drawingml/2006/table">
            <a:tbl>
              <a:tblPr/>
              <a:tblGrid>
                <a:gridCol w="403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8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 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Component</a:t>
                      </a:r>
                      <a:endParaRPr kumimoji="0" lang="ko-KR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" pitchFamily="2" charset="2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Description</a:t>
                      </a:r>
                      <a:endParaRPr kumimoji="0" lang="ko-KR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" pitchFamily="2" charset="2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 err="1"/>
                        <a:t>TItle</a:t>
                      </a:r>
                      <a:endParaRPr lang="en-US" altLang="ko-KR" sz="700" dirty="0"/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baseline="0" dirty="0" err="1">
                          <a:solidFill>
                            <a:schemeClr val="tx1"/>
                          </a:solidFill>
                        </a:rPr>
                        <a:t>OnePros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이름 표시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Patient info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현재 선택된 환자 정보를 표시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차트번호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생년월일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나이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성별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Alignment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>
                          <a:solidFill>
                            <a:schemeClr val="tx1"/>
                          </a:solidFill>
                        </a:rPr>
                        <a:t>바이트 스캔데이터에 상악 스캔과 하악 스캔을 정합하여</a:t>
                      </a:r>
                      <a:r>
                        <a:rPr lang="en-US" altLang="ko-KR" sz="700" b="0" baseline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baseline="0">
                          <a:solidFill>
                            <a:schemeClr val="tx1"/>
                          </a:solidFill>
                        </a:rPr>
                        <a:t>상하악 교합관계를 구성</a:t>
                      </a:r>
                      <a:endParaRPr lang="en-US" altLang="ko-KR" sz="700" b="0" baseline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Orientation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교합된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상하악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스캔데이터의 방향정보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(Frontal, Lateral, Top)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생성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스캔데이터의 불필요한 영역을 사용자가 지정하여 삭제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9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Margin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스캔데이터에서 지대치 마진라인 생성 및 편집하는 단계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Cement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크라운이 삽입되는 방향 설정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방향에 따른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언더컷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삽입 방향에 따라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언더컷을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메운 블록아웃 모델을 생성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각 수치에 따라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블롯아웃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모델을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오프셋하여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Cement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모델 생성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63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Design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동명치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또는 치아 라이브러리를 활용하여 디자인 보철물의 크기조절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회전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위치이동하여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배치하는 단계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보철물의 외형을 수정하는 단계로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인접치와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컨텍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대합치와의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관계 등을 수정할 수 있는 단계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3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Export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디자인된 최종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보철물을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STL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파일로 저장하거나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3D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프린트 및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밀링기로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출력할 수 있도록 설정하는 단계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3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/>
                        <a:t>최소화</a:t>
                      </a:r>
                      <a:endParaRPr lang="en-US" altLang="ko-KR" sz="700" dirty="0"/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baseline="0" dirty="0" err="1">
                          <a:solidFill>
                            <a:schemeClr val="tx1"/>
                          </a:solidFill>
                        </a:rPr>
                        <a:t>OnePros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화면을 최소화하여 창은 닫히지 않고 백그라운드에서 실행 상태를 유지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필요 시 작업표시줄에서 다시 열 수 있도록 하는 기능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89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/>
                        <a:t>최대화</a:t>
                      </a:r>
                      <a:endParaRPr lang="en-US" altLang="ko-KR" sz="700" dirty="0"/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창을 화면 크기에 맞게 확장하여 전체 화면을 차지하게 화면을 확장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3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/>
                        <a:t>닫기</a:t>
                      </a:r>
                      <a:endParaRPr lang="en-US" altLang="ko-KR" sz="700" dirty="0"/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baseline="0" dirty="0" err="1">
                          <a:solidFill>
                            <a:schemeClr val="tx1"/>
                          </a:solidFill>
                        </a:rPr>
                        <a:t>OnePros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프로그램 창 닫기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저장 유무 관계없이 프로젝트 저장 확인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팝업창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표시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[11-1]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팝업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23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Save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현재 진행중인 상태를 프로젝트에 저장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Hint : Save, [</a:t>
                      </a:r>
                      <a:r>
                        <a:rPr lang="en-US" altLang="ko-KR" sz="700" b="0" baseline="0" dirty="0" err="1">
                          <a:solidFill>
                            <a:schemeClr val="tx1"/>
                          </a:solidFill>
                        </a:rPr>
                        <a:t>Ctrl+S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단축키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: Ctrl + S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51930"/>
                  </a:ext>
                </a:extLst>
              </a:tr>
              <a:tr h="523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환경설정</a:t>
                      </a:r>
                      <a:endParaRPr lang="en-US" altLang="ko-KR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baseline="0" dirty="0" err="1">
                          <a:solidFill>
                            <a:schemeClr val="tx1"/>
                          </a:solidFill>
                        </a:rPr>
                        <a:t>OnePros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프로그램 내의 각종 기능들을 설정할 수 있는 팝업 창 생성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Hint : Setting, [F12]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단축키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: F12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063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정보</a:t>
                      </a:r>
                      <a:endParaRPr lang="en-US" altLang="ko-KR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baseline="0" dirty="0" err="1">
                          <a:solidFill>
                            <a:schemeClr val="tx1"/>
                          </a:solidFill>
                        </a:rPr>
                        <a:t>OnePros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프로그램의 라이선스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버전정보 등의 정보를 확인할 수 있는 팝업 창 생성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Hint : Info, [F1]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단축키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: F1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E08FF68-7EE3-8EFB-2845-9C7840F9E63A}"/>
              </a:ext>
            </a:extLst>
          </p:cNvPr>
          <p:cNvSpPr/>
          <p:nvPr/>
        </p:nvSpPr>
        <p:spPr>
          <a:xfrm>
            <a:off x="160018" y="1135116"/>
            <a:ext cx="7556109" cy="42503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i="1">
              <a:solidFill>
                <a:srgbClr val="FFFF00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696F78-B31E-86CF-CF9E-D192FA9AC2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01 </a:t>
            </a:r>
            <a:r>
              <a:rPr lang="ko-KR" altLang="en-US" dirty="0"/>
              <a:t>공통</a:t>
            </a:r>
            <a:r>
              <a:rPr lang="en-US" altLang="ko-KR" dirty="0"/>
              <a:t> Layout </a:t>
            </a:r>
            <a:r>
              <a:rPr lang="ko-KR" altLang="en-US" dirty="0"/>
              <a:t>및 </a:t>
            </a:r>
            <a:r>
              <a:rPr lang="en-US" altLang="ko-KR" dirty="0"/>
              <a:t>Tool </a:t>
            </a:r>
            <a:r>
              <a:rPr lang="ko-KR" altLang="en-US" dirty="0"/>
              <a:t>정리</a:t>
            </a:r>
          </a:p>
        </p:txBody>
      </p:sp>
      <p:sp>
        <p:nvSpPr>
          <p:cNvPr id="7" name="Line 13">
            <a:extLst>
              <a:ext uri="{FF2B5EF4-FFF2-40B4-BE49-F238E27FC236}">
                <a16:creationId xmlns:a16="http://schemas.microsoft.com/office/drawing/2014/main" id="{53AAB8BA-CDAB-0DB7-3CC7-75B9A3D5B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567" y="673646"/>
            <a:ext cx="0" cy="6192000"/>
          </a:xfrm>
          <a:prstGeom prst="line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wrap="none" lIns="86466" tIns="43234" rIns="86466" bIns="43234" anchor="ctr"/>
          <a:lstStyle>
            <a:defPPr>
              <a:defRPr lang="ko-KR"/>
            </a:defPPr>
            <a:lvl1pPr marL="0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2144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8216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04288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80360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6432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32504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08576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109567"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</a:rPr>
              <a:t> 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</a:endParaRPr>
          </a:p>
        </p:txBody>
      </p:sp>
      <p:sp>
        <p:nvSpPr>
          <p:cNvPr id="46" name="텍스트 개체 틀 2">
            <a:extLst>
              <a:ext uri="{FF2B5EF4-FFF2-40B4-BE49-F238E27FC236}">
                <a16:creationId xmlns:a16="http://schemas.microsoft.com/office/drawing/2014/main" id="{5C96535D-4A15-AED3-29B4-B76ADC2637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7435" y="740701"/>
            <a:ext cx="8928992" cy="304912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1400" dirty="0"/>
              <a:t>1.2 </a:t>
            </a:r>
            <a:r>
              <a:rPr lang="ko-KR" altLang="en-US" sz="1400" dirty="0"/>
              <a:t>공통레이아웃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623CA40-9EDB-283F-CCE3-72215BFD848A}"/>
              </a:ext>
            </a:extLst>
          </p:cNvPr>
          <p:cNvSpPr/>
          <p:nvPr/>
        </p:nvSpPr>
        <p:spPr>
          <a:xfrm>
            <a:off x="96489" y="1110071"/>
            <a:ext cx="127056" cy="12705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rgbClr val="FFFF00"/>
                </a:solidFill>
                <a:latin typeface="+mn-ea"/>
              </a:rPr>
              <a:t>1</a:t>
            </a:r>
            <a:endParaRPr lang="ko-KR" altLang="en-US" sz="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4A25233-6614-E303-5452-89E454259578}"/>
              </a:ext>
            </a:extLst>
          </p:cNvPr>
          <p:cNvSpPr/>
          <p:nvPr/>
        </p:nvSpPr>
        <p:spPr>
          <a:xfrm>
            <a:off x="2793034" y="1178210"/>
            <a:ext cx="147738" cy="147738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3</a:t>
            </a:r>
            <a:endParaRPr lang="ko-KR" altLang="en-US" sz="9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7F413FC-86B0-F302-91A6-9072CDD65327}"/>
              </a:ext>
            </a:extLst>
          </p:cNvPr>
          <p:cNvSpPr/>
          <p:nvPr/>
        </p:nvSpPr>
        <p:spPr>
          <a:xfrm>
            <a:off x="3165944" y="1178210"/>
            <a:ext cx="147738" cy="147738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4</a:t>
            </a:r>
            <a:endParaRPr lang="ko-KR" altLang="en-US" sz="9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661ED23-81F5-C506-640A-482B4DDC28F3}"/>
              </a:ext>
            </a:extLst>
          </p:cNvPr>
          <p:cNvSpPr/>
          <p:nvPr/>
        </p:nvSpPr>
        <p:spPr>
          <a:xfrm>
            <a:off x="3538854" y="1178210"/>
            <a:ext cx="147738" cy="147738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5</a:t>
            </a:r>
            <a:endParaRPr lang="ko-KR" altLang="en-US" sz="9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9B6EB0E-E16C-D8A0-D3CA-2CE92DBD1B36}"/>
              </a:ext>
            </a:extLst>
          </p:cNvPr>
          <p:cNvSpPr/>
          <p:nvPr/>
        </p:nvSpPr>
        <p:spPr>
          <a:xfrm>
            <a:off x="3911764" y="1178210"/>
            <a:ext cx="147738" cy="147737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6</a:t>
            </a:r>
            <a:endParaRPr lang="ko-KR" altLang="en-US" sz="9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DD18774-B60C-AD62-132D-13932157EECA}"/>
              </a:ext>
            </a:extLst>
          </p:cNvPr>
          <p:cNvSpPr/>
          <p:nvPr/>
        </p:nvSpPr>
        <p:spPr>
          <a:xfrm>
            <a:off x="4284674" y="1178210"/>
            <a:ext cx="147738" cy="147737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7</a:t>
            </a:r>
            <a:endParaRPr lang="ko-KR" altLang="en-US" sz="9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C7E1657-0A6B-E2B6-5C53-63B08AF58AAB}"/>
              </a:ext>
            </a:extLst>
          </p:cNvPr>
          <p:cNvSpPr/>
          <p:nvPr/>
        </p:nvSpPr>
        <p:spPr>
          <a:xfrm>
            <a:off x="4657585" y="1178210"/>
            <a:ext cx="147738" cy="147737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8</a:t>
            </a:r>
            <a:endParaRPr lang="ko-KR" altLang="en-US" sz="9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A83671C-1AE6-1B8B-AA4F-3D436CE4C42D}"/>
              </a:ext>
            </a:extLst>
          </p:cNvPr>
          <p:cNvSpPr/>
          <p:nvPr/>
        </p:nvSpPr>
        <p:spPr>
          <a:xfrm>
            <a:off x="7054010" y="1061247"/>
            <a:ext cx="147738" cy="147738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9</a:t>
            </a:r>
            <a:endParaRPr lang="ko-KR" altLang="en-US" sz="9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4C56F6B-A877-480A-CFFA-E541141F559B}"/>
              </a:ext>
            </a:extLst>
          </p:cNvPr>
          <p:cNvSpPr/>
          <p:nvPr/>
        </p:nvSpPr>
        <p:spPr>
          <a:xfrm>
            <a:off x="7298649" y="1061247"/>
            <a:ext cx="147738" cy="147738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10</a:t>
            </a:r>
            <a:endParaRPr lang="ko-KR" altLang="en-US" sz="9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110529F-6EA0-906A-07DB-48F98A2606CF}"/>
              </a:ext>
            </a:extLst>
          </p:cNvPr>
          <p:cNvSpPr/>
          <p:nvPr/>
        </p:nvSpPr>
        <p:spPr>
          <a:xfrm>
            <a:off x="7557703" y="1061247"/>
            <a:ext cx="147738" cy="147738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11</a:t>
            </a:r>
            <a:endParaRPr lang="ko-KR" altLang="en-US" sz="9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8698890-FCE0-4C06-F400-DE580782B2B0}"/>
              </a:ext>
            </a:extLst>
          </p:cNvPr>
          <p:cNvSpPr/>
          <p:nvPr/>
        </p:nvSpPr>
        <p:spPr>
          <a:xfrm>
            <a:off x="181030" y="1205636"/>
            <a:ext cx="127056" cy="12705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rgbClr val="FFFF00"/>
                </a:solidFill>
                <a:latin typeface="+mn-ea"/>
              </a:rPr>
              <a:t>12</a:t>
            </a:r>
            <a:endParaRPr lang="ko-KR" altLang="en-US" sz="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5A2B289-F2B5-689F-5B41-CE5BF1E820D4}"/>
              </a:ext>
            </a:extLst>
          </p:cNvPr>
          <p:cNvSpPr/>
          <p:nvPr/>
        </p:nvSpPr>
        <p:spPr>
          <a:xfrm>
            <a:off x="328049" y="1205636"/>
            <a:ext cx="127056" cy="12705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rgbClr val="FFFF00"/>
                </a:solidFill>
                <a:latin typeface="+mn-ea"/>
              </a:rPr>
              <a:t>13</a:t>
            </a:r>
            <a:endParaRPr lang="ko-KR" altLang="en-US" sz="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9481617-CF64-1198-4ABB-94D1BF869094}"/>
              </a:ext>
            </a:extLst>
          </p:cNvPr>
          <p:cNvSpPr/>
          <p:nvPr/>
        </p:nvSpPr>
        <p:spPr>
          <a:xfrm>
            <a:off x="469398" y="1205636"/>
            <a:ext cx="127056" cy="12705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rgbClr val="FFFF00"/>
                </a:solidFill>
                <a:latin typeface="+mn-ea"/>
              </a:rPr>
              <a:t>14</a:t>
            </a:r>
            <a:endParaRPr lang="ko-KR" altLang="en-US" sz="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97A05A8-AED4-380E-60C3-9AB0B2E020DD}"/>
              </a:ext>
            </a:extLst>
          </p:cNvPr>
          <p:cNvSpPr/>
          <p:nvPr/>
        </p:nvSpPr>
        <p:spPr>
          <a:xfrm>
            <a:off x="126132" y="1381954"/>
            <a:ext cx="127056" cy="12705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rgbClr val="FFFF00"/>
                </a:solidFill>
                <a:latin typeface="+mn-ea"/>
              </a:rPr>
              <a:t>2</a:t>
            </a:r>
            <a:endParaRPr lang="ko-KR" altLang="en-US" sz="800" b="1" dirty="0">
              <a:solidFill>
                <a:srgbClr val="FFFF00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DC147C2-F22C-B2CC-F040-B7615CBE7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615368"/>
              </p:ext>
            </p:extLst>
          </p:nvPr>
        </p:nvGraphicFramePr>
        <p:xfrm>
          <a:off x="0" y="0"/>
          <a:ext cx="12192000" cy="673646"/>
        </p:xfrm>
        <a:graphic>
          <a:graphicData uri="http://schemas.openxmlformats.org/drawingml/2006/table">
            <a:tbl>
              <a:tblPr firstRow="1" bandRow="1">
                <a:tableStyleId>{351C6F6D-104B-4AAF-82D7-F5CF231855AB}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1620985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9417323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15117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156900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5411373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645867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135540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68058406"/>
                    </a:ext>
                  </a:extLst>
                </a:gridCol>
              </a:tblGrid>
              <a:tr h="336823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프로젝트명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OnePros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Single Crown </a:t>
                      </a: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화면정의서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문서번호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OPRS-001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작성일자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2025.12.31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611558"/>
                  </a:ext>
                </a:extLst>
              </a:tr>
              <a:tr h="336823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화면 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ID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OP_v1.0_CT_001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현재버전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Ver 1.0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821527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711FC4-0BD3-115F-EA94-2E664B19203D}"/>
              </a:ext>
            </a:extLst>
          </p:cNvPr>
          <p:cNvSpPr/>
          <p:nvPr/>
        </p:nvSpPr>
        <p:spPr>
          <a:xfrm>
            <a:off x="160018" y="5566656"/>
            <a:ext cx="2302149" cy="1101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FF71513-1B0D-2F68-9C25-A0093CA9AE6F}"/>
              </a:ext>
            </a:extLst>
          </p:cNvPr>
          <p:cNvSpPr/>
          <p:nvPr/>
        </p:nvSpPr>
        <p:spPr>
          <a:xfrm>
            <a:off x="160018" y="5566656"/>
            <a:ext cx="2302149" cy="11313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500" dirty="0" err="1">
                <a:solidFill>
                  <a:sysClr val="windowText" lastClr="000000"/>
                </a:solidFill>
              </a:rPr>
              <a:t>OnePros</a:t>
            </a:r>
            <a:endParaRPr lang="ko-KR" altLang="en-US" sz="500" dirty="0">
              <a:solidFill>
                <a:sysClr val="windowText" lastClr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CFD510-9488-B8D3-728A-87BE73E169B4}"/>
              </a:ext>
            </a:extLst>
          </p:cNvPr>
          <p:cNvSpPr/>
          <p:nvPr/>
        </p:nvSpPr>
        <p:spPr>
          <a:xfrm>
            <a:off x="247240" y="6353823"/>
            <a:ext cx="624832" cy="165222"/>
          </a:xfrm>
          <a:prstGeom prst="rect">
            <a:avLst/>
          </a:prstGeom>
          <a:solidFill>
            <a:srgbClr val="0080FF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Save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96BC95-CBB5-1465-5D66-F9D143E243BA}"/>
              </a:ext>
            </a:extLst>
          </p:cNvPr>
          <p:cNvSpPr/>
          <p:nvPr/>
        </p:nvSpPr>
        <p:spPr>
          <a:xfrm>
            <a:off x="998676" y="6353823"/>
            <a:ext cx="624832" cy="16522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500" dirty="0">
                <a:solidFill>
                  <a:schemeClr val="tx1"/>
                </a:solidFill>
              </a:rPr>
              <a:t>Don’t Save</a:t>
            </a:r>
            <a:endParaRPr lang="ko-KR" altLang="en-US" sz="5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F731BE-E053-ED99-4C36-5EF632EE7CF6}"/>
              </a:ext>
            </a:extLst>
          </p:cNvPr>
          <p:cNvSpPr/>
          <p:nvPr/>
        </p:nvSpPr>
        <p:spPr>
          <a:xfrm>
            <a:off x="1750112" y="6353823"/>
            <a:ext cx="624832" cy="16522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500" dirty="0">
                <a:solidFill>
                  <a:schemeClr val="tx1"/>
                </a:solidFill>
              </a:rPr>
              <a:t>Cancel</a:t>
            </a:r>
            <a:endParaRPr lang="ko-KR" altLang="en-US" sz="5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B8CE69-9C70-81BD-DC1C-2DD3DF38FFAF}"/>
              </a:ext>
            </a:extLst>
          </p:cNvPr>
          <p:cNvSpPr txBox="1"/>
          <p:nvPr/>
        </p:nvSpPr>
        <p:spPr>
          <a:xfrm>
            <a:off x="594166" y="5886559"/>
            <a:ext cx="1832136" cy="19581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US" altLang="ko-KR" sz="800" dirty="0">
                <a:latin typeface="+mj-ea"/>
                <a:ea typeface="+mj-ea"/>
              </a:rPr>
              <a:t>Save changes before closing?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E4D1976-F3EE-278E-24CC-E1B6F1544A18}"/>
              </a:ext>
            </a:extLst>
          </p:cNvPr>
          <p:cNvSpPr/>
          <p:nvPr/>
        </p:nvSpPr>
        <p:spPr>
          <a:xfrm>
            <a:off x="239631" y="5825131"/>
            <a:ext cx="318670" cy="3186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?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668943E4-0BCC-2C0A-7341-B87CA9B6BF23}"/>
              </a:ext>
            </a:extLst>
          </p:cNvPr>
          <p:cNvSpPr/>
          <p:nvPr/>
        </p:nvSpPr>
        <p:spPr>
          <a:xfrm>
            <a:off x="56183" y="5457077"/>
            <a:ext cx="219158" cy="219158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  <a:latin typeface="+mn-ea"/>
              </a:rPr>
              <a:t>11-1</a:t>
            </a:r>
            <a:endParaRPr lang="ko-KR" altLang="en-US" sz="700" b="1" dirty="0">
              <a:solidFill>
                <a:srgbClr val="FFFF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522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6B211-F251-02A9-A613-8B3AC50D1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AA63C0E-E777-4E36-BEDD-75FE3EBB253C}"/>
              </a:ext>
            </a:extLst>
          </p:cNvPr>
          <p:cNvSpPr/>
          <p:nvPr/>
        </p:nvSpPr>
        <p:spPr>
          <a:xfrm>
            <a:off x="160018" y="1135116"/>
            <a:ext cx="7556109" cy="42503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i="1" dirty="0">
              <a:solidFill>
                <a:srgbClr val="FFFF00"/>
              </a:solidFill>
            </a:endParaRPr>
          </a:p>
        </p:txBody>
      </p:sp>
      <p:pic>
        <p:nvPicPr>
          <p:cNvPr id="29" name="그림 28" descr="원, 스크린샷, 디자인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EDA7B6-AB79-3985-2F38-E70015D90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74" y="3058123"/>
            <a:ext cx="964094" cy="979985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7" name="그림 46" descr="스크린샷, 원, 텍스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43A3AA-D113-CB6E-5BE0-83EDCA5C7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674" y="3058123"/>
            <a:ext cx="964094" cy="979985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863729-D13D-1E37-7701-982F499ABA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01 </a:t>
            </a:r>
            <a:r>
              <a:rPr lang="ko-KR" altLang="en-US" dirty="0"/>
              <a:t>공통</a:t>
            </a:r>
            <a:r>
              <a:rPr lang="en-US" altLang="ko-KR" dirty="0"/>
              <a:t> Layout </a:t>
            </a:r>
            <a:r>
              <a:rPr lang="ko-KR" altLang="en-US" dirty="0"/>
              <a:t>및 </a:t>
            </a:r>
            <a:r>
              <a:rPr lang="en-US" altLang="ko-KR" dirty="0"/>
              <a:t>Tool </a:t>
            </a:r>
            <a:r>
              <a:rPr lang="ko-KR" altLang="en-US" dirty="0"/>
              <a:t>정리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864347A-D90D-D6DE-EE26-F7B8A1171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608766"/>
              </p:ext>
            </p:extLst>
          </p:nvPr>
        </p:nvGraphicFramePr>
        <p:xfrm>
          <a:off x="7918567" y="680443"/>
          <a:ext cx="4273432" cy="3244201"/>
        </p:xfrm>
        <a:graphic>
          <a:graphicData uri="http://schemas.openxmlformats.org/drawingml/2006/table">
            <a:tbl>
              <a:tblPr/>
              <a:tblGrid>
                <a:gridCol w="403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8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Arial"/>
                        </a:rPr>
                        <a:t>No </a:t>
                      </a:r>
                    </a:p>
                  </a:txBody>
                  <a:tcPr marL="39001" marR="39001" marT="36000" marB="4914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Component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</a:txBody>
                  <a:tcPr marL="78000" marR="97500" marT="36000" marB="4914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</a:txBody>
                  <a:tcPr marL="78000" marR="97500" marT="36000" marB="4914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</a:p>
                  </a:txBody>
                  <a:tcPr marL="39001" marR="39001" marT="0" marB="4914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Back</a:t>
                      </a:r>
                    </a:p>
                  </a:txBody>
                  <a:tcPr marT="0" marB="48006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이전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단계로 돌아가는 버튼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이전 단계 없을 시 비활성화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i="0" u="none" strike="noStrike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Hint : Back, [Ctrl + Back]</a:t>
                      </a:r>
                    </a:p>
                  </a:txBody>
                  <a:tcPr marL="72000" marT="0" marB="48006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4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</a:p>
                  </a:txBody>
                  <a:tcPr marL="39001" marR="39001" marT="0" marB="4914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Next</a:t>
                      </a:r>
                    </a:p>
                  </a:txBody>
                  <a:tcPr marT="0" marB="48006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다음 단계로 진입하는 버튼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특정 단계마다 진입 조건이 맞지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않을경우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경고창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표시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Hint : Next, [Ctrl + space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bar]</a:t>
                      </a:r>
                    </a:p>
                  </a:txBody>
                  <a:tcPr marL="72000" marT="0" marB="48006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</a:t>
                      </a:r>
                    </a:p>
                  </a:txBody>
                  <a:tcPr marL="39001" marR="39001" marT="0" marB="4914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Dental chart</a:t>
                      </a:r>
                    </a:p>
                  </a:txBody>
                  <a:tcPr marT="0" marB="48006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현재 진행중인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치식과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크라운 유형 정보를 표시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치식이미지와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주문서에 입력된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치식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하이라이트 표시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[17-1]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치식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이미지의 하이라이트 부분에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Mouse Enter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시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치식과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유형이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Text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표시되며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Mouse Exit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시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치식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유형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Text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숨김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i="1" baseline="0" dirty="0" err="1">
                          <a:solidFill>
                            <a:schemeClr val="tx1"/>
                          </a:solidFill>
                        </a:rPr>
                        <a:t>상악과</a:t>
                      </a:r>
                      <a:r>
                        <a:rPr lang="ko-KR" altLang="en-US" sz="700" b="0" i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b="0" i="1" baseline="0" dirty="0" err="1">
                          <a:solidFill>
                            <a:schemeClr val="tx1"/>
                          </a:solidFill>
                        </a:rPr>
                        <a:t>하악</a:t>
                      </a:r>
                      <a:r>
                        <a:rPr lang="ko-KR" altLang="en-US" sz="700" b="0" i="1" baseline="0" dirty="0">
                          <a:solidFill>
                            <a:schemeClr val="tx1"/>
                          </a:solidFill>
                        </a:rPr>
                        <a:t> 동시에 치료하는 경우의 </a:t>
                      </a:r>
                      <a:r>
                        <a:rPr lang="en-US" altLang="ko-KR" sz="700" b="0" i="1" baseline="0" dirty="0">
                          <a:solidFill>
                            <a:schemeClr val="tx1"/>
                          </a:solidFill>
                        </a:rPr>
                        <a:t>UI</a:t>
                      </a:r>
                      <a:r>
                        <a:rPr lang="ko-KR" altLang="en-US" sz="700" b="0" i="1" baseline="0" dirty="0">
                          <a:solidFill>
                            <a:schemeClr val="tx1"/>
                          </a:solidFill>
                        </a:rPr>
                        <a:t>는 검토 중</a:t>
                      </a:r>
                      <a:endParaRPr lang="en-US" altLang="ko-KR" sz="700" b="0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T="0" marB="48006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6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</a:p>
                  </a:txBody>
                  <a:tcPr marL="39001" marR="39001" marT="0" marB="4914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Task tool</a:t>
                      </a:r>
                    </a:p>
                  </a:txBody>
                  <a:tcPr marT="0" marB="48006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각 단계별로 수행할 수 있는 기능 표시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T="0" marB="48006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6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</a:p>
                  </a:txBody>
                  <a:tcPr marL="39001" marR="39001" marT="0" marB="4914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/>
                        <a:t>Object list</a:t>
                      </a:r>
                    </a:p>
                  </a:txBody>
                  <a:tcPr marT="0" marB="48006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각 오브젝트마다의 투명도 조절과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Show/hide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인접치 또는 대합치간 중첩정도를 확인하는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</a:rPr>
                        <a:t>컬러맵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 표시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T="0" marB="48006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36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</a:p>
                  </a:txBody>
                  <a:tcPr marL="39001" marR="39001" marT="0" marB="4914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dirty="0" err="1"/>
                        <a:t>Coommon</a:t>
                      </a:r>
                      <a:r>
                        <a:rPr lang="en-US" altLang="ko-KR" sz="700" dirty="0"/>
                        <a:t> tool</a:t>
                      </a:r>
                    </a:p>
                  </a:txBody>
                  <a:tcPr marT="0" marB="48006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단계별로 공통적으로 제공되는 기능들로 단계별 표시되는 기능이 상이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</a:rPr>
                        <a:t>p.00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</a:rPr>
                        <a:t>참고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T="0" marB="48006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Line 13">
            <a:extLst>
              <a:ext uri="{FF2B5EF4-FFF2-40B4-BE49-F238E27FC236}">
                <a16:creationId xmlns:a16="http://schemas.microsoft.com/office/drawing/2014/main" id="{3ECD7B02-3893-58BC-CC07-5923813DA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567" y="673646"/>
            <a:ext cx="0" cy="6192000"/>
          </a:xfrm>
          <a:prstGeom prst="line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wrap="none" lIns="86466" tIns="43234" rIns="86466" bIns="43234" anchor="ctr"/>
          <a:lstStyle>
            <a:defPPr>
              <a:defRPr lang="ko-KR"/>
            </a:defPPr>
            <a:lvl1pPr marL="0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2144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8216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04288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80360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6432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32504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08576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109567"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</a:rPr>
              <a:t> 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</a:endParaRPr>
          </a:p>
        </p:txBody>
      </p:sp>
      <p:sp>
        <p:nvSpPr>
          <p:cNvPr id="46" name="텍스트 개체 틀 2">
            <a:extLst>
              <a:ext uri="{FF2B5EF4-FFF2-40B4-BE49-F238E27FC236}">
                <a16:creationId xmlns:a16="http://schemas.microsoft.com/office/drawing/2014/main" id="{4C3E2203-D75A-4714-C77B-33C526E7A3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7435" y="740701"/>
            <a:ext cx="8928992" cy="304912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1400" dirty="0"/>
              <a:t>1.2 </a:t>
            </a:r>
            <a:r>
              <a:rPr lang="ko-KR" altLang="en-US" sz="1400" dirty="0"/>
              <a:t>공통레이아웃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E9692B1-9A62-E68F-6AB9-196E7EAB8884}"/>
              </a:ext>
            </a:extLst>
          </p:cNvPr>
          <p:cNvSpPr/>
          <p:nvPr/>
        </p:nvSpPr>
        <p:spPr>
          <a:xfrm>
            <a:off x="362868" y="1459690"/>
            <a:ext cx="137006" cy="13700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  <a:latin typeface="+mn-ea"/>
              </a:rPr>
              <a:t>15</a:t>
            </a:r>
            <a:endParaRPr lang="ko-KR" altLang="en-US" sz="7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A91322A-7250-7ED9-755F-AB6DFF874DC5}"/>
              </a:ext>
            </a:extLst>
          </p:cNvPr>
          <p:cNvSpPr/>
          <p:nvPr/>
        </p:nvSpPr>
        <p:spPr>
          <a:xfrm>
            <a:off x="684334" y="1459690"/>
            <a:ext cx="137006" cy="13700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  <a:latin typeface="+mn-ea"/>
              </a:rPr>
              <a:t>16</a:t>
            </a:r>
            <a:endParaRPr lang="ko-KR" altLang="en-US" sz="7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71A167C-A2F1-DE8D-A1F8-F7E7FFAAC56F}"/>
              </a:ext>
            </a:extLst>
          </p:cNvPr>
          <p:cNvSpPr/>
          <p:nvPr/>
        </p:nvSpPr>
        <p:spPr>
          <a:xfrm>
            <a:off x="368786" y="1745776"/>
            <a:ext cx="137006" cy="13700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  <a:latin typeface="+mn-ea"/>
              </a:rPr>
              <a:t>17</a:t>
            </a:r>
            <a:endParaRPr lang="ko-KR" altLang="en-US" sz="7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4DE7B46-1FC4-FDCE-CDBB-C42336A63659}"/>
              </a:ext>
            </a:extLst>
          </p:cNvPr>
          <p:cNvSpPr/>
          <p:nvPr/>
        </p:nvSpPr>
        <p:spPr>
          <a:xfrm>
            <a:off x="1055882" y="1507836"/>
            <a:ext cx="137006" cy="13700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  <a:latin typeface="+mn-ea"/>
              </a:rPr>
              <a:t>19</a:t>
            </a:r>
            <a:endParaRPr lang="ko-KR" altLang="en-US" sz="7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B243AB-9512-2DDB-E182-FECD66A9802C}"/>
              </a:ext>
            </a:extLst>
          </p:cNvPr>
          <p:cNvSpPr/>
          <p:nvPr/>
        </p:nvSpPr>
        <p:spPr>
          <a:xfrm>
            <a:off x="7991748" y="3839556"/>
            <a:ext cx="3889357" cy="1364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925" defTabSz="115093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</a:pPr>
            <a:r>
              <a:rPr lang="en-US" altLang="ko-KR" sz="700" b="1" dirty="0">
                <a:solidFill>
                  <a:prstClr val="black"/>
                </a:solidFill>
                <a:latin typeface="+mn-ea"/>
                <a:ea typeface="+mn-ea"/>
              </a:rPr>
              <a:t> [</a:t>
            </a:r>
            <a:r>
              <a:rPr lang="ko-KR" altLang="en-US" sz="700" b="1" dirty="0">
                <a:solidFill>
                  <a:prstClr val="black"/>
                </a:solidFill>
                <a:latin typeface="+mn-ea"/>
                <a:ea typeface="+mn-ea"/>
              </a:rPr>
              <a:t>예외 사항</a:t>
            </a:r>
            <a:r>
              <a:rPr lang="en-US" altLang="ko-KR" sz="700" b="1" dirty="0">
                <a:solidFill>
                  <a:prstClr val="black"/>
                </a:solidFill>
                <a:latin typeface="+mn-ea"/>
                <a:ea typeface="+mn-ea"/>
              </a:rPr>
              <a:t>] </a:t>
            </a:r>
            <a:endParaRPr lang="en-US" altLang="ko-KR" sz="7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88900" indent="-53975" defTabSz="115093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ko-KR" altLang="en-US" sz="700" dirty="0">
                <a:solidFill>
                  <a:prstClr val="black"/>
                </a:solidFill>
                <a:latin typeface="+mn-ea"/>
                <a:ea typeface="+mn-ea"/>
              </a:rPr>
              <a:t> 버튼 왼쪽 마우스 클릭 시 해당 단계로 이동</a:t>
            </a:r>
            <a:r>
              <a:rPr lang="en-US" altLang="ko-KR" sz="700" dirty="0">
                <a:solidFill>
                  <a:prstClr val="black"/>
                </a:solidFill>
                <a:latin typeface="+mn-ea"/>
                <a:ea typeface="+mn-ea"/>
              </a:rPr>
              <a:t>, </a:t>
            </a:r>
            <a:r>
              <a:rPr lang="ko-KR" altLang="en-US" sz="700" dirty="0">
                <a:solidFill>
                  <a:prstClr val="black"/>
                </a:solidFill>
                <a:latin typeface="+mn-ea"/>
                <a:ea typeface="+mn-ea"/>
              </a:rPr>
              <a:t>단계 선택은 중복 불가능</a:t>
            </a:r>
            <a:endParaRPr lang="en-US" altLang="ko-KR" sz="7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34925" lvl="1" defTabSz="115093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</a:pP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  - </a:t>
            </a:r>
            <a:r>
              <a:rPr lang="ko-KR" altLang="en-US" sz="700" dirty="0">
                <a:solidFill>
                  <a:srgbClr val="FF0000"/>
                </a:solidFill>
                <a:latin typeface="+mn-ea"/>
                <a:ea typeface="+mn-ea"/>
              </a:rPr>
              <a:t>현재 단계에서 수행해야 하는 부분을 완료한 경우에 다음 단계 이동 가능</a:t>
            </a:r>
            <a:endParaRPr lang="en-US" altLang="ko-KR" sz="700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34925" lvl="1" defTabSz="115093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</a:pP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  - </a:t>
            </a:r>
            <a:r>
              <a:rPr lang="ko-KR" altLang="en-US" sz="700" dirty="0">
                <a:solidFill>
                  <a:srgbClr val="FF0000"/>
                </a:solidFill>
                <a:latin typeface="+mn-ea"/>
                <a:ea typeface="+mn-ea"/>
              </a:rPr>
              <a:t>이전 단계 선택 시 단계 이동은 가능하나 이전 단계에서 수정사항 발생 시 </a:t>
            </a:r>
            <a:r>
              <a:rPr lang="ko-KR" altLang="en-US" sz="700" u="sng" dirty="0">
                <a:solidFill>
                  <a:srgbClr val="FF0000"/>
                </a:solidFill>
                <a:latin typeface="+mn-ea"/>
                <a:ea typeface="+mn-ea"/>
              </a:rPr>
              <a:t>경고 팝업 표시 </a:t>
            </a:r>
            <a:r>
              <a:rPr lang="en-US" altLang="ko-KR" sz="700" u="sng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700" u="sng" dirty="0">
                <a:solidFill>
                  <a:srgbClr val="FF0000"/>
                </a:solidFill>
                <a:latin typeface="+mn-ea"/>
                <a:ea typeface="+mn-ea"/>
              </a:rPr>
              <a:t>아래 이미지 참조</a:t>
            </a:r>
            <a:r>
              <a:rPr lang="en-US" altLang="ko-KR" sz="700" u="sng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</a:p>
          <a:p>
            <a:pPr marL="88900" indent="-53975" defTabSz="115093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prstClr val="black"/>
                </a:solidFill>
                <a:latin typeface="+mn-ea"/>
                <a:ea typeface="+mn-ea"/>
              </a:rPr>
              <a:t> Select </a:t>
            </a:r>
            <a:r>
              <a:rPr lang="ko-KR" altLang="en-US" sz="700" dirty="0">
                <a:solidFill>
                  <a:prstClr val="black"/>
                </a:solidFill>
                <a:latin typeface="+mn-ea"/>
                <a:ea typeface="+mn-ea"/>
              </a:rPr>
              <a:t>된 상태에서 다시 왼쪽 마우스 클릭 시</a:t>
            </a:r>
            <a:r>
              <a:rPr lang="en-US" altLang="ko-KR" sz="700" dirty="0">
                <a:solidFill>
                  <a:prstClr val="black"/>
                </a:solidFill>
                <a:latin typeface="+mn-ea"/>
                <a:ea typeface="+mn-ea"/>
              </a:rPr>
              <a:t>, </a:t>
            </a:r>
            <a:r>
              <a:rPr lang="ko-KR" altLang="en-US" sz="700" dirty="0">
                <a:solidFill>
                  <a:prstClr val="black"/>
                </a:solidFill>
                <a:latin typeface="+mn-ea"/>
                <a:ea typeface="+mn-ea"/>
              </a:rPr>
              <a:t>해당 그대로 유지</a:t>
            </a:r>
            <a:endParaRPr lang="en-US" altLang="ko-KR" sz="7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88900" indent="-53975" defTabSz="115093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prstClr val="black"/>
                </a:solidFill>
                <a:latin typeface="+mn-ea"/>
                <a:ea typeface="+mn-ea"/>
              </a:rPr>
              <a:t> 각 단계 버튼 아이콘은 디자인팀 정의에 따라 변경 예정</a:t>
            </a:r>
            <a:endParaRPr lang="en-US" altLang="ko-KR" sz="7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88900" indent="-53975" defTabSz="1150938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prstClr val="black"/>
                </a:solidFill>
                <a:latin typeface="+mn-ea"/>
                <a:ea typeface="+mn-ea"/>
              </a:rPr>
              <a:t> </a:t>
            </a:r>
            <a:r>
              <a:rPr lang="ko-KR" altLang="en-US" sz="700" dirty="0">
                <a:solidFill>
                  <a:prstClr val="black"/>
                </a:solidFill>
                <a:latin typeface="+mn-ea"/>
                <a:ea typeface="+mn-ea"/>
              </a:rPr>
              <a:t>단계 버튼 왼쪽 마우스 클릭 시 </a:t>
            </a:r>
            <a:r>
              <a:rPr lang="ko-KR" altLang="en-US" sz="700" u="sng" dirty="0">
                <a:solidFill>
                  <a:prstClr val="black"/>
                </a:solidFill>
                <a:latin typeface="+mn-ea"/>
                <a:ea typeface="+mn-ea"/>
              </a:rPr>
              <a:t>선택 효과 적용 </a:t>
            </a:r>
            <a:r>
              <a:rPr lang="en-US" altLang="ko-KR" sz="700" u="sng" dirty="0">
                <a:solidFill>
                  <a:prstClr val="black"/>
                </a:solidFill>
                <a:latin typeface="+mn-ea"/>
                <a:ea typeface="+mn-ea"/>
              </a:rPr>
              <a:t>(</a:t>
            </a:r>
            <a:r>
              <a:rPr lang="ko-KR" altLang="en-US" sz="700" u="sng" dirty="0">
                <a:solidFill>
                  <a:prstClr val="black"/>
                </a:solidFill>
                <a:latin typeface="+mn-ea"/>
                <a:ea typeface="+mn-ea"/>
              </a:rPr>
              <a:t>아래 이미지 참조</a:t>
            </a:r>
            <a:r>
              <a:rPr lang="en-US" altLang="ko-KR" sz="700" u="sng" dirty="0">
                <a:solidFill>
                  <a:prstClr val="black"/>
                </a:solidFill>
                <a:latin typeface="+mn-ea"/>
                <a:ea typeface="+mn-ea"/>
              </a:rPr>
              <a:t>)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EFD8170-FAE2-1AB5-A9E6-C58ADD4C65D4}"/>
              </a:ext>
            </a:extLst>
          </p:cNvPr>
          <p:cNvGrpSpPr/>
          <p:nvPr/>
        </p:nvGrpSpPr>
        <p:grpSpPr>
          <a:xfrm>
            <a:off x="8265929" y="5277738"/>
            <a:ext cx="3093059" cy="497904"/>
            <a:chOff x="8265929" y="5642372"/>
            <a:chExt cx="3093059" cy="49790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CB68A1-996A-90C4-B754-0851931EB66C}"/>
                </a:ext>
              </a:extLst>
            </p:cNvPr>
            <p:cNvSpPr txBox="1"/>
            <p:nvPr/>
          </p:nvSpPr>
          <p:spPr>
            <a:xfrm>
              <a:off x="8428610" y="5997865"/>
              <a:ext cx="532197" cy="1424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  <a:sym typeface="Wingdings" pitchFamily="2" charset="2"/>
                </a:rPr>
                <a:t> [Unselect] </a:t>
              </a:r>
              <a:endPara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  <a:sym typeface="Wingdings" pitchFamily="2" charset="2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DDDA07-FC70-DD87-8FAB-64EE9D920F13}"/>
                </a:ext>
              </a:extLst>
            </p:cNvPr>
            <p:cNvSpPr txBox="1"/>
            <p:nvPr/>
          </p:nvSpPr>
          <p:spPr>
            <a:xfrm>
              <a:off x="10654112" y="5997865"/>
              <a:ext cx="411972" cy="1424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  <a:sym typeface="Wingdings" pitchFamily="2" charset="2"/>
                </a:rPr>
                <a:t> [Select] </a:t>
              </a:r>
              <a:endPara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  <a:sym typeface="Wingdings" pitchFamily="2" charset="2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70E10C-E2DA-A5A1-15DD-B8E06F6D60BA}"/>
                </a:ext>
              </a:extLst>
            </p:cNvPr>
            <p:cNvSpPr txBox="1"/>
            <p:nvPr/>
          </p:nvSpPr>
          <p:spPr>
            <a:xfrm>
              <a:off x="9644754" y="5997865"/>
              <a:ext cx="325410" cy="1424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  <a:sym typeface="Wingdings" pitchFamily="2" charset="2"/>
                </a:rPr>
                <a:t>[hover]</a:t>
              </a:r>
              <a:endPara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  <a:sym typeface="Wingdings" pitchFamily="2" charset="2"/>
              </a:endParaRPr>
            </a:p>
          </p:txBody>
        </p:sp>
        <p:sp>
          <p:nvSpPr>
            <p:cNvPr id="12" name="오각형 73">
              <a:extLst>
                <a:ext uri="{FF2B5EF4-FFF2-40B4-BE49-F238E27FC236}">
                  <a16:creationId xmlns:a16="http://schemas.microsoft.com/office/drawing/2014/main" id="{084C8380-302A-C3CA-F5D3-4B45EB5E933A}"/>
                </a:ext>
              </a:extLst>
            </p:cNvPr>
            <p:cNvSpPr/>
            <p:nvPr/>
          </p:nvSpPr>
          <p:spPr>
            <a:xfrm>
              <a:off x="8265929" y="5642372"/>
              <a:ext cx="988336" cy="344774"/>
            </a:xfrm>
            <a:prstGeom prst="homePlate">
              <a:avLst/>
            </a:prstGeom>
            <a:solidFill>
              <a:srgbClr val="ECEFF3"/>
            </a:solidFill>
            <a:ln w="6350">
              <a:solidFill>
                <a:srgbClr val="82B1EA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Alignment</a:t>
              </a:r>
              <a:endParaRPr lang="ko-KR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" name="오각형 74">
              <a:extLst>
                <a:ext uri="{FF2B5EF4-FFF2-40B4-BE49-F238E27FC236}">
                  <a16:creationId xmlns:a16="http://schemas.microsoft.com/office/drawing/2014/main" id="{4190C38C-50C2-2DD1-D5CB-E9579187C213}"/>
                </a:ext>
              </a:extLst>
            </p:cNvPr>
            <p:cNvSpPr/>
            <p:nvPr/>
          </p:nvSpPr>
          <p:spPr>
            <a:xfrm>
              <a:off x="9318290" y="5642372"/>
              <a:ext cx="988336" cy="344774"/>
            </a:xfrm>
            <a:prstGeom prst="homePlate">
              <a:avLst/>
            </a:prstGeom>
            <a:solidFill>
              <a:srgbClr val="BED5F1"/>
            </a:solidFill>
            <a:ln w="6350">
              <a:solidFill>
                <a:srgbClr val="82B1EA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Alignment</a:t>
              </a:r>
              <a:endParaRPr lang="ko-KR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오각형 75">
              <a:extLst>
                <a:ext uri="{FF2B5EF4-FFF2-40B4-BE49-F238E27FC236}">
                  <a16:creationId xmlns:a16="http://schemas.microsoft.com/office/drawing/2014/main" id="{1420CD18-10C9-69F9-5D86-043CD1B5E275}"/>
                </a:ext>
              </a:extLst>
            </p:cNvPr>
            <p:cNvSpPr/>
            <p:nvPr/>
          </p:nvSpPr>
          <p:spPr>
            <a:xfrm>
              <a:off x="10370652" y="5642372"/>
              <a:ext cx="988336" cy="344774"/>
            </a:xfrm>
            <a:prstGeom prst="homePlate">
              <a:avLst/>
            </a:prstGeom>
            <a:solidFill>
              <a:srgbClr val="87B2E6"/>
            </a:solidFill>
            <a:ln w="6350">
              <a:solidFill>
                <a:srgbClr val="0070C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Alignment</a:t>
              </a:r>
              <a:endParaRPr lang="ko-KR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C86355F-61D5-10CF-B697-3FDC98A4BBB4}"/>
              </a:ext>
            </a:extLst>
          </p:cNvPr>
          <p:cNvGrpSpPr/>
          <p:nvPr/>
        </p:nvGrpSpPr>
        <p:grpSpPr>
          <a:xfrm>
            <a:off x="8076303" y="5881422"/>
            <a:ext cx="1626999" cy="862435"/>
            <a:chOff x="4174449" y="4424381"/>
            <a:chExt cx="1953266" cy="1035382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EAE8D66-E69E-FA6A-5ED0-0FF29850F10A}"/>
                </a:ext>
              </a:extLst>
            </p:cNvPr>
            <p:cNvSpPr/>
            <p:nvPr/>
          </p:nvSpPr>
          <p:spPr>
            <a:xfrm>
              <a:off x="4174449" y="4424381"/>
              <a:ext cx="1953266" cy="103538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Proceeding will discard the design data of the selected step.</a:t>
              </a:r>
              <a:b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Are you sure you want to continue?</a:t>
              </a:r>
            </a:p>
          </p:txBody>
        </p:sp>
        <p:sp>
          <p:nvSpPr>
            <p:cNvPr id="23" name="모서리가 둥근 직사각형 10">
              <a:extLst>
                <a:ext uri="{FF2B5EF4-FFF2-40B4-BE49-F238E27FC236}">
                  <a16:creationId xmlns:a16="http://schemas.microsoft.com/office/drawing/2014/main" id="{55C871BE-4C70-6B39-8785-23EB98821E48}"/>
                </a:ext>
              </a:extLst>
            </p:cNvPr>
            <p:cNvSpPr/>
            <p:nvPr/>
          </p:nvSpPr>
          <p:spPr>
            <a:xfrm>
              <a:off x="5309292" y="5153043"/>
              <a:ext cx="766421" cy="214313"/>
            </a:xfrm>
            <a:prstGeom prst="roundRect">
              <a:avLst>
                <a:gd name="adj" fmla="val 41111"/>
              </a:avLst>
            </a:prstGeom>
            <a:solidFill>
              <a:srgbClr val="4545F8">
                <a:alpha val="70000"/>
              </a:srgbClr>
            </a:solidFill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>
                  <a:solidFill>
                    <a:schemeClr val="bg1"/>
                  </a:solidFill>
                </a:rPr>
                <a:t>OK</a:t>
              </a:r>
              <a:endParaRPr lang="ko-KR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24" name="모서리가 둥근 직사각형 76">
              <a:extLst>
                <a:ext uri="{FF2B5EF4-FFF2-40B4-BE49-F238E27FC236}">
                  <a16:creationId xmlns:a16="http://schemas.microsoft.com/office/drawing/2014/main" id="{75AC5BA2-4564-971D-9524-DCAF2C6321C3}"/>
                </a:ext>
              </a:extLst>
            </p:cNvPr>
            <p:cNvSpPr/>
            <p:nvPr/>
          </p:nvSpPr>
          <p:spPr>
            <a:xfrm>
              <a:off x="4285406" y="5153043"/>
              <a:ext cx="766421" cy="214313"/>
            </a:xfrm>
            <a:prstGeom prst="roundRect">
              <a:avLst>
                <a:gd name="adj" fmla="val 41111"/>
              </a:avLst>
            </a:prstGeom>
            <a:noFill/>
            <a:ln w="6350">
              <a:solidFill>
                <a:srgbClr val="4545F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>
                  <a:solidFill>
                    <a:srgbClr val="7575F3"/>
                  </a:solidFill>
                </a:rPr>
                <a:t>Cancel</a:t>
              </a:r>
              <a:endParaRPr lang="ko-KR" altLang="en-US" sz="800">
                <a:solidFill>
                  <a:srgbClr val="7575F3"/>
                </a:solidFill>
              </a:endParaRPr>
            </a:p>
          </p:txBody>
        </p:sp>
      </p:grpSp>
      <p:sp>
        <p:nvSpPr>
          <p:cNvPr id="30" name="오각형 65">
            <a:extLst>
              <a:ext uri="{FF2B5EF4-FFF2-40B4-BE49-F238E27FC236}">
                <a16:creationId xmlns:a16="http://schemas.microsoft.com/office/drawing/2014/main" id="{BBE3E7AF-2BDD-1A46-299C-6C142D9FB928}"/>
              </a:ext>
            </a:extLst>
          </p:cNvPr>
          <p:cNvSpPr/>
          <p:nvPr/>
        </p:nvSpPr>
        <p:spPr>
          <a:xfrm>
            <a:off x="860292" y="5881422"/>
            <a:ext cx="966393" cy="344774"/>
          </a:xfrm>
          <a:prstGeom prst="homePlate">
            <a:avLst/>
          </a:prstGeom>
          <a:solidFill>
            <a:srgbClr val="ECEFF3"/>
          </a:solidFill>
          <a:ln w="6350">
            <a:solidFill>
              <a:srgbClr val="82B1E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Alignment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오각형 66">
            <a:extLst>
              <a:ext uri="{FF2B5EF4-FFF2-40B4-BE49-F238E27FC236}">
                <a16:creationId xmlns:a16="http://schemas.microsoft.com/office/drawing/2014/main" id="{FCE2C4E6-7780-4745-4BA8-B4EB419BAFDF}"/>
              </a:ext>
            </a:extLst>
          </p:cNvPr>
          <p:cNvSpPr/>
          <p:nvPr/>
        </p:nvSpPr>
        <p:spPr>
          <a:xfrm>
            <a:off x="1887430" y="5881422"/>
            <a:ext cx="966393" cy="344774"/>
          </a:xfrm>
          <a:prstGeom prst="homePlate">
            <a:avLst/>
          </a:prstGeom>
          <a:solidFill>
            <a:srgbClr val="ECEFF3"/>
          </a:solidFill>
          <a:ln w="6350">
            <a:solidFill>
              <a:srgbClr val="82B1E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Orientation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오각형 68">
            <a:extLst>
              <a:ext uri="{FF2B5EF4-FFF2-40B4-BE49-F238E27FC236}">
                <a16:creationId xmlns:a16="http://schemas.microsoft.com/office/drawing/2014/main" id="{5697CFE1-D081-F7A3-7227-C6FDF85C8692}"/>
              </a:ext>
            </a:extLst>
          </p:cNvPr>
          <p:cNvSpPr/>
          <p:nvPr/>
        </p:nvSpPr>
        <p:spPr>
          <a:xfrm>
            <a:off x="2915433" y="5881422"/>
            <a:ext cx="966393" cy="344774"/>
          </a:xfrm>
          <a:prstGeom prst="homePlate">
            <a:avLst/>
          </a:prstGeom>
          <a:solidFill>
            <a:srgbClr val="ECEFF3"/>
          </a:solidFill>
          <a:ln w="6350">
            <a:solidFill>
              <a:srgbClr val="82B1E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Margin line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오각형 69">
            <a:extLst>
              <a:ext uri="{FF2B5EF4-FFF2-40B4-BE49-F238E27FC236}">
                <a16:creationId xmlns:a16="http://schemas.microsoft.com/office/drawing/2014/main" id="{BD0E2436-4E2A-FA54-6DEF-277B9CD91039}"/>
              </a:ext>
            </a:extLst>
          </p:cNvPr>
          <p:cNvSpPr/>
          <p:nvPr/>
        </p:nvSpPr>
        <p:spPr>
          <a:xfrm>
            <a:off x="3942570" y="5881422"/>
            <a:ext cx="966393" cy="344774"/>
          </a:xfrm>
          <a:prstGeom prst="homePlate">
            <a:avLst/>
          </a:prstGeom>
          <a:solidFill>
            <a:srgbClr val="ECEFF3"/>
          </a:solidFill>
          <a:ln w="6350">
            <a:solidFill>
              <a:srgbClr val="82B1E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Cement gap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오각형 70">
            <a:extLst>
              <a:ext uri="{FF2B5EF4-FFF2-40B4-BE49-F238E27FC236}">
                <a16:creationId xmlns:a16="http://schemas.microsoft.com/office/drawing/2014/main" id="{18F44116-AD49-D836-728E-73696C11F531}"/>
              </a:ext>
            </a:extLst>
          </p:cNvPr>
          <p:cNvSpPr/>
          <p:nvPr/>
        </p:nvSpPr>
        <p:spPr>
          <a:xfrm>
            <a:off x="4969709" y="5881422"/>
            <a:ext cx="966393" cy="344774"/>
          </a:xfrm>
          <a:prstGeom prst="homePlate">
            <a:avLst/>
          </a:prstGeom>
          <a:solidFill>
            <a:srgbClr val="ECEFF3"/>
          </a:solidFill>
          <a:ln w="6350">
            <a:solidFill>
              <a:srgbClr val="82B1E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Crown design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오각형 71">
            <a:extLst>
              <a:ext uri="{FF2B5EF4-FFF2-40B4-BE49-F238E27FC236}">
                <a16:creationId xmlns:a16="http://schemas.microsoft.com/office/drawing/2014/main" id="{03081A26-F196-1FFA-D759-DC9D336B7669}"/>
              </a:ext>
            </a:extLst>
          </p:cNvPr>
          <p:cNvSpPr/>
          <p:nvPr/>
        </p:nvSpPr>
        <p:spPr>
          <a:xfrm>
            <a:off x="5996842" y="5881422"/>
            <a:ext cx="966393" cy="344774"/>
          </a:xfrm>
          <a:prstGeom prst="homePlate">
            <a:avLst>
              <a:gd name="adj" fmla="val 0"/>
            </a:avLst>
          </a:prstGeom>
          <a:solidFill>
            <a:srgbClr val="ECEFF3"/>
          </a:solidFill>
          <a:ln w="6350">
            <a:solidFill>
              <a:srgbClr val="82B1E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+mn-ea"/>
              </a:rPr>
              <a:t>Export</a:t>
            </a:r>
            <a:endParaRPr lang="ko-KR" altLang="en-US" sz="9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FCA2AD-2BEB-6A74-9A03-15F6B406D01E}"/>
              </a:ext>
            </a:extLst>
          </p:cNvPr>
          <p:cNvSpPr txBox="1"/>
          <p:nvPr/>
        </p:nvSpPr>
        <p:spPr>
          <a:xfrm>
            <a:off x="857537" y="6303515"/>
            <a:ext cx="9691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정합</a:t>
            </a:r>
            <a:endParaRPr lang="en-US" altLang="ko-KR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04FE3E-6306-4CB3-BE34-E04C39E52EA0}"/>
              </a:ext>
            </a:extLst>
          </p:cNvPr>
          <p:cNvSpPr txBox="1"/>
          <p:nvPr/>
        </p:nvSpPr>
        <p:spPr>
          <a:xfrm>
            <a:off x="1887430" y="6303515"/>
            <a:ext cx="9984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/>
              <a:t>완료기준없음</a:t>
            </a:r>
            <a:endParaRPr lang="en-US" altLang="ko-KR" sz="900" dirty="0"/>
          </a:p>
          <a:p>
            <a:r>
              <a:rPr lang="en-US" altLang="ko-KR" sz="900" dirty="0"/>
              <a:t>(</a:t>
            </a:r>
            <a:r>
              <a:rPr lang="ko-KR" altLang="en-US" sz="900" dirty="0" err="1"/>
              <a:t>진입시</a:t>
            </a:r>
            <a:r>
              <a:rPr lang="ko-KR" altLang="en-US" sz="900" dirty="0"/>
              <a:t> 완료상태</a:t>
            </a:r>
            <a:r>
              <a:rPr lang="en-US" altLang="ko-KR" sz="900" dirty="0"/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E736C4-133B-860D-4108-00F4E5E91075}"/>
              </a:ext>
            </a:extLst>
          </p:cNvPr>
          <p:cNvSpPr txBox="1"/>
          <p:nvPr/>
        </p:nvSpPr>
        <p:spPr>
          <a:xfrm>
            <a:off x="130849" y="604153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b="1" dirty="0"/>
              <a:t>STEP</a:t>
            </a:r>
          </a:p>
          <a:p>
            <a:pPr algn="ctr"/>
            <a:r>
              <a:rPr lang="ko-KR" altLang="en-US" sz="900" b="1" dirty="0"/>
              <a:t>완료 기준</a:t>
            </a:r>
            <a:endParaRPr lang="en-US" altLang="ko-KR" sz="9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43E0BF-B61C-5F75-5CCA-8DC95E951A5C}"/>
              </a:ext>
            </a:extLst>
          </p:cNvPr>
          <p:cNvSpPr txBox="1"/>
          <p:nvPr/>
        </p:nvSpPr>
        <p:spPr>
          <a:xfrm>
            <a:off x="2910864" y="6303515"/>
            <a:ext cx="970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마진라인 생성</a:t>
            </a:r>
            <a:endParaRPr lang="en-US" altLang="ko-KR" sz="9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77354C-D2D7-0A99-A706-14265BF5550F}"/>
              </a:ext>
            </a:extLst>
          </p:cNvPr>
          <p:cNvSpPr txBox="1"/>
          <p:nvPr/>
        </p:nvSpPr>
        <p:spPr>
          <a:xfrm>
            <a:off x="3949551" y="6303515"/>
            <a:ext cx="9594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/>
              <a:t>완료기준없음</a:t>
            </a:r>
            <a:endParaRPr lang="en-US" altLang="ko-KR" sz="900" dirty="0"/>
          </a:p>
          <a:p>
            <a:r>
              <a:rPr lang="en-US" altLang="ko-KR" sz="900" dirty="0"/>
              <a:t>(</a:t>
            </a:r>
            <a:r>
              <a:rPr lang="ko-KR" altLang="en-US" sz="900" dirty="0" err="1"/>
              <a:t>진입시</a:t>
            </a:r>
            <a:r>
              <a:rPr lang="ko-KR" altLang="en-US" sz="900" dirty="0"/>
              <a:t> 완료상태</a:t>
            </a:r>
            <a:r>
              <a:rPr lang="en-US" altLang="ko-KR" sz="900" dirty="0"/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E54534-C287-3943-34A0-EE0A05191A4D}"/>
              </a:ext>
            </a:extLst>
          </p:cNvPr>
          <p:cNvSpPr txBox="1"/>
          <p:nvPr/>
        </p:nvSpPr>
        <p:spPr>
          <a:xfrm>
            <a:off x="4973608" y="6303515"/>
            <a:ext cx="96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크라운과 마진라인 결합</a:t>
            </a:r>
            <a:endParaRPr lang="en-US" altLang="ko-KR" sz="9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CBB89BD-3048-940E-A6D8-0B11CD073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71737"/>
              </p:ext>
            </p:extLst>
          </p:nvPr>
        </p:nvGraphicFramePr>
        <p:xfrm>
          <a:off x="0" y="0"/>
          <a:ext cx="12192000" cy="673646"/>
        </p:xfrm>
        <a:graphic>
          <a:graphicData uri="http://schemas.openxmlformats.org/drawingml/2006/table">
            <a:tbl>
              <a:tblPr firstRow="1" bandRow="1">
                <a:tableStyleId>{351C6F6D-104B-4AAF-82D7-F5CF231855AB}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1620985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9417323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15117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156900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5411373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645867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135540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68058406"/>
                    </a:ext>
                  </a:extLst>
                </a:gridCol>
              </a:tblGrid>
              <a:tr h="336823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프로젝트명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OnePros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Single Crown </a:t>
                      </a: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화면정의서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문서번호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OPRS-002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작성일자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2025.12.31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611558"/>
                  </a:ext>
                </a:extLst>
              </a:tr>
              <a:tr h="336823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화면 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ID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OP_v1.0_CT_001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현재버전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Ver 1.0</a:t>
                      </a:r>
                      <a:endParaRPr lang="ko-KR" altLang="en-US" sz="9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82152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1AFE7B7A-B7B5-DCA5-7A0A-E64675F81050}"/>
              </a:ext>
            </a:extLst>
          </p:cNvPr>
          <p:cNvSpPr/>
          <p:nvPr/>
        </p:nvSpPr>
        <p:spPr>
          <a:xfrm>
            <a:off x="174292" y="1535906"/>
            <a:ext cx="162681" cy="1032253"/>
          </a:xfrm>
          <a:prstGeom prst="rect">
            <a:avLst/>
          </a:prstGeom>
          <a:noFill/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i="1">
              <a:solidFill>
                <a:srgbClr val="FFFF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EBE0C28-0FFA-49E6-6CEB-993178DEB489}"/>
              </a:ext>
            </a:extLst>
          </p:cNvPr>
          <p:cNvSpPr/>
          <p:nvPr/>
        </p:nvSpPr>
        <p:spPr>
          <a:xfrm>
            <a:off x="75318" y="1482551"/>
            <a:ext cx="137006" cy="13700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  <a:latin typeface="+mn-ea"/>
              </a:rPr>
              <a:t>20</a:t>
            </a:r>
            <a:endParaRPr lang="ko-KR" altLang="en-US" sz="7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299299-4FF2-4E5C-2554-0EE20303CC46}"/>
              </a:ext>
            </a:extLst>
          </p:cNvPr>
          <p:cNvSpPr/>
          <p:nvPr/>
        </p:nvSpPr>
        <p:spPr>
          <a:xfrm>
            <a:off x="362867" y="2487694"/>
            <a:ext cx="551533" cy="464507"/>
          </a:xfrm>
          <a:prstGeom prst="rect">
            <a:avLst/>
          </a:prstGeom>
          <a:noFill/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i="1">
              <a:solidFill>
                <a:srgbClr val="FFFF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CDE68DB-C16E-76A4-3E50-0110A3D8D6A4}"/>
              </a:ext>
            </a:extLst>
          </p:cNvPr>
          <p:cNvSpPr/>
          <p:nvPr/>
        </p:nvSpPr>
        <p:spPr>
          <a:xfrm>
            <a:off x="362868" y="2353725"/>
            <a:ext cx="137006" cy="137006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  <a:latin typeface="+mn-ea"/>
              </a:rPr>
              <a:t>18</a:t>
            </a:r>
            <a:endParaRPr lang="ko-KR" altLang="en-US" sz="7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0B87F31-CF24-2015-FDA4-A58E198361F0}"/>
              </a:ext>
            </a:extLst>
          </p:cNvPr>
          <p:cNvSpPr/>
          <p:nvPr/>
        </p:nvSpPr>
        <p:spPr>
          <a:xfrm>
            <a:off x="338338" y="3009977"/>
            <a:ext cx="197902" cy="197902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  <a:latin typeface="+mn-ea"/>
              </a:rPr>
              <a:t>17-1</a:t>
            </a:r>
            <a:endParaRPr lang="ko-KR" altLang="en-US" sz="7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F813DC38-751C-D9CE-E01D-4A226CA76B50}"/>
              </a:ext>
            </a:extLst>
          </p:cNvPr>
          <p:cNvSpPr/>
          <p:nvPr/>
        </p:nvSpPr>
        <p:spPr>
          <a:xfrm>
            <a:off x="1336550" y="3009977"/>
            <a:ext cx="197902" cy="197902"/>
          </a:xfrm>
          <a:prstGeom prst="ellipse">
            <a:avLst/>
          </a:prstGeom>
          <a:solidFill>
            <a:srgbClr val="FF0000"/>
          </a:solidFill>
          <a:ln w="2222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  <a:latin typeface="+mn-ea"/>
              </a:rPr>
              <a:t>17-2</a:t>
            </a:r>
            <a:endParaRPr lang="ko-KR" altLang="en-US" sz="7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52" name="Picture 70" descr="point">
            <a:extLst>
              <a:ext uri="{FF2B5EF4-FFF2-40B4-BE49-F238E27FC236}">
                <a16:creationId xmlns:a16="http://schemas.microsoft.com/office/drawing/2014/main" id="{64C32B30-BEF2-AF21-F7A2-82C2F7B56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lum contrast="28000"/>
          </a:blip>
          <a:srcRect/>
          <a:stretch>
            <a:fillRect/>
          </a:stretch>
        </p:blipFill>
        <p:spPr bwMode="auto">
          <a:xfrm>
            <a:off x="1547846" y="3615000"/>
            <a:ext cx="99314" cy="211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3333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FF">
            <a:alpha val="60000"/>
          </a:srgbClr>
        </a:solidFill>
        <a:ln w="22225">
          <a:noFill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500" i="1" smtClean="0">
            <a:solidFill>
              <a:srgbClr val="FFFF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100" smtClean="0">
            <a:latin typeface="+mj-ea"/>
            <a:ea typeface="+mj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186070</TotalTime>
  <Words>656</Words>
  <Application>Microsoft Office PowerPoint</Application>
  <PresentationFormat>와이드스크린</PresentationFormat>
  <Paragraphs>178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Arial Unicode MS</vt:lpstr>
      <vt:lpstr>Malgun Gothic</vt:lpstr>
      <vt:lpstr>Malgun Gothic</vt:lpstr>
      <vt:lpstr>Arial</vt:lpstr>
      <vt:lpstr>Calibri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OneOrtho V1.0 기획 안</dc:title>
  <dc:creator>HSKIM</dc:creator>
  <cp:lastModifiedBy>김원중/OW총괄본부/과장</cp:lastModifiedBy>
  <cp:revision>13142</cp:revision>
  <cp:lastPrinted>2025-11-19T08:17:29Z</cp:lastPrinted>
  <dcterms:created xsi:type="dcterms:W3CDTF">2019-06-04T01:51:22Z</dcterms:created>
  <dcterms:modified xsi:type="dcterms:W3CDTF">2026-02-04T02:14:07Z</dcterms:modified>
</cp:coreProperties>
</file>