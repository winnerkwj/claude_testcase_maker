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9" r:id="rId2"/>
    <p:sldId id="322" r:id="rId3"/>
    <p:sldId id="282" r:id="rId4"/>
    <p:sldId id="323" r:id="rId5"/>
    <p:sldId id="335" r:id="rId6"/>
    <p:sldId id="321" r:id="rId7"/>
    <p:sldId id="324" r:id="rId8"/>
    <p:sldId id="296" r:id="rId9"/>
    <p:sldId id="300" r:id="rId10"/>
    <p:sldId id="325" r:id="rId11"/>
    <p:sldId id="334" r:id="rId12"/>
    <p:sldId id="313" r:id="rId13"/>
    <p:sldId id="288" r:id="rId14"/>
    <p:sldId id="336" r:id="rId15"/>
    <p:sldId id="327" r:id="rId16"/>
    <p:sldId id="339" r:id="rId17"/>
    <p:sldId id="340" r:id="rId18"/>
    <p:sldId id="315" r:id="rId19"/>
    <p:sldId id="317" r:id="rId20"/>
    <p:sldId id="341" r:id="rId21"/>
    <p:sldId id="292" r:id="rId22"/>
    <p:sldId id="291" r:id="rId23"/>
    <p:sldId id="319" r:id="rId24"/>
    <p:sldId id="302" r:id="rId25"/>
    <p:sldId id="329" r:id="rId26"/>
    <p:sldId id="331" r:id="rId27"/>
    <p:sldId id="311" r:id="rId28"/>
    <p:sldId id="312" r:id="rId2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618"/>
    <a:srgbClr val="C86866"/>
    <a:srgbClr val="18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287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2CD71-9048-4C34-BCA1-D902EDA3DCB6}" type="datetimeFigureOut">
              <a:rPr lang="ko-KR" altLang="en-US" smtClean="0"/>
              <a:t>2026-02-04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525E9-1158-416E-88C5-D082FAC824A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5252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86229-5792-42B6-B8BD-D74AFDF9D65F}" type="datetimeFigureOut">
              <a:rPr lang="ko-KR" altLang="en-US" smtClean="0"/>
              <a:pPr/>
              <a:t>2026-02-04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6C71F-4A2B-486C-9D5A-5D863AAEA17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2691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3476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1976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1429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679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7820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0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491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3028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36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6C71F-4A2B-486C-9D5A-5D863AAEA17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8639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사내용 -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/>
          <a:srcRect t="23769" b="28692"/>
          <a:stretch>
            <a:fillRect/>
          </a:stretch>
        </p:blipFill>
        <p:spPr bwMode="auto">
          <a:xfrm>
            <a:off x="7416472" y="5929908"/>
            <a:ext cx="1404000" cy="667444"/>
          </a:xfrm>
          <a:prstGeom prst="rect">
            <a:avLst/>
          </a:prstGeom>
          <a:noFill/>
        </p:spPr>
      </p:pic>
      <p:grpSp>
        <p:nvGrpSpPr>
          <p:cNvPr id="30" name="그룹 29"/>
          <p:cNvGrpSpPr/>
          <p:nvPr userDrawn="1"/>
        </p:nvGrpSpPr>
        <p:grpSpPr>
          <a:xfrm>
            <a:off x="0" y="0"/>
            <a:ext cx="9144001" cy="3291585"/>
            <a:chOff x="0" y="0"/>
            <a:chExt cx="9144001" cy="3291585"/>
          </a:xfrm>
        </p:grpSpPr>
        <p:sp>
          <p:nvSpPr>
            <p:cNvPr id="7" name="직사각형 6"/>
            <p:cNvSpPr/>
            <p:nvPr userDrawn="1"/>
          </p:nvSpPr>
          <p:spPr>
            <a:xfrm>
              <a:off x="0" y="0"/>
              <a:ext cx="9144000" cy="2857496"/>
            </a:xfrm>
            <a:prstGeom prst="rect">
              <a:avLst/>
            </a:prstGeom>
            <a:solidFill>
              <a:srgbClr val="070324"/>
            </a:solidFill>
            <a:ln w="9525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latinLnBrk="0" hangingPunct="0"/>
              <a:endParaRPr lang="ko-KR" altLang="en-US" dirty="0">
                <a:solidFill>
                  <a:srgbClr val="000000"/>
                </a:solidFill>
                <a:sym typeface="Calibri"/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1253241" y="2857496"/>
              <a:ext cx="1214630" cy="4340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" y="5"/>
                </a:cxn>
                <a:cxn ang="0">
                  <a:pos x="232" y="17"/>
                </a:cxn>
                <a:cxn ang="0">
                  <a:pos x="281" y="24"/>
                </a:cxn>
                <a:cxn ang="0">
                  <a:pos x="377" y="46"/>
                </a:cxn>
                <a:cxn ang="0">
                  <a:pos x="470" y="76"/>
                </a:cxn>
                <a:cxn ang="0">
                  <a:pos x="562" y="111"/>
                </a:cxn>
                <a:cxn ang="0">
                  <a:pos x="607" y="130"/>
                </a:cxn>
                <a:cxn ang="0">
                  <a:pos x="668" y="160"/>
                </a:cxn>
                <a:cxn ang="0">
                  <a:pos x="702" y="179"/>
                </a:cxn>
                <a:cxn ang="0">
                  <a:pos x="769" y="219"/>
                </a:cxn>
                <a:cxn ang="0">
                  <a:pos x="834" y="263"/>
                </a:cxn>
                <a:cxn ang="0">
                  <a:pos x="895" y="311"/>
                </a:cxn>
                <a:cxn ang="0">
                  <a:pos x="953" y="362"/>
                </a:cxn>
                <a:cxn ang="0">
                  <a:pos x="1009" y="417"/>
                </a:cxn>
                <a:cxn ang="0">
                  <a:pos x="1061" y="475"/>
                </a:cxn>
                <a:cxn ang="0">
                  <a:pos x="1111" y="536"/>
                </a:cxn>
                <a:cxn ang="0">
                  <a:pos x="1133" y="567"/>
                </a:cxn>
                <a:cxn ang="0">
                  <a:pos x="1173" y="624"/>
                </a:cxn>
                <a:cxn ang="0">
                  <a:pos x="1210" y="683"/>
                </a:cxn>
                <a:cxn ang="0">
                  <a:pos x="1244" y="743"/>
                </a:cxn>
                <a:cxn ang="0">
                  <a:pos x="1276" y="805"/>
                </a:cxn>
                <a:cxn ang="0">
                  <a:pos x="1290" y="836"/>
                </a:cxn>
                <a:cxn ang="0">
                  <a:pos x="1319" y="901"/>
                </a:cxn>
                <a:cxn ang="0">
                  <a:pos x="1331" y="934"/>
                </a:cxn>
                <a:cxn ang="0">
                  <a:pos x="1354" y="997"/>
                </a:cxn>
                <a:cxn ang="0">
                  <a:pos x="1369" y="1027"/>
                </a:cxn>
                <a:cxn ang="0">
                  <a:pos x="1389" y="1055"/>
                </a:cxn>
                <a:cxn ang="0">
                  <a:pos x="1395" y="1062"/>
                </a:cxn>
                <a:cxn ang="0">
                  <a:pos x="1408" y="1072"/>
                </a:cxn>
                <a:cxn ang="0">
                  <a:pos x="1418" y="1075"/>
                </a:cxn>
                <a:cxn ang="0">
                  <a:pos x="1424" y="1075"/>
                </a:cxn>
                <a:cxn ang="0">
                  <a:pos x="1433" y="1073"/>
                </a:cxn>
                <a:cxn ang="0">
                  <a:pos x="1451" y="1062"/>
                </a:cxn>
                <a:cxn ang="0">
                  <a:pos x="1465" y="1044"/>
                </a:cxn>
                <a:cxn ang="0">
                  <a:pos x="1481" y="1017"/>
                </a:cxn>
                <a:cxn ang="0">
                  <a:pos x="1489" y="1000"/>
                </a:cxn>
                <a:cxn ang="0">
                  <a:pos x="1510" y="948"/>
                </a:cxn>
                <a:cxn ang="0">
                  <a:pos x="1536" y="879"/>
                </a:cxn>
                <a:cxn ang="0">
                  <a:pos x="1551" y="844"/>
                </a:cxn>
                <a:cxn ang="0">
                  <a:pos x="1583" y="775"/>
                </a:cxn>
                <a:cxn ang="0">
                  <a:pos x="1601" y="742"/>
                </a:cxn>
                <a:cxn ang="0">
                  <a:pos x="1638" y="677"/>
                </a:cxn>
                <a:cxn ang="0">
                  <a:pos x="1679" y="613"/>
                </a:cxn>
                <a:cxn ang="0">
                  <a:pos x="1723" y="551"/>
                </a:cxn>
                <a:cxn ang="0">
                  <a:pos x="1770" y="492"/>
                </a:cxn>
                <a:cxn ang="0">
                  <a:pos x="1792" y="466"/>
                </a:cxn>
                <a:cxn ang="0">
                  <a:pos x="1836" y="418"/>
                </a:cxn>
                <a:cxn ang="0">
                  <a:pos x="1882" y="371"/>
                </a:cxn>
                <a:cxn ang="0">
                  <a:pos x="1932" y="327"/>
                </a:cxn>
                <a:cxn ang="0">
                  <a:pos x="1983" y="285"/>
                </a:cxn>
                <a:cxn ang="0">
                  <a:pos x="2036" y="246"/>
                </a:cxn>
                <a:cxn ang="0">
                  <a:pos x="2090" y="209"/>
                </a:cxn>
                <a:cxn ang="0">
                  <a:pos x="2147" y="175"/>
                </a:cxn>
                <a:cxn ang="0">
                  <a:pos x="2177" y="160"/>
                </a:cxn>
                <a:cxn ang="0">
                  <a:pos x="2237" y="130"/>
                </a:cxn>
                <a:cxn ang="0">
                  <a:pos x="2282" y="111"/>
                </a:cxn>
                <a:cxn ang="0">
                  <a:pos x="2374" y="76"/>
                </a:cxn>
                <a:cxn ang="0">
                  <a:pos x="2468" y="46"/>
                </a:cxn>
                <a:cxn ang="0">
                  <a:pos x="2563" y="24"/>
                </a:cxn>
                <a:cxn ang="0">
                  <a:pos x="2612" y="17"/>
                </a:cxn>
                <a:cxn ang="0">
                  <a:pos x="2728" y="5"/>
                </a:cxn>
                <a:cxn ang="0">
                  <a:pos x="2844" y="0"/>
                </a:cxn>
              </a:cxnLst>
              <a:rect l="0" t="0" r="r" b="b"/>
              <a:pathLst>
                <a:path w="2844" h="1075">
                  <a:moveTo>
                    <a:pt x="0" y="0"/>
                  </a:moveTo>
                  <a:lnTo>
                    <a:pt x="0" y="0"/>
                  </a:lnTo>
                  <a:lnTo>
                    <a:pt x="58" y="1"/>
                  </a:lnTo>
                  <a:lnTo>
                    <a:pt x="116" y="5"/>
                  </a:lnTo>
                  <a:lnTo>
                    <a:pt x="174" y="10"/>
                  </a:lnTo>
                  <a:lnTo>
                    <a:pt x="232" y="17"/>
                  </a:lnTo>
                  <a:lnTo>
                    <a:pt x="232" y="17"/>
                  </a:lnTo>
                  <a:lnTo>
                    <a:pt x="281" y="24"/>
                  </a:lnTo>
                  <a:lnTo>
                    <a:pt x="329" y="34"/>
                  </a:lnTo>
                  <a:lnTo>
                    <a:pt x="377" y="46"/>
                  </a:lnTo>
                  <a:lnTo>
                    <a:pt x="424" y="60"/>
                  </a:lnTo>
                  <a:lnTo>
                    <a:pt x="470" y="76"/>
                  </a:lnTo>
                  <a:lnTo>
                    <a:pt x="517" y="92"/>
                  </a:lnTo>
                  <a:lnTo>
                    <a:pt x="562" y="111"/>
                  </a:lnTo>
                  <a:lnTo>
                    <a:pt x="607" y="130"/>
                  </a:lnTo>
                  <a:lnTo>
                    <a:pt x="607" y="130"/>
                  </a:lnTo>
                  <a:lnTo>
                    <a:pt x="638" y="145"/>
                  </a:lnTo>
                  <a:lnTo>
                    <a:pt x="668" y="160"/>
                  </a:lnTo>
                  <a:lnTo>
                    <a:pt x="668" y="160"/>
                  </a:lnTo>
                  <a:lnTo>
                    <a:pt x="702" y="179"/>
                  </a:lnTo>
                  <a:lnTo>
                    <a:pt x="736" y="198"/>
                  </a:lnTo>
                  <a:lnTo>
                    <a:pt x="769" y="219"/>
                  </a:lnTo>
                  <a:lnTo>
                    <a:pt x="802" y="241"/>
                  </a:lnTo>
                  <a:lnTo>
                    <a:pt x="834" y="263"/>
                  </a:lnTo>
                  <a:lnTo>
                    <a:pt x="864" y="287"/>
                  </a:lnTo>
                  <a:lnTo>
                    <a:pt x="895" y="311"/>
                  </a:lnTo>
                  <a:lnTo>
                    <a:pt x="924" y="337"/>
                  </a:lnTo>
                  <a:lnTo>
                    <a:pt x="953" y="362"/>
                  </a:lnTo>
                  <a:lnTo>
                    <a:pt x="981" y="390"/>
                  </a:lnTo>
                  <a:lnTo>
                    <a:pt x="1009" y="417"/>
                  </a:lnTo>
                  <a:lnTo>
                    <a:pt x="1035" y="447"/>
                  </a:lnTo>
                  <a:lnTo>
                    <a:pt x="1061" y="475"/>
                  </a:lnTo>
                  <a:lnTo>
                    <a:pt x="1086" y="506"/>
                  </a:lnTo>
                  <a:lnTo>
                    <a:pt x="1111" y="536"/>
                  </a:lnTo>
                  <a:lnTo>
                    <a:pt x="1133" y="567"/>
                  </a:lnTo>
                  <a:lnTo>
                    <a:pt x="1133" y="567"/>
                  </a:lnTo>
                  <a:lnTo>
                    <a:pt x="1153" y="596"/>
                  </a:lnTo>
                  <a:lnTo>
                    <a:pt x="1173" y="624"/>
                  </a:lnTo>
                  <a:lnTo>
                    <a:pt x="1192" y="654"/>
                  </a:lnTo>
                  <a:lnTo>
                    <a:pt x="1210" y="683"/>
                  </a:lnTo>
                  <a:lnTo>
                    <a:pt x="1228" y="713"/>
                  </a:lnTo>
                  <a:lnTo>
                    <a:pt x="1244" y="743"/>
                  </a:lnTo>
                  <a:lnTo>
                    <a:pt x="1261" y="774"/>
                  </a:lnTo>
                  <a:lnTo>
                    <a:pt x="1276" y="805"/>
                  </a:lnTo>
                  <a:lnTo>
                    <a:pt x="1276" y="805"/>
                  </a:lnTo>
                  <a:lnTo>
                    <a:pt x="1290" y="836"/>
                  </a:lnTo>
                  <a:lnTo>
                    <a:pt x="1304" y="869"/>
                  </a:lnTo>
                  <a:lnTo>
                    <a:pt x="1319" y="901"/>
                  </a:lnTo>
                  <a:lnTo>
                    <a:pt x="1331" y="934"/>
                  </a:lnTo>
                  <a:lnTo>
                    <a:pt x="1331" y="934"/>
                  </a:lnTo>
                  <a:lnTo>
                    <a:pt x="1343" y="965"/>
                  </a:lnTo>
                  <a:lnTo>
                    <a:pt x="1354" y="997"/>
                  </a:lnTo>
                  <a:lnTo>
                    <a:pt x="1361" y="1012"/>
                  </a:lnTo>
                  <a:lnTo>
                    <a:pt x="1369" y="1027"/>
                  </a:lnTo>
                  <a:lnTo>
                    <a:pt x="1378" y="1041"/>
                  </a:lnTo>
                  <a:lnTo>
                    <a:pt x="1389" y="1055"/>
                  </a:lnTo>
                  <a:lnTo>
                    <a:pt x="1389" y="1055"/>
                  </a:lnTo>
                  <a:lnTo>
                    <a:pt x="1395" y="1062"/>
                  </a:lnTo>
                  <a:lnTo>
                    <a:pt x="1404" y="1068"/>
                  </a:lnTo>
                  <a:lnTo>
                    <a:pt x="1408" y="1072"/>
                  </a:lnTo>
                  <a:lnTo>
                    <a:pt x="1414" y="1074"/>
                  </a:lnTo>
                  <a:lnTo>
                    <a:pt x="1418" y="1075"/>
                  </a:lnTo>
                  <a:lnTo>
                    <a:pt x="1424" y="1075"/>
                  </a:lnTo>
                  <a:lnTo>
                    <a:pt x="1424" y="1075"/>
                  </a:lnTo>
                  <a:lnTo>
                    <a:pt x="1428" y="1074"/>
                  </a:lnTo>
                  <a:lnTo>
                    <a:pt x="1433" y="1073"/>
                  </a:lnTo>
                  <a:lnTo>
                    <a:pt x="1442" y="1068"/>
                  </a:lnTo>
                  <a:lnTo>
                    <a:pt x="1451" y="1062"/>
                  </a:lnTo>
                  <a:lnTo>
                    <a:pt x="1459" y="1053"/>
                  </a:lnTo>
                  <a:lnTo>
                    <a:pt x="1465" y="1044"/>
                  </a:lnTo>
                  <a:lnTo>
                    <a:pt x="1471" y="1034"/>
                  </a:lnTo>
                  <a:lnTo>
                    <a:pt x="1481" y="1017"/>
                  </a:lnTo>
                  <a:lnTo>
                    <a:pt x="1481" y="1017"/>
                  </a:lnTo>
                  <a:lnTo>
                    <a:pt x="1489" y="1000"/>
                  </a:lnTo>
                  <a:lnTo>
                    <a:pt x="1496" y="983"/>
                  </a:lnTo>
                  <a:lnTo>
                    <a:pt x="1510" y="948"/>
                  </a:lnTo>
                  <a:lnTo>
                    <a:pt x="1522" y="913"/>
                  </a:lnTo>
                  <a:lnTo>
                    <a:pt x="1536" y="879"/>
                  </a:lnTo>
                  <a:lnTo>
                    <a:pt x="1536" y="879"/>
                  </a:lnTo>
                  <a:lnTo>
                    <a:pt x="1551" y="844"/>
                  </a:lnTo>
                  <a:lnTo>
                    <a:pt x="1567" y="809"/>
                  </a:lnTo>
                  <a:lnTo>
                    <a:pt x="1583" y="775"/>
                  </a:lnTo>
                  <a:lnTo>
                    <a:pt x="1601" y="742"/>
                  </a:lnTo>
                  <a:lnTo>
                    <a:pt x="1601" y="742"/>
                  </a:lnTo>
                  <a:lnTo>
                    <a:pt x="1620" y="709"/>
                  </a:lnTo>
                  <a:lnTo>
                    <a:pt x="1638" y="677"/>
                  </a:lnTo>
                  <a:lnTo>
                    <a:pt x="1658" y="645"/>
                  </a:lnTo>
                  <a:lnTo>
                    <a:pt x="1679" y="613"/>
                  </a:lnTo>
                  <a:lnTo>
                    <a:pt x="1701" y="581"/>
                  </a:lnTo>
                  <a:lnTo>
                    <a:pt x="1723" y="551"/>
                  </a:lnTo>
                  <a:lnTo>
                    <a:pt x="1747" y="521"/>
                  </a:lnTo>
                  <a:lnTo>
                    <a:pt x="1770" y="492"/>
                  </a:lnTo>
                  <a:lnTo>
                    <a:pt x="1770" y="492"/>
                  </a:lnTo>
                  <a:lnTo>
                    <a:pt x="1792" y="466"/>
                  </a:lnTo>
                  <a:lnTo>
                    <a:pt x="1813" y="442"/>
                  </a:lnTo>
                  <a:lnTo>
                    <a:pt x="1836" y="418"/>
                  </a:lnTo>
                  <a:lnTo>
                    <a:pt x="1859" y="394"/>
                  </a:lnTo>
                  <a:lnTo>
                    <a:pt x="1882" y="371"/>
                  </a:lnTo>
                  <a:lnTo>
                    <a:pt x="1906" y="349"/>
                  </a:lnTo>
                  <a:lnTo>
                    <a:pt x="1932" y="327"/>
                  </a:lnTo>
                  <a:lnTo>
                    <a:pt x="1957" y="306"/>
                  </a:lnTo>
                  <a:lnTo>
                    <a:pt x="1983" y="285"/>
                  </a:lnTo>
                  <a:lnTo>
                    <a:pt x="2009" y="265"/>
                  </a:lnTo>
                  <a:lnTo>
                    <a:pt x="2036" y="246"/>
                  </a:lnTo>
                  <a:lnTo>
                    <a:pt x="2063" y="228"/>
                  </a:lnTo>
                  <a:lnTo>
                    <a:pt x="2090" y="209"/>
                  </a:lnTo>
                  <a:lnTo>
                    <a:pt x="2119" y="192"/>
                  </a:lnTo>
                  <a:lnTo>
                    <a:pt x="2147" y="175"/>
                  </a:lnTo>
                  <a:lnTo>
                    <a:pt x="2177" y="160"/>
                  </a:lnTo>
                  <a:lnTo>
                    <a:pt x="2177" y="160"/>
                  </a:lnTo>
                  <a:lnTo>
                    <a:pt x="2206" y="145"/>
                  </a:lnTo>
                  <a:lnTo>
                    <a:pt x="2237" y="130"/>
                  </a:lnTo>
                  <a:lnTo>
                    <a:pt x="2237" y="130"/>
                  </a:lnTo>
                  <a:lnTo>
                    <a:pt x="2282" y="111"/>
                  </a:lnTo>
                  <a:lnTo>
                    <a:pt x="2328" y="92"/>
                  </a:lnTo>
                  <a:lnTo>
                    <a:pt x="2374" y="76"/>
                  </a:lnTo>
                  <a:lnTo>
                    <a:pt x="2421" y="60"/>
                  </a:lnTo>
                  <a:lnTo>
                    <a:pt x="2468" y="46"/>
                  </a:lnTo>
                  <a:lnTo>
                    <a:pt x="2515" y="34"/>
                  </a:lnTo>
                  <a:lnTo>
                    <a:pt x="2563" y="24"/>
                  </a:lnTo>
                  <a:lnTo>
                    <a:pt x="2612" y="17"/>
                  </a:lnTo>
                  <a:lnTo>
                    <a:pt x="2612" y="17"/>
                  </a:lnTo>
                  <a:lnTo>
                    <a:pt x="2670" y="10"/>
                  </a:lnTo>
                  <a:lnTo>
                    <a:pt x="2728" y="5"/>
                  </a:lnTo>
                  <a:lnTo>
                    <a:pt x="2786" y="1"/>
                  </a:lnTo>
                  <a:lnTo>
                    <a:pt x="2844" y="0"/>
                  </a:lnTo>
                </a:path>
              </a:pathLst>
            </a:custGeom>
            <a:solidFill>
              <a:srgbClr val="070324"/>
            </a:solidFill>
            <a:ln w="9525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latinLnBrk="0" hangingPunct="0"/>
              <a:endParaRPr lang="ko-KR" altLang="en-US" dirty="0">
                <a:solidFill>
                  <a:srgbClr val="000000"/>
                </a:solidFill>
                <a:sym typeface="Calibri"/>
              </a:endParaRPr>
            </a:p>
          </p:txBody>
        </p:sp>
        <p:pic>
          <p:nvPicPr>
            <p:cNvPr id="29" name="Picture 2" descr="C:\Users\user\Desktop\그림1.jpg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 l="30667" b="28889"/>
            <a:stretch>
              <a:fillRect/>
            </a:stretch>
          </p:blipFill>
          <p:spPr bwMode="auto">
            <a:xfrm>
              <a:off x="6357950" y="1"/>
              <a:ext cx="2786051" cy="21431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그룹 14"/>
          <p:cNvGrpSpPr/>
          <p:nvPr userDrawn="1"/>
        </p:nvGrpSpPr>
        <p:grpSpPr>
          <a:xfrm>
            <a:off x="1797387" y="4071150"/>
            <a:ext cx="147953" cy="147953"/>
            <a:chOff x="1868825" y="3903571"/>
            <a:chExt cx="147953" cy="147953"/>
          </a:xfrm>
        </p:grpSpPr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868825" y="3903571"/>
              <a:ext cx="147952" cy="1479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8"/>
                </a:cxn>
                <a:cxn ang="0">
                  <a:pos x="258" y="258"/>
                </a:cxn>
                <a:cxn ang="0">
                  <a:pos x="258" y="122"/>
                </a:cxn>
                <a:cxn ang="0">
                  <a:pos x="13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8" h="258">
                  <a:moveTo>
                    <a:pt x="0" y="0"/>
                  </a:moveTo>
                  <a:lnTo>
                    <a:pt x="0" y="258"/>
                  </a:lnTo>
                  <a:lnTo>
                    <a:pt x="258" y="258"/>
                  </a:lnTo>
                  <a:lnTo>
                    <a:pt x="258" y="122"/>
                  </a:lnTo>
                  <a:lnTo>
                    <a:pt x="13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1946816" y="3903571"/>
              <a:ext cx="69962" cy="69962"/>
            </a:xfrm>
            <a:custGeom>
              <a:avLst/>
              <a:gdLst/>
              <a:ahLst/>
              <a:cxnLst>
                <a:cxn ang="0">
                  <a:pos x="122" y="122"/>
                </a:cxn>
                <a:cxn ang="0">
                  <a:pos x="0" y="0"/>
                </a:cxn>
                <a:cxn ang="0">
                  <a:pos x="0" y="122"/>
                </a:cxn>
                <a:cxn ang="0">
                  <a:pos x="122" y="122"/>
                </a:cxn>
                <a:cxn ang="0">
                  <a:pos x="122" y="122"/>
                </a:cxn>
              </a:cxnLst>
              <a:rect l="0" t="0" r="r" b="b"/>
              <a:pathLst>
                <a:path w="122" h="122">
                  <a:moveTo>
                    <a:pt x="122" y="122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122" y="122"/>
                  </a:lnTo>
                  <a:lnTo>
                    <a:pt x="122" y="122"/>
                  </a:lnTo>
                  <a:close/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13" name="그룹 15"/>
          <p:cNvGrpSpPr/>
          <p:nvPr userDrawn="1"/>
        </p:nvGrpSpPr>
        <p:grpSpPr>
          <a:xfrm>
            <a:off x="1793946" y="4501213"/>
            <a:ext cx="157128" cy="158275"/>
            <a:chOff x="1865384" y="4280908"/>
            <a:chExt cx="157128" cy="158275"/>
          </a:xfrm>
        </p:grpSpPr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1865384" y="4280908"/>
              <a:ext cx="157128" cy="158275"/>
            </a:xfrm>
            <a:custGeom>
              <a:avLst/>
              <a:gdLst/>
              <a:ahLst/>
              <a:cxnLst>
                <a:cxn ang="0">
                  <a:pos x="274" y="138"/>
                </a:cxn>
                <a:cxn ang="0">
                  <a:pos x="272" y="166"/>
                </a:cxn>
                <a:cxn ang="0">
                  <a:pos x="264" y="192"/>
                </a:cxn>
                <a:cxn ang="0">
                  <a:pos x="250" y="214"/>
                </a:cxn>
                <a:cxn ang="0">
                  <a:pos x="234" y="234"/>
                </a:cxn>
                <a:cxn ang="0">
                  <a:pos x="214" y="252"/>
                </a:cxn>
                <a:cxn ang="0">
                  <a:pos x="190" y="264"/>
                </a:cxn>
                <a:cxn ang="0">
                  <a:pos x="164" y="272"/>
                </a:cxn>
                <a:cxn ang="0">
                  <a:pos x="136" y="276"/>
                </a:cxn>
                <a:cxn ang="0">
                  <a:pos x="122" y="274"/>
                </a:cxn>
                <a:cxn ang="0">
                  <a:pos x="96" y="268"/>
                </a:cxn>
                <a:cxn ang="0">
                  <a:pos x="72" y="258"/>
                </a:cxn>
                <a:cxn ang="0">
                  <a:pos x="50" y="244"/>
                </a:cxn>
                <a:cxn ang="0">
                  <a:pos x="30" y="226"/>
                </a:cxn>
                <a:cxn ang="0">
                  <a:pos x="16" y="204"/>
                </a:cxn>
                <a:cxn ang="0">
                  <a:pos x="6" y="178"/>
                </a:cxn>
                <a:cxn ang="0">
                  <a:pos x="0" y="152"/>
                </a:cxn>
                <a:cxn ang="0">
                  <a:pos x="0" y="138"/>
                </a:cxn>
                <a:cxn ang="0">
                  <a:pos x="2" y="110"/>
                </a:cxn>
                <a:cxn ang="0">
                  <a:pos x="10" y="84"/>
                </a:cxn>
                <a:cxn ang="0">
                  <a:pos x="22" y="60"/>
                </a:cxn>
                <a:cxn ang="0">
                  <a:pos x="40" y="40"/>
                </a:cxn>
                <a:cxn ang="0">
                  <a:pos x="60" y="24"/>
                </a:cxn>
                <a:cxn ang="0">
                  <a:pos x="84" y="12"/>
                </a:cxn>
                <a:cxn ang="0">
                  <a:pos x="110" y="4"/>
                </a:cxn>
                <a:cxn ang="0">
                  <a:pos x="136" y="0"/>
                </a:cxn>
                <a:cxn ang="0">
                  <a:pos x="150" y="2"/>
                </a:cxn>
                <a:cxn ang="0">
                  <a:pos x="178" y="6"/>
                </a:cxn>
                <a:cxn ang="0">
                  <a:pos x="202" y="16"/>
                </a:cxn>
                <a:cxn ang="0">
                  <a:pos x="224" y="32"/>
                </a:cxn>
                <a:cxn ang="0">
                  <a:pos x="242" y="50"/>
                </a:cxn>
                <a:cxn ang="0">
                  <a:pos x="258" y="72"/>
                </a:cxn>
                <a:cxn ang="0">
                  <a:pos x="268" y="96"/>
                </a:cxn>
                <a:cxn ang="0">
                  <a:pos x="274" y="124"/>
                </a:cxn>
                <a:cxn ang="0">
                  <a:pos x="274" y="138"/>
                </a:cxn>
              </a:cxnLst>
              <a:rect l="0" t="0" r="r" b="b"/>
              <a:pathLst>
                <a:path w="274" h="276">
                  <a:moveTo>
                    <a:pt x="274" y="138"/>
                  </a:moveTo>
                  <a:lnTo>
                    <a:pt x="274" y="138"/>
                  </a:lnTo>
                  <a:lnTo>
                    <a:pt x="274" y="152"/>
                  </a:lnTo>
                  <a:lnTo>
                    <a:pt x="272" y="166"/>
                  </a:lnTo>
                  <a:lnTo>
                    <a:pt x="268" y="178"/>
                  </a:lnTo>
                  <a:lnTo>
                    <a:pt x="264" y="192"/>
                  </a:lnTo>
                  <a:lnTo>
                    <a:pt x="258" y="204"/>
                  </a:lnTo>
                  <a:lnTo>
                    <a:pt x="250" y="214"/>
                  </a:lnTo>
                  <a:lnTo>
                    <a:pt x="242" y="226"/>
                  </a:lnTo>
                  <a:lnTo>
                    <a:pt x="234" y="234"/>
                  </a:lnTo>
                  <a:lnTo>
                    <a:pt x="224" y="244"/>
                  </a:lnTo>
                  <a:lnTo>
                    <a:pt x="214" y="252"/>
                  </a:lnTo>
                  <a:lnTo>
                    <a:pt x="202" y="258"/>
                  </a:lnTo>
                  <a:lnTo>
                    <a:pt x="190" y="264"/>
                  </a:lnTo>
                  <a:lnTo>
                    <a:pt x="178" y="268"/>
                  </a:lnTo>
                  <a:lnTo>
                    <a:pt x="164" y="272"/>
                  </a:lnTo>
                  <a:lnTo>
                    <a:pt x="150" y="274"/>
                  </a:lnTo>
                  <a:lnTo>
                    <a:pt x="136" y="276"/>
                  </a:lnTo>
                  <a:lnTo>
                    <a:pt x="136" y="276"/>
                  </a:lnTo>
                  <a:lnTo>
                    <a:pt x="122" y="274"/>
                  </a:lnTo>
                  <a:lnTo>
                    <a:pt x="110" y="272"/>
                  </a:lnTo>
                  <a:lnTo>
                    <a:pt x="96" y="268"/>
                  </a:lnTo>
                  <a:lnTo>
                    <a:pt x="84" y="264"/>
                  </a:lnTo>
                  <a:lnTo>
                    <a:pt x="72" y="258"/>
                  </a:lnTo>
                  <a:lnTo>
                    <a:pt x="60" y="252"/>
                  </a:lnTo>
                  <a:lnTo>
                    <a:pt x="50" y="244"/>
                  </a:lnTo>
                  <a:lnTo>
                    <a:pt x="40" y="234"/>
                  </a:lnTo>
                  <a:lnTo>
                    <a:pt x="30" y="226"/>
                  </a:lnTo>
                  <a:lnTo>
                    <a:pt x="22" y="214"/>
                  </a:lnTo>
                  <a:lnTo>
                    <a:pt x="16" y="204"/>
                  </a:lnTo>
                  <a:lnTo>
                    <a:pt x="10" y="192"/>
                  </a:lnTo>
                  <a:lnTo>
                    <a:pt x="6" y="178"/>
                  </a:lnTo>
                  <a:lnTo>
                    <a:pt x="2" y="166"/>
                  </a:lnTo>
                  <a:lnTo>
                    <a:pt x="0" y="15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0" y="124"/>
                  </a:lnTo>
                  <a:lnTo>
                    <a:pt x="2" y="110"/>
                  </a:lnTo>
                  <a:lnTo>
                    <a:pt x="6" y="96"/>
                  </a:lnTo>
                  <a:lnTo>
                    <a:pt x="10" y="84"/>
                  </a:lnTo>
                  <a:lnTo>
                    <a:pt x="16" y="72"/>
                  </a:lnTo>
                  <a:lnTo>
                    <a:pt x="22" y="60"/>
                  </a:lnTo>
                  <a:lnTo>
                    <a:pt x="30" y="50"/>
                  </a:lnTo>
                  <a:lnTo>
                    <a:pt x="40" y="40"/>
                  </a:lnTo>
                  <a:lnTo>
                    <a:pt x="50" y="32"/>
                  </a:lnTo>
                  <a:lnTo>
                    <a:pt x="60" y="24"/>
                  </a:lnTo>
                  <a:lnTo>
                    <a:pt x="72" y="16"/>
                  </a:lnTo>
                  <a:lnTo>
                    <a:pt x="84" y="12"/>
                  </a:lnTo>
                  <a:lnTo>
                    <a:pt x="96" y="6"/>
                  </a:lnTo>
                  <a:lnTo>
                    <a:pt x="110" y="4"/>
                  </a:lnTo>
                  <a:lnTo>
                    <a:pt x="122" y="2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4" y="4"/>
                  </a:lnTo>
                  <a:lnTo>
                    <a:pt x="178" y="6"/>
                  </a:lnTo>
                  <a:lnTo>
                    <a:pt x="190" y="12"/>
                  </a:lnTo>
                  <a:lnTo>
                    <a:pt x="202" y="16"/>
                  </a:lnTo>
                  <a:lnTo>
                    <a:pt x="214" y="24"/>
                  </a:lnTo>
                  <a:lnTo>
                    <a:pt x="224" y="32"/>
                  </a:lnTo>
                  <a:lnTo>
                    <a:pt x="234" y="40"/>
                  </a:lnTo>
                  <a:lnTo>
                    <a:pt x="242" y="50"/>
                  </a:lnTo>
                  <a:lnTo>
                    <a:pt x="250" y="60"/>
                  </a:lnTo>
                  <a:lnTo>
                    <a:pt x="258" y="72"/>
                  </a:lnTo>
                  <a:lnTo>
                    <a:pt x="264" y="84"/>
                  </a:lnTo>
                  <a:lnTo>
                    <a:pt x="268" y="96"/>
                  </a:lnTo>
                  <a:lnTo>
                    <a:pt x="272" y="110"/>
                  </a:lnTo>
                  <a:lnTo>
                    <a:pt x="274" y="124"/>
                  </a:lnTo>
                  <a:lnTo>
                    <a:pt x="274" y="138"/>
                  </a:lnTo>
                  <a:lnTo>
                    <a:pt x="274" y="138"/>
                  </a:lnTo>
                  <a:lnTo>
                    <a:pt x="274" y="138"/>
                  </a:lnTo>
                  <a:close/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1943375" y="4323344"/>
              <a:ext cx="44730" cy="412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"/>
                </a:cxn>
                <a:cxn ang="0">
                  <a:pos x="78" y="72"/>
                </a:cxn>
              </a:cxnLst>
              <a:rect l="0" t="0" r="r" b="b"/>
              <a:pathLst>
                <a:path w="78" h="72">
                  <a:moveTo>
                    <a:pt x="0" y="0"/>
                  </a:moveTo>
                  <a:lnTo>
                    <a:pt x="0" y="72"/>
                  </a:lnTo>
                  <a:lnTo>
                    <a:pt x="78" y="72"/>
                  </a:lnTo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16" name="그룹 16"/>
          <p:cNvGrpSpPr/>
          <p:nvPr userDrawn="1"/>
        </p:nvGrpSpPr>
        <p:grpSpPr>
          <a:xfrm>
            <a:off x="1785918" y="3611268"/>
            <a:ext cx="164009" cy="177772"/>
            <a:chOff x="1857356" y="3511325"/>
            <a:chExt cx="164009" cy="177772"/>
          </a:xfrm>
        </p:grpSpPr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1891763" y="3511325"/>
              <a:ext cx="95194" cy="95194"/>
            </a:xfrm>
            <a:custGeom>
              <a:avLst/>
              <a:gdLst/>
              <a:ahLst/>
              <a:cxnLst>
                <a:cxn ang="0">
                  <a:pos x="166" y="84"/>
                </a:cxn>
                <a:cxn ang="0">
                  <a:pos x="166" y="84"/>
                </a:cxn>
                <a:cxn ang="0">
                  <a:pos x="164" y="100"/>
                </a:cxn>
                <a:cxn ang="0">
                  <a:pos x="160" y="116"/>
                </a:cxn>
                <a:cxn ang="0">
                  <a:pos x="152" y="130"/>
                </a:cxn>
                <a:cxn ang="0">
                  <a:pos x="142" y="142"/>
                </a:cxn>
                <a:cxn ang="0">
                  <a:pos x="130" y="152"/>
                </a:cxn>
                <a:cxn ang="0">
                  <a:pos x="116" y="160"/>
                </a:cxn>
                <a:cxn ang="0">
                  <a:pos x="100" y="166"/>
                </a:cxn>
                <a:cxn ang="0">
                  <a:pos x="82" y="166"/>
                </a:cxn>
                <a:cxn ang="0">
                  <a:pos x="82" y="166"/>
                </a:cxn>
                <a:cxn ang="0">
                  <a:pos x="66" y="166"/>
                </a:cxn>
                <a:cxn ang="0">
                  <a:pos x="50" y="160"/>
                </a:cxn>
                <a:cxn ang="0">
                  <a:pos x="36" y="152"/>
                </a:cxn>
                <a:cxn ang="0">
                  <a:pos x="24" y="142"/>
                </a:cxn>
                <a:cxn ang="0">
                  <a:pos x="14" y="130"/>
                </a:cxn>
                <a:cxn ang="0">
                  <a:pos x="6" y="116"/>
                </a:cxn>
                <a:cxn ang="0">
                  <a:pos x="0" y="100"/>
                </a:cxn>
                <a:cxn ang="0">
                  <a:pos x="0" y="84"/>
                </a:cxn>
                <a:cxn ang="0">
                  <a:pos x="0" y="84"/>
                </a:cxn>
                <a:cxn ang="0">
                  <a:pos x="0" y="66"/>
                </a:cxn>
                <a:cxn ang="0">
                  <a:pos x="6" y="50"/>
                </a:cxn>
                <a:cxn ang="0">
                  <a:pos x="14" y="36"/>
                </a:cxn>
                <a:cxn ang="0">
                  <a:pos x="24" y="24"/>
                </a:cxn>
                <a:cxn ang="0">
                  <a:pos x="36" y="14"/>
                </a:cxn>
                <a:cxn ang="0">
                  <a:pos x="50" y="6"/>
                </a:cxn>
                <a:cxn ang="0">
                  <a:pos x="66" y="2"/>
                </a:cxn>
                <a:cxn ang="0">
                  <a:pos x="82" y="0"/>
                </a:cxn>
                <a:cxn ang="0">
                  <a:pos x="82" y="0"/>
                </a:cxn>
                <a:cxn ang="0">
                  <a:pos x="100" y="2"/>
                </a:cxn>
                <a:cxn ang="0">
                  <a:pos x="116" y="6"/>
                </a:cxn>
                <a:cxn ang="0">
                  <a:pos x="130" y="14"/>
                </a:cxn>
                <a:cxn ang="0">
                  <a:pos x="142" y="24"/>
                </a:cxn>
                <a:cxn ang="0">
                  <a:pos x="152" y="36"/>
                </a:cxn>
                <a:cxn ang="0">
                  <a:pos x="160" y="50"/>
                </a:cxn>
                <a:cxn ang="0">
                  <a:pos x="164" y="66"/>
                </a:cxn>
                <a:cxn ang="0">
                  <a:pos x="166" y="84"/>
                </a:cxn>
                <a:cxn ang="0">
                  <a:pos x="166" y="84"/>
                </a:cxn>
                <a:cxn ang="0">
                  <a:pos x="166" y="84"/>
                </a:cxn>
              </a:cxnLst>
              <a:rect l="0" t="0" r="r" b="b"/>
              <a:pathLst>
                <a:path w="166" h="166">
                  <a:moveTo>
                    <a:pt x="166" y="84"/>
                  </a:moveTo>
                  <a:lnTo>
                    <a:pt x="166" y="84"/>
                  </a:lnTo>
                  <a:lnTo>
                    <a:pt x="164" y="100"/>
                  </a:lnTo>
                  <a:lnTo>
                    <a:pt x="160" y="116"/>
                  </a:lnTo>
                  <a:lnTo>
                    <a:pt x="152" y="130"/>
                  </a:lnTo>
                  <a:lnTo>
                    <a:pt x="142" y="142"/>
                  </a:lnTo>
                  <a:lnTo>
                    <a:pt x="130" y="152"/>
                  </a:lnTo>
                  <a:lnTo>
                    <a:pt x="116" y="160"/>
                  </a:lnTo>
                  <a:lnTo>
                    <a:pt x="100" y="166"/>
                  </a:lnTo>
                  <a:lnTo>
                    <a:pt x="82" y="166"/>
                  </a:lnTo>
                  <a:lnTo>
                    <a:pt x="82" y="166"/>
                  </a:lnTo>
                  <a:lnTo>
                    <a:pt x="66" y="166"/>
                  </a:lnTo>
                  <a:lnTo>
                    <a:pt x="50" y="160"/>
                  </a:lnTo>
                  <a:lnTo>
                    <a:pt x="36" y="152"/>
                  </a:lnTo>
                  <a:lnTo>
                    <a:pt x="24" y="142"/>
                  </a:lnTo>
                  <a:lnTo>
                    <a:pt x="14" y="130"/>
                  </a:lnTo>
                  <a:lnTo>
                    <a:pt x="6" y="116"/>
                  </a:lnTo>
                  <a:lnTo>
                    <a:pt x="0" y="100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100" y="2"/>
                  </a:lnTo>
                  <a:lnTo>
                    <a:pt x="116" y="6"/>
                  </a:lnTo>
                  <a:lnTo>
                    <a:pt x="130" y="14"/>
                  </a:lnTo>
                  <a:lnTo>
                    <a:pt x="142" y="24"/>
                  </a:lnTo>
                  <a:lnTo>
                    <a:pt x="152" y="36"/>
                  </a:lnTo>
                  <a:lnTo>
                    <a:pt x="160" y="50"/>
                  </a:lnTo>
                  <a:lnTo>
                    <a:pt x="164" y="66"/>
                  </a:lnTo>
                  <a:lnTo>
                    <a:pt x="166" y="84"/>
                  </a:lnTo>
                  <a:lnTo>
                    <a:pt x="166" y="84"/>
                  </a:lnTo>
                  <a:lnTo>
                    <a:pt x="166" y="84"/>
                  </a:lnTo>
                  <a:close/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1857356" y="3606519"/>
              <a:ext cx="164009" cy="82578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0" y="144"/>
                </a:cxn>
                <a:cxn ang="0">
                  <a:pos x="0" y="128"/>
                </a:cxn>
                <a:cxn ang="0">
                  <a:pos x="2" y="114"/>
                </a:cxn>
                <a:cxn ang="0">
                  <a:pos x="6" y="102"/>
                </a:cxn>
                <a:cxn ang="0">
                  <a:pos x="10" y="88"/>
                </a:cxn>
                <a:cxn ang="0">
                  <a:pos x="16" y="76"/>
                </a:cxn>
                <a:cxn ang="0">
                  <a:pos x="24" y="64"/>
                </a:cxn>
                <a:cxn ang="0">
                  <a:pos x="32" y="52"/>
                </a:cxn>
                <a:cxn ang="0">
                  <a:pos x="42" y="42"/>
                </a:cxn>
                <a:cxn ang="0">
                  <a:pos x="52" y="34"/>
                </a:cxn>
                <a:cxn ang="0">
                  <a:pos x="62" y="24"/>
                </a:cxn>
                <a:cxn ang="0">
                  <a:pos x="74" y="18"/>
                </a:cxn>
                <a:cxn ang="0">
                  <a:pos x="86" y="12"/>
                </a:cxn>
                <a:cxn ang="0">
                  <a:pos x="100" y="6"/>
                </a:cxn>
                <a:cxn ang="0">
                  <a:pos x="114" y="4"/>
                </a:cxn>
                <a:cxn ang="0">
                  <a:pos x="128" y="2"/>
                </a:cxn>
                <a:cxn ang="0">
                  <a:pos x="142" y="0"/>
                </a:cxn>
                <a:cxn ang="0">
                  <a:pos x="142" y="0"/>
                </a:cxn>
                <a:cxn ang="0">
                  <a:pos x="158" y="2"/>
                </a:cxn>
                <a:cxn ang="0">
                  <a:pos x="172" y="4"/>
                </a:cxn>
                <a:cxn ang="0">
                  <a:pos x="186" y="6"/>
                </a:cxn>
                <a:cxn ang="0">
                  <a:pos x="198" y="12"/>
                </a:cxn>
                <a:cxn ang="0">
                  <a:pos x="210" y="18"/>
                </a:cxn>
                <a:cxn ang="0">
                  <a:pos x="222" y="24"/>
                </a:cxn>
                <a:cxn ang="0">
                  <a:pos x="234" y="34"/>
                </a:cxn>
                <a:cxn ang="0">
                  <a:pos x="244" y="42"/>
                </a:cxn>
                <a:cxn ang="0">
                  <a:pos x="252" y="52"/>
                </a:cxn>
                <a:cxn ang="0">
                  <a:pos x="262" y="64"/>
                </a:cxn>
                <a:cxn ang="0">
                  <a:pos x="268" y="76"/>
                </a:cxn>
                <a:cxn ang="0">
                  <a:pos x="274" y="88"/>
                </a:cxn>
                <a:cxn ang="0">
                  <a:pos x="280" y="102"/>
                </a:cxn>
                <a:cxn ang="0">
                  <a:pos x="282" y="114"/>
                </a:cxn>
                <a:cxn ang="0">
                  <a:pos x="284" y="128"/>
                </a:cxn>
                <a:cxn ang="0">
                  <a:pos x="286" y="144"/>
                </a:cxn>
              </a:cxnLst>
              <a:rect l="0" t="0" r="r" b="b"/>
              <a:pathLst>
                <a:path w="286" h="144">
                  <a:moveTo>
                    <a:pt x="0" y="144"/>
                  </a:moveTo>
                  <a:lnTo>
                    <a:pt x="0" y="144"/>
                  </a:lnTo>
                  <a:lnTo>
                    <a:pt x="0" y="128"/>
                  </a:lnTo>
                  <a:lnTo>
                    <a:pt x="2" y="114"/>
                  </a:lnTo>
                  <a:lnTo>
                    <a:pt x="6" y="102"/>
                  </a:lnTo>
                  <a:lnTo>
                    <a:pt x="10" y="88"/>
                  </a:lnTo>
                  <a:lnTo>
                    <a:pt x="16" y="76"/>
                  </a:lnTo>
                  <a:lnTo>
                    <a:pt x="24" y="64"/>
                  </a:lnTo>
                  <a:lnTo>
                    <a:pt x="32" y="52"/>
                  </a:lnTo>
                  <a:lnTo>
                    <a:pt x="42" y="42"/>
                  </a:lnTo>
                  <a:lnTo>
                    <a:pt x="52" y="34"/>
                  </a:lnTo>
                  <a:lnTo>
                    <a:pt x="62" y="24"/>
                  </a:lnTo>
                  <a:lnTo>
                    <a:pt x="74" y="18"/>
                  </a:lnTo>
                  <a:lnTo>
                    <a:pt x="86" y="12"/>
                  </a:lnTo>
                  <a:lnTo>
                    <a:pt x="100" y="6"/>
                  </a:lnTo>
                  <a:lnTo>
                    <a:pt x="114" y="4"/>
                  </a:lnTo>
                  <a:lnTo>
                    <a:pt x="128" y="2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8" y="2"/>
                  </a:lnTo>
                  <a:lnTo>
                    <a:pt x="172" y="4"/>
                  </a:lnTo>
                  <a:lnTo>
                    <a:pt x="186" y="6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4"/>
                  </a:lnTo>
                  <a:lnTo>
                    <a:pt x="234" y="34"/>
                  </a:lnTo>
                  <a:lnTo>
                    <a:pt x="244" y="42"/>
                  </a:lnTo>
                  <a:lnTo>
                    <a:pt x="252" y="52"/>
                  </a:lnTo>
                  <a:lnTo>
                    <a:pt x="262" y="64"/>
                  </a:lnTo>
                  <a:lnTo>
                    <a:pt x="268" y="76"/>
                  </a:lnTo>
                  <a:lnTo>
                    <a:pt x="274" y="88"/>
                  </a:lnTo>
                  <a:lnTo>
                    <a:pt x="280" y="102"/>
                  </a:lnTo>
                  <a:lnTo>
                    <a:pt x="282" y="114"/>
                  </a:lnTo>
                  <a:lnTo>
                    <a:pt x="284" y="128"/>
                  </a:lnTo>
                  <a:lnTo>
                    <a:pt x="286" y="144"/>
                  </a:lnTo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19" name="그룹 17"/>
          <p:cNvGrpSpPr/>
          <p:nvPr userDrawn="1"/>
        </p:nvGrpSpPr>
        <p:grpSpPr>
          <a:xfrm>
            <a:off x="1795093" y="4941597"/>
            <a:ext cx="150246" cy="159261"/>
            <a:chOff x="1866531" y="4610293"/>
            <a:chExt cx="150246" cy="159261"/>
          </a:xfrm>
        </p:grpSpPr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1866531" y="4633071"/>
              <a:ext cx="150246" cy="136483"/>
            </a:xfrm>
            <a:prstGeom prst="rect">
              <a:avLst/>
            </a:prstGeom>
            <a:noFill/>
            <a:ln w="12700">
              <a:solidFill>
                <a:srgbClr val="FF505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grpSp>
          <p:nvGrpSpPr>
            <p:cNvPr id="21" name="그룹 19"/>
            <p:cNvGrpSpPr/>
            <p:nvPr/>
          </p:nvGrpSpPr>
          <p:grpSpPr>
            <a:xfrm>
              <a:off x="1887176" y="4610293"/>
              <a:ext cx="111825" cy="119119"/>
              <a:chOff x="1887176" y="4610293"/>
              <a:chExt cx="111825" cy="119119"/>
            </a:xfrm>
          </p:grpSpPr>
          <p:sp>
            <p:nvSpPr>
              <p:cNvPr id="22" name="Freeform 14"/>
              <p:cNvSpPr>
                <a:spLocks/>
              </p:cNvSpPr>
              <p:nvPr/>
            </p:nvSpPr>
            <p:spPr bwMode="auto">
              <a:xfrm>
                <a:off x="1910114" y="4676654"/>
                <a:ext cx="74550" cy="52758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6" y="92"/>
                  </a:cxn>
                  <a:cxn ang="0">
                    <a:pos x="130" y="0"/>
                  </a:cxn>
                </a:cxnLst>
                <a:rect l="0" t="0" r="r" b="b"/>
                <a:pathLst>
                  <a:path w="130" h="92">
                    <a:moveTo>
                      <a:pt x="0" y="44"/>
                    </a:moveTo>
                    <a:lnTo>
                      <a:pt x="46" y="92"/>
                    </a:lnTo>
                    <a:lnTo>
                      <a:pt x="130" y="0"/>
                    </a:lnTo>
                  </a:path>
                </a:pathLst>
              </a:custGeom>
              <a:noFill/>
              <a:ln w="12700">
                <a:solidFill>
                  <a:srgbClr val="FF50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 flipV="1">
                <a:off x="1887176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rgbClr val="FF50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4" name="Line 19"/>
              <p:cNvSpPr>
                <a:spLocks noChangeShapeType="1"/>
              </p:cNvSpPr>
              <p:nvPr/>
            </p:nvSpPr>
            <p:spPr bwMode="auto">
              <a:xfrm flipV="1">
                <a:off x="1998427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rgbClr val="FF50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42" name="TextBox 41"/>
          <p:cNvSpPr txBox="1"/>
          <p:nvPr userDrawn="1"/>
        </p:nvSpPr>
        <p:spPr>
          <a:xfrm>
            <a:off x="1142976" y="508795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5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VISION 2023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사내용 -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769" b="28692"/>
          <a:stretch>
            <a:fillRect/>
          </a:stretch>
        </p:blipFill>
        <p:spPr bwMode="auto">
          <a:xfrm>
            <a:off x="7500958" y="5976266"/>
            <a:ext cx="1404000" cy="667444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 userDrawn="1"/>
        </p:nvSpPr>
        <p:spPr>
          <a:xfrm flipH="1">
            <a:off x="0" y="0"/>
            <a:ext cx="2285984" cy="685800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6" name="Freeform 8"/>
          <p:cNvSpPr>
            <a:spLocks/>
          </p:cNvSpPr>
          <p:nvPr userDrawn="1"/>
        </p:nvSpPr>
        <p:spPr bwMode="auto">
          <a:xfrm rot="16200000">
            <a:off x="1895714" y="1033188"/>
            <a:ext cx="1214630" cy="43408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218301" y="905516"/>
            <a:ext cx="1709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사내용 - 속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 userDrawn="1"/>
        </p:nvSpPr>
        <p:spPr>
          <a:xfrm>
            <a:off x="0" y="2643182"/>
            <a:ext cx="9144000" cy="4214818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37" name="Freeform 8"/>
          <p:cNvSpPr>
            <a:spLocks/>
          </p:cNvSpPr>
          <p:nvPr userDrawn="1"/>
        </p:nvSpPr>
        <p:spPr bwMode="auto">
          <a:xfrm>
            <a:off x="5916247" y="2643182"/>
            <a:ext cx="1799025" cy="64294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디자인\오스템임플란트\2017-혁신\fix\200203 _ fix\confidential 배경_대지 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47621"/>
          </a:xfrm>
          <a:prstGeom prst="rect">
            <a:avLst/>
          </a:prstGeom>
          <a:noFill/>
        </p:spPr>
      </p:pic>
      <p:sp>
        <p:nvSpPr>
          <p:cNvPr id="9" name="직사각형 8"/>
          <p:cNvSpPr/>
          <p:nvPr userDrawn="1"/>
        </p:nvSpPr>
        <p:spPr>
          <a:xfrm>
            <a:off x="0" y="0"/>
            <a:ext cx="9144000" cy="57148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pic>
        <p:nvPicPr>
          <p:cNvPr id="4099" name="Picture 3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 l="4728" t="9238" r="7012" b="16857"/>
          <a:stretch>
            <a:fillRect/>
          </a:stretch>
        </p:blipFill>
        <p:spPr bwMode="auto">
          <a:xfrm>
            <a:off x="8181380" y="100468"/>
            <a:ext cx="864000" cy="370285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57402" y="571480"/>
            <a:ext cx="811870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rgbClr val="000F30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6876256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/48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사내용 - 내지(어두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/>
          <a:srcRect t="7970"/>
          <a:stretch>
            <a:fillRect/>
          </a:stretch>
        </p:blipFill>
        <p:spPr bwMode="auto">
          <a:xfrm>
            <a:off x="0" y="571480"/>
            <a:ext cx="9144000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 descr="C:\Users\user\Desktop\혁신\오스템PPT 2\2차 시안\화이트배경 CI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3662" y="44624"/>
            <a:ext cx="984842" cy="504056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57402" y="571480"/>
            <a:ext cx="811870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6" name="슬라이드 번호 개체 틀 3"/>
          <p:cNvSpPr txBox="1">
            <a:spLocks/>
          </p:cNvSpPr>
          <p:nvPr userDrawn="1"/>
        </p:nvSpPr>
        <p:spPr>
          <a:xfrm>
            <a:off x="6876256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/00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사내용 - Q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786182" y="0"/>
            <a:ext cx="5357818" cy="6858000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pic>
        <p:nvPicPr>
          <p:cNvPr id="6146" name="Picture 2" descr="C:\Users\user\Desktop\혁신\오스템PPT 2\2차 시안\남색배경 CI.jpg"/>
          <p:cNvPicPr>
            <a:picLocks noChangeAspect="1" noChangeArrowheads="1"/>
          </p:cNvPicPr>
          <p:nvPr userDrawn="1"/>
        </p:nvPicPr>
        <p:blipFill>
          <a:blip r:embed="rId2" cstate="print"/>
          <a:srcRect l="4761" t="9781" r="5403" b="10155"/>
          <a:stretch>
            <a:fillRect/>
          </a:stretch>
        </p:blipFill>
        <p:spPr bwMode="auto">
          <a:xfrm>
            <a:off x="7380312" y="5949280"/>
            <a:ext cx="1440000" cy="656842"/>
          </a:xfrm>
          <a:prstGeom prst="rect">
            <a:avLst/>
          </a:prstGeom>
          <a:noFill/>
        </p:spPr>
      </p:pic>
      <p:sp>
        <p:nvSpPr>
          <p:cNvPr id="10" name="제목 4"/>
          <p:cNvSpPr txBox="1">
            <a:spLocks/>
          </p:cNvSpPr>
          <p:nvPr userDrawn="1"/>
        </p:nvSpPr>
        <p:spPr bwMode="auto">
          <a:xfrm>
            <a:off x="4786314" y="2214554"/>
            <a:ext cx="1481046" cy="757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05" tIns="40053" rIns="80105" bIns="40053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ctr" defTabSz="911225" eaLnBrk="0">
              <a:tabLst>
                <a:tab pos="85725" algn="l"/>
                <a:tab pos="180975" algn="l"/>
              </a:tabLst>
              <a:defRPr/>
            </a:pPr>
            <a:r>
              <a:rPr lang="en-US" altLang="ko-KR" sz="4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  <a:endParaRPr lang="en-US" altLang="ko-KR" sz="4400" b="1" kern="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11" name="제목 4"/>
          <p:cNvSpPr txBox="1">
            <a:spLocks/>
          </p:cNvSpPr>
          <p:nvPr userDrawn="1"/>
        </p:nvSpPr>
        <p:spPr bwMode="auto">
          <a:xfrm>
            <a:off x="998157" y="2186184"/>
            <a:ext cx="2022540" cy="118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05" tIns="40053" rIns="80105" bIns="40053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ctr" defTabSz="911225" eaLnBrk="0">
              <a:tabLst>
                <a:tab pos="85725" algn="l"/>
                <a:tab pos="180975" algn="l"/>
              </a:tabLst>
              <a:defRPr/>
            </a:pPr>
            <a:r>
              <a:rPr lang="en-US" altLang="ko-KR" sz="7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you.</a:t>
            </a:r>
            <a:endParaRPr lang="en-US" altLang="ko-KR" sz="7200" b="1" kern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12" name="Freeform 8"/>
          <p:cNvSpPr>
            <a:spLocks/>
          </p:cNvSpPr>
          <p:nvPr userDrawn="1"/>
        </p:nvSpPr>
        <p:spPr bwMode="auto">
          <a:xfrm rot="16200000">
            <a:off x="3079686" y="2206671"/>
            <a:ext cx="2198813" cy="78582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13" name="제목 4"/>
          <p:cNvSpPr txBox="1">
            <a:spLocks/>
          </p:cNvSpPr>
          <p:nvPr userDrawn="1"/>
        </p:nvSpPr>
        <p:spPr bwMode="auto">
          <a:xfrm>
            <a:off x="520367" y="1714488"/>
            <a:ext cx="2837187" cy="118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05" tIns="40053" rIns="80105" bIns="40053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ctr" defTabSz="911225" eaLnBrk="0">
              <a:tabLst>
                <a:tab pos="85725" algn="l"/>
                <a:tab pos="180975" algn="l"/>
              </a:tabLst>
              <a:defRPr/>
            </a:pPr>
            <a:r>
              <a:rPr lang="en-US" altLang="ko-KR" sz="7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Thank</a:t>
            </a:r>
            <a:endParaRPr lang="en-US" altLang="ko-KR" sz="7200" b="1" kern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사내용 -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 userDrawn="1"/>
        </p:nvSpPr>
        <p:spPr>
          <a:xfrm>
            <a:off x="0" y="2786058"/>
            <a:ext cx="9144000" cy="40719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170" name="Picture 2" descr="C:\Users\user\Desktop\혁신\오스템PPT 2\2차 시안\회색배경 CI.jpg"/>
          <p:cNvPicPr>
            <a:picLocks noChangeAspect="1" noChangeArrowheads="1"/>
          </p:cNvPicPr>
          <p:nvPr userDrawn="1"/>
        </p:nvPicPr>
        <p:blipFill>
          <a:blip r:embed="rId2" cstate="print"/>
          <a:srcRect l="5719" t="14913" r="7597" b="11182"/>
          <a:stretch>
            <a:fillRect/>
          </a:stretch>
        </p:blipFill>
        <p:spPr bwMode="auto">
          <a:xfrm>
            <a:off x="7380312" y="5949280"/>
            <a:ext cx="1440160" cy="628434"/>
          </a:xfrm>
          <a:prstGeom prst="rect">
            <a:avLst/>
          </a:prstGeom>
          <a:noFill/>
        </p:spPr>
      </p:pic>
      <p:sp>
        <p:nvSpPr>
          <p:cNvPr id="33" name="직사각형 32"/>
          <p:cNvSpPr/>
          <p:nvPr userDrawn="1"/>
        </p:nvSpPr>
        <p:spPr>
          <a:xfrm>
            <a:off x="0" y="0"/>
            <a:ext cx="9144000" cy="2857496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34" name="Freeform 8"/>
          <p:cNvSpPr>
            <a:spLocks/>
          </p:cNvSpPr>
          <p:nvPr userDrawn="1"/>
        </p:nvSpPr>
        <p:spPr bwMode="auto">
          <a:xfrm>
            <a:off x="1253241" y="2857496"/>
            <a:ext cx="1214630" cy="43408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grpSp>
        <p:nvGrpSpPr>
          <p:cNvPr id="4" name="그룹 14"/>
          <p:cNvGrpSpPr/>
          <p:nvPr userDrawn="1"/>
        </p:nvGrpSpPr>
        <p:grpSpPr>
          <a:xfrm>
            <a:off x="1797387" y="4071150"/>
            <a:ext cx="147953" cy="147953"/>
            <a:chOff x="1868825" y="3903571"/>
            <a:chExt cx="147953" cy="147953"/>
          </a:xfrm>
        </p:grpSpPr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868825" y="3903571"/>
              <a:ext cx="147952" cy="1479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8"/>
                </a:cxn>
                <a:cxn ang="0">
                  <a:pos x="258" y="258"/>
                </a:cxn>
                <a:cxn ang="0">
                  <a:pos x="258" y="122"/>
                </a:cxn>
                <a:cxn ang="0">
                  <a:pos x="13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8" h="258">
                  <a:moveTo>
                    <a:pt x="0" y="0"/>
                  </a:moveTo>
                  <a:lnTo>
                    <a:pt x="0" y="258"/>
                  </a:lnTo>
                  <a:lnTo>
                    <a:pt x="258" y="258"/>
                  </a:lnTo>
                  <a:lnTo>
                    <a:pt x="258" y="122"/>
                  </a:lnTo>
                  <a:lnTo>
                    <a:pt x="13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1946816" y="3903571"/>
              <a:ext cx="69962" cy="69962"/>
            </a:xfrm>
            <a:custGeom>
              <a:avLst/>
              <a:gdLst/>
              <a:ahLst/>
              <a:cxnLst>
                <a:cxn ang="0">
                  <a:pos x="122" y="122"/>
                </a:cxn>
                <a:cxn ang="0">
                  <a:pos x="0" y="0"/>
                </a:cxn>
                <a:cxn ang="0">
                  <a:pos x="0" y="122"/>
                </a:cxn>
                <a:cxn ang="0">
                  <a:pos x="122" y="122"/>
                </a:cxn>
                <a:cxn ang="0">
                  <a:pos x="122" y="122"/>
                </a:cxn>
              </a:cxnLst>
              <a:rect l="0" t="0" r="r" b="b"/>
              <a:pathLst>
                <a:path w="122" h="122">
                  <a:moveTo>
                    <a:pt x="122" y="122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122" y="122"/>
                  </a:lnTo>
                  <a:lnTo>
                    <a:pt x="122" y="12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5" name="그룹 15"/>
          <p:cNvGrpSpPr/>
          <p:nvPr userDrawn="1"/>
        </p:nvGrpSpPr>
        <p:grpSpPr>
          <a:xfrm>
            <a:off x="1793946" y="4501213"/>
            <a:ext cx="157128" cy="158275"/>
            <a:chOff x="1865384" y="4280908"/>
            <a:chExt cx="157128" cy="158275"/>
          </a:xfrm>
        </p:grpSpPr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1865384" y="4280908"/>
              <a:ext cx="157128" cy="158275"/>
            </a:xfrm>
            <a:custGeom>
              <a:avLst/>
              <a:gdLst/>
              <a:ahLst/>
              <a:cxnLst>
                <a:cxn ang="0">
                  <a:pos x="274" y="138"/>
                </a:cxn>
                <a:cxn ang="0">
                  <a:pos x="272" y="166"/>
                </a:cxn>
                <a:cxn ang="0">
                  <a:pos x="264" y="192"/>
                </a:cxn>
                <a:cxn ang="0">
                  <a:pos x="250" y="214"/>
                </a:cxn>
                <a:cxn ang="0">
                  <a:pos x="234" y="234"/>
                </a:cxn>
                <a:cxn ang="0">
                  <a:pos x="214" y="252"/>
                </a:cxn>
                <a:cxn ang="0">
                  <a:pos x="190" y="264"/>
                </a:cxn>
                <a:cxn ang="0">
                  <a:pos x="164" y="272"/>
                </a:cxn>
                <a:cxn ang="0">
                  <a:pos x="136" y="276"/>
                </a:cxn>
                <a:cxn ang="0">
                  <a:pos x="122" y="274"/>
                </a:cxn>
                <a:cxn ang="0">
                  <a:pos x="96" y="268"/>
                </a:cxn>
                <a:cxn ang="0">
                  <a:pos x="72" y="258"/>
                </a:cxn>
                <a:cxn ang="0">
                  <a:pos x="50" y="244"/>
                </a:cxn>
                <a:cxn ang="0">
                  <a:pos x="30" y="226"/>
                </a:cxn>
                <a:cxn ang="0">
                  <a:pos x="16" y="204"/>
                </a:cxn>
                <a:cxn ang="0">
                  <a:pos x="6" y="178"/>
                </a:cxn>
                <a:cxn ang="0">
                  <a:pos x="0" y="152"/>
                </a:cxn>
                <a:cxn ang="0">
                  <a:pos x="0" y="138"/>
                </a:cxn>
                <a:cxn ang="0">
                  <a:pos x="2" y="110"/>
                </a:cxn>
                <a:cxn ang="0">
                  <a:pos x="10" y="84"/>
                </a:cxn>
                <a:cxn ang="0">
                  <a:pos x="22" y="60"/>
                </a:cxn>
                <a:cxn ang="0">
                  <a:pos x="40" y="40"/>
                </a:cxn>
                <a:cxn ang="0">
                  <a:pos x="60" y="24"/>
                </a:cxn>
                <a:cxn ang="0">
                  <a:pos x="84" y="12"/>
                </a:cxn>
                <a:cxn ang="0">
                  <a:pos x="110" y="4"/>
                </a:cxn>
                <a:cxn ang="0">
                  <a:pos x="136" y="0"/>
                </a:cxn>
                <a:cxn ang="0">
                  <a:pos x="150" y="2"/>
                </a:cxn>
                <a:cxn ang="0">
                  <a:pos x="178" y="6"/>
                </a:cxn>
                <a:cxn ang="0">
                  <a:pos x="202" y="16"/>
                </a:cxn>
                <a:cxn ang="0">
                  <a:pos x="224" y="32"/>
                </a:cxn>
                <a:cxn ang="0">
                  <a:pos x="242" y="50"/>
                </a:cxn>
                <a:cxn ang="0">
                  <a:pos x="258" y="72"/>
                </a:cxn>
                <a:cxn ang="0">
                  <a:pos x="268" y="96"/>
                </a:cxn>
                <a:cxn ang="0">
                  <a:pos x="274" y="124"/>
                </a:cxn>
                <a:cxn ang="0">
                  <a:pos x="274" y="138"/>
                </a:cxn>
              </a:cxnLst>
              <a:rect l="0" t="0" r="r" b="b"/>
              <a:pathLst>
                <a:path w="274" h="276">
                  <a:moveTo>
                    <a:pt x="274" y="138"/>
                  </a:moveTo>
                  <a:lnTo>
                    <a:pt x="274" y="138"/>
                  </a:lnTo>
                  <a:lnTo>
                    <a:pt x="274" y="152"/>
                  </a:lnTo>
                  <a:lnTo>
                    <a:pt x="272" y="166"/>
                  </a:lnTo>
                  <a:lnTo>
                    <a:pt x="268" y="178"/>
                  </a:lnTo>
                  <a:lnTo>
                    <a:pt x="264" y="192"/>
                  </a:lnTo>
                  <a:lnTo>
                    <a:pt x="258" y="204"/>
                  </a:lnTo>
                  <a:lnTo>
                    <a:pt x="250" y="214"/>
                  </a:lnTo>
                  <a:lnTo>
                    <a:pt x="242" y="226"/>
                  </a:lnTo>
                  <a:lnTo>
                    <a:pt x="234" y="234"/>
                  </a:lnTo>
                  <a:lnTo>
                    <a:pt x="224" y="244"/>
                  </a:lnTo>
                  <a:lnTo>
                    <a:pt x="214" y="252"/>
                  </a:lnTo>
                  <a:lnTo>
                    <a:pt x="202" y="258"/>
                  </a:lnTo>
                  <a:lnTo>
                    <a:pt x="190" y="264"/>
                  </a:lnTo>
                  <a:lnTo>
                    <a:pt x="178" y="268"/>
                  </a:lnTo>
                  <a:lnTo>
                    <a:pt x="164" y="272"/>
                  </a:lnTo>
                  <a:lnTo>
                    <a:pt x="150" y="274"/>
                  </a:lnTo>
                  <a:lnTo>
                    <a:pt x="136" y="276"/>
                  </a:lnTo>
                  <a:lnTo>
                    <a:pt x="136" y="276"/>
                  </a:lnTo>
                  <a:lnTo>
                    <a:pt x="122" y="274"/>
                  </a:lnTo>
                  <a:lnTo>
                    <a:pt x="110" y="272"/>
                  </a:lnTo>
                  <a:lnTo>
                    <a:pt x="96" y="268"/>
                  </a:lnTo>
                  <a:lnTo>
                    <a:pt x="84" y="264"/>
                  </a:lnTo>
                  <a:lnTo>
                    <a:pt x="72" y="258"/>
                  </a:lnTo>
                  <a:lnTo>
                    <a:pt x="60" y="252"/>
                  </a:lnTo>
                  <a:lnTo>
                    <a:pt x="50" y="244"/>
                  </a:lnTo>
                  <a:lnTo>
                    <a:pt x="40" y="234"/>
                  </a:lnTo>
                  <a:lnTo>
                    <a:pt x="30" y="226"/>
                  </a:lnTo>
                  <a:lnTo>
                    <a:pt x="22" y="214"/>
                  </a:lnTo>
                  <a:lnTo>
                    <a:pt x="16" y="204"/>
                  </a:lnTo>
                  <a:lnTo>
                    <a:pt x="10" y="192"/>
                  </a:lnTo>
                  <a:lnTo>
                    <a:pt x="6" y="178"/>
                  </a:lnTo>
                  <a:lnTo>
                    <a:pt x="2" y="166"/>
                  </a:lnTo>
                  <a:lnTo>
                    <a:pt x="0" y="15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0" y="124"/>
                  </a:lnTo>
                  <a:lnTo>
                    <a:pt x="2" y="110"/>
                  </a:lnTo>
                  <a:lnTo>
                    <a:pt x="6" y="96"/>
                  </a:lnTo>
                  <a:lnTo>
                    <a:pt x="10" y="84"/>
                  </a:lnTo>
                  <a:lnTo>
                    <a:pt x="16" y="72"/>
                  </a:lnTo>
                  <a:lnTo>
                    <a:pt x="22" y="60"/>
                  </a:lnTo>
                  <a:lnTo>
                    <a:pt x="30" y="50"/>
                  </a:lnTo>
                  <a:lnTo>
                    <a:pt x="40" y="40"/>
                  </a:lnTo>
                  <a:lnTo>
                    <a:pt x="50" y="32"/>
                  </a:lnTo>
                  <a:lnTo>
                    <a:pt x="60" y="24"/>
                  </a:lnTo>
                  <a:lnTo>
                    <a:pt x="72" y="16"/>
                  </a:lnTo>
                  <a:lnTo>
                    <a:pt x="84" y="12"/>
                  </a:lnTo>
                  <a:lnTo>
                    <a:pt x="96" y="6"/>
                  </a:lnTo>
                  <a:lnTo>
                    <a:pt x="110" y="4"/>
                  </a:lnTo>
                  <a:lnTo>
                    <a:pt x="122" y="2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4" y="4"/>
                  </a:lnTo>
                  <a:lnTo>
                    <a:pt x="178" y="6"/>
                  </a:lnTo>
                  <a:lnTo>
                    <a:pt x="190" y="12"/>
                  </a:lnTo>
                  <a:lnTo>
                    <a:pt x="202" y="16"/>
                  </a:lnTo>
                  <a:lnTo>
                    <a:pt x="214" y="24"/>
                  </a:lnTo>
                  <a:lnTo>
                    <a:pt x="224" y="32"/>
                  </a:lnTo>
                  <a:lnTo>
                    <a:pt x="234" y="40"/>
                  </a:lnTo>
                  <a:lnTo>
                    <a:pt x="242" y="50"/>
                  </a:lnTo>
                  <a:lnTo>
                    <a:pt x="250" y="60"/>
                  </a:lnTo>
                  <a:lnTo>
                    <a:pt x="258" y="72"/>
                  </a:lnTo>
                  <a:lnTo>
                    <a:pt x="264" y="84"/>
                  </a:lnTo>
                  <a:lnTo>
                    <a:pt x="268" y="96"/>
                  </a:lnTo>
                  <a:lnTo>
                    <a:pt x="272" y="110"/>
                  </a:lnTo>
                  <a:lnTo>
                    <a:pt x="274" y="124"/>
                  </a:lnTo>
                  <a:lnTo>
                    <a:pt x="274" y="138"/>
                  </a:lnTo>
                  <a:lnTo>
                    <a:pt x="274" y="138"/>
                  </a:lnTo>
                  <a:lnTo>
                    <a:pt x="274" y="138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1943375" y="4323344"/>
              <a:ext cx="44730" cy="412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"/>
                </a:cxn>
                <a:cxn ang="0">
                  <a:pos x="78" y="72"/>
                </a:cxn>
              </a:cxnLst>
              <a:rect l="0" t="0" r="r" b="b"/>
              <a:pathLst>
                <a:path w="78" h="72">
                  <a:moveTo>
                    <a:pt x="0" y="0"/>
                  </a:moveTo>
                  <a:lnTo>
                    <a:pt x="0" y="72"/>
                  </a:lnTo>
                  <a:lnTo>
                    <a:pt x="78" y="7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6" name="그룹 16"/>
          <p:cNvGrpSpPr/>
          <p:nvPr userDrawn="1"/>
        </p:nvGrpSpPr>
        <p:grpSpPr>
          <a:xfrm>
            <a:off x="1785918" y="3611268"/>
            <a:ext cx="164009" cy="177772"/>
            <a:chOff x="1857356" y="3511325"/>
            <a:chExt cx="164009" cy="177772"/>
          </a:xfrm>
        </p:grpSpPr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1891763" y="3511325"/>
              <a:ext cx="95194" cy="95194"/>
            </a:xfrm>
            <a:custGeom>
              <a:avLst/>
              <a:gdLst/>
              <a:ahLst/>
              <a:cxnLst>
                <a:cxn ang="0">
                  <a:pos x="166" y="84"/>
                </a:cxn>
                <a:cxn ang="0">
                  <a:pos x="166" y="84"/>
                </a:cxn>
                <a:cxn ang="0">
                  <a:pos x="164" y="100"/>
                </a:cxn>
                <a:cxn ang="0">
                  <a:pos x="160" y="116"/>
                </a:cxn>
                <a:cxn ang="0">
                  <a:pos x="152" y="130"/>
                </a:cxn>
                <a:cxn ang="0">
                  <a:pos x="142" y="142"/>
                </a:cxn>
                <a:cxn ang="0">
                  <a:pos x="130" y="152"/>
                </a:cxn>
                <a:cxn ang="0">
                  <a:pos x="116" y="160"/>
                </a:cxn>
                <a:cxn ang="0">
                  <a:pos x="100" y="166"/>
                </a:cxn>
                <a:cxn ang="0">
                  <a:pos x="82" y="166"/>
                </a:cxn>
                <a:cxn ang="0">
                  <a:pos x="82" y="166"/>
                </a:cxn>
                <a:cxn ang="0">
                  <a:pos x="66" y="166"/>
                </a:cxn>
                <a:cxn ang="0">
                  <a:pos x="50" y="160"/>
                </a:cxn>
                <a:cxn ang="0">
                  <a:pos x="36" y="152"/>
                </a:cxn>
                <a:cxn ang="0">
                  <a:pos x="24" y="142"/>
                </a:cxn>
                <a:cxn ang="0">
                  <a:pos x="14" y="130"/>
                </a:cxn>
                <a:cxn ang="0">
                  <a:pos x="6" y="116"/>
                </a:cxn>
                <a:cxn ang="0">
                  <a:pos x="0" y="100"/>
                </a:cxn>
                <a:cxn ang="0">
                  <a:pos x="0" y="84"/>
                </a:cxn>
                <a:cxn ang="0">
                  <a:pos x="0" y="84"/>
                </a:cxn>
                <a:cxn ang="0">
                  <a:pos x="0" y="66"/>
                </a:cxn>
                <a:cxn ang="0">
                  <a:pos x="6" y="50"/>
                </a:cxn>
                <a:cxn ang="0">
                  <a:pos x="14" y="36"/>
                </a:cxn>
                <a:cxn ang="0">
                  <a:pos x="24" y="24"/>
                </a:cxn>
                <a:cxn ang="0">
                  <a:pos x="36" y="14"/>
                </a:cxn>
                <a:cxn ang="0">
                  <a:pos x="50" y="6"/>
                </a:cxn>
                <a:cxn ang="0">
                  <a:pos x="66" y="2"/>
                </a:cxn>
                <a:cxn ang="0">
                  <a:pos x="82" y="0"/>
                </a:cxn>
                <a:cxn ang="0">
                  <a:pos x="82" y="0"/>
                </a:cxn>
                <a:cxn ang="0">
                  <a:pos x="100" y="2"/>
                </a:cxn>
                <a:cxn ang="0">
                  <a:pos x="116" y="6"/>
                </a:cxn>
                <a:cxn ang="0">
                  <a:pos x="130" y="14"/>
                </a:cxn>
                <a:cxn ang="0">
                  <a:pos x="142" y="24"/>
                </a:cxn>
                <a:cxn ang="0">
                  <a:pos x="152" y="36"/>
                </a:cxn>
                <a:cxn ang="0">
                  <a:pos x="160" y="50"/>
                </a:cxn>
                <a:cxn ang="0">
                  <a:pos x="164" y="66"/>
                </a:cxn>
                <a:cxn ang="0">
                  <a:pos x="166" y="84"/>
                </a:cxn>
                <a:cxn ang="0">
                  <a:pos x="166" y="84"/>
                </a:cxn>
                <a:cxn ang="0">
                  <a:pos x="166" y="84"/>
                </a:cxn>
              </a:cxnLst>
              <a:rect l="0" t="0" r="r" b="b"/>
              <a:pathLst>
                <a:path w="166" h="166">
                  <a:moveTo>
                    <a:pt x="166" y="84"/>
                  </a:moveTo>
                  <a:lnTo>
                    <a:pt x="166" y="84"/>
                  </a:lnTo>
                  <a:lnTo>
                    <a:pt x="164" y="100"/>
                  </a:lnTo>
                  <a:lnTo>
                    <a:pt x="160" y="116"/>
                  </a:lnTo>
                  <a:lnTo>
                    <a:pt x="152" y="130"/>
                  </a:lnTo>
                  <a:lnTo>
                    <a:pt x="142" y="142"/>
                  </a:lnTo>
                  <a:lnTo>
                    <a:pt x="130" y="152"/>
                  </a:lnTo>
                  <a:lnTo>
                    <a:pt x="116" y="160"/>
                  </a:lnTo>
                  <a:lnTo>
                    <a:pt x="100" y="166"/>
                  </a:lnTo>
                  <a:lnTo>
                    <a:pt x="82" y="166"/>
                  </a:lnTo>
                  <a:lnTo>
                    <a:pt x="82" y="166"/>
                  </a:lnTo>
                  <a:lnTo>
                    <a:pt x="66" y="166"/>
                  </a:lnTo>
                  <a:lnTo>
                    <a:pt x="50" y="160"/>
                  </a:lnTo>
                  <a:lnTo>
                    <a:pt x="36" y="152"/>
                  </a:lnTo>
                  <a:lnTo>
                    <a:pt x="24" y="142"/>
                  </a:lnTo>
                  <a:lnTo>
                    <a:pt x="14" y="130"/>
                  </a:lnTo>
                  <a:lnTo>
                    <a:pt x="6" y="116"/>
                  </a:lnTo>
                  <a:lnTo>
                    <a:pt x="0" y="100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100" y="2"/>
                  </a:lnTo>
                  <a:lnTo>
                    <a:pt x="116" y="6"/>
                  </a:lnTo>
                  <a:lnTo>
                    <a:pt x="130" y="14"/>
                  </a:lnTo>
                  <a:lnTo>
                    <a:pt x="142" y="24"/>
                  </a:lnTo>
                  <a:lnTo>
                    <a:pt x="152" y="36"/>
                  </a:lnTo>
                  <a:lnTo>
                    <a:pt x="160" y="50"/>
                  </a:lnTo>
                  <a:lnTo>
                    <a:pt x="164" y="66"/>
                  </a:lnTo>
                  <a:lnTo>
                    <a:pt x="166" y="84"/>
                  </a:lnTo>
                  <a:lnTo>
                    <a:pt x="166" y="84"/>
                  </a:lnTo>
                  <a:lnTo>
                    <a:pt x="166" y="84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1857356" y="3606519"/>
              <a:ext cx="164009" cy="82578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0" y="144"/>
                </a:cxn>
                <a:cxn ang="0">
                  <a:pos x="0" y="128"/>
                </a:cxn>
                <a:cxn ang="0">
                  <a:pos x="2" y="114"/>
                </a:cxn>
                <a:cxn ang="0">
                  <a:pos x="6" y="102"/>
                </a:cxn>
                <a:cxn ang="0">
                  <a:pos x="10" y="88"/>
                </a:cxn>
                <a:cxn ang="0">
                  <a:pos x="16" y="76"/>
                </a:cxn>
                <a:cxn ang="0">
                  <a:pos x="24" y="64"/>
                </a:cxn>
                <a:cxn ang="0">
                  <a:pos x="32" y="52"/>
                </a:cxn>
                <a:cxn ang="0">
                  <a:pos x="42" y="42"/>
                </a:cxn>
                <a:cxn ang="0">
                  <a:pos x="52" y="34"/>
                </a:cxn>
                <a:cxn ang="0">
                  <a:pos x="62" y="24"/>
                </a:cxn>
                <a:cxn ang="0">
                  <a:pos x="74" y="18"/>
                </a:cxn>
                <a:cxn ang="0">
                  <a:pos x="86" y="12"/>
                </a:cxn>
                <a:cxn ang="0">
                  <a:pos x="100" y="6"/>
                </a:cxn>
                <a:cxn ang="0">
                  <a:pos x="114" y="4"/>
                </a:cxn>
                <a:cxn ang="0">
                  <a:pos x="128" y="2"/>
                </a:cxn>
                <a:cxn ang="0">
                  <a:pos x="142" y="0"/>
                </a:cxn>
                <a:cxn ang="0">
                  <a:pos x="142" y="0"/>
                </a:cxn>
                <a:cxn ang="0">
                  <a:pos x="158" y="2"/>
                </a:cxn>
                <a:cxn ang="0">
                  <a:pos x="172" y="4"/>
                </a:cxn>
                <a:cxn ang="0">
                  <a:pos x="186" y="6"/>
                </a:cxn>
                <a:cxn ang="0">
                  <a:pos x="198" y="12"/>
                </a:cxn>
                <a:cxn ang="0">
                  <a:pos x="210" y="18"/>
                </a:cxn>
                <a:cxn ang="0">
                  <a:pos x="222" y="24"/>
                </a:cxn>
                <a:cxn ang="0">
                  <a:pos x="234" y="34"/>
                </a:cxn>
                <a:cxn ang="0">
                  <a:pos x="244" y="42"/>
                </a:cxn>
                <a:cxn ang="0">
                  <a:pos x="252" y="52"/>
                </a:cxn>
                <a:cxn ang="0">
                  <a:pos x="262" y="64"/>
                </a:cxn>
                <a:cxn ang="0">
                  <a:pos x="268" y="76"/>
                </a:cxn>
                <a:cxn ang="0">
                  <a:pos x="274" y="88"/>
                </a:cxn>
                <a:cxn ang="0">
                  <a:pos x="280" y="102"/>
                </a:cxn>
                <a:cxn ang="0">
                  <a:pos x="282" y="114"/>
                </a:cxn>
                <a:cxn ang="0">
                  <a:pos x="284" y="128"/>
                </a:cxn>
                <a:cxn ang="0">
                  <a:pos x="286" y="144"/>
                </a:cxn>
              </a:cxnLst>
              <a:rect l="0" t="0" r="r" b="b"/>
              <a:pathLst>
                <a:path w="286" h="144">
                  <a:moveTo>
                    <a:pt x="0" y="144"/>
                  </a:moveTo>
                  <a:lnTo>
                    <a:pt x="0" y="144"/>
                  </a:lnTo>
                  <a:lnTo>
                    <a:pt x="0" y="128"/>
                  </a:lnTo>
                  <a:lnTo>
                    <a:pt x="2" y="114"/>
                  </a:lnTo>
                  <a:lnTo>
                    <a:pt x="6" y="102"/>
                  </a:lnTo>
                  <a:lnTo>
                    <a:pt x="10" y="88"/>
                  </a:lnTo>
                  <a:lnTo>
                    <a:pt x="16" y="76"/>
                  </a:lnTo>
                  <a:lnTo>
                    <a:pt x="24" y="64"/>
                  </a:lnTo>
                  <a:lnTo>
                    <a:pt x="32" y="52"/>
                  </a:lnTo>
                  <a:lnTo>
                    <a:pt x="42" y="42"/>
                  </a:lnTo>
                  <a:lnTo>
                    <a:pt x="52" y="34"/>
                  </a:lnTo>
                  <a:lnTo>
                    <a:pt x="62" y="24"/>
                  </a:lnTo>
                  <a:lnTo>
                    <a:pt x="74" y="18"/>
                  </a:lnTo>
                  <a:lnTo>
                    <a:pt x="86" y="12"/>
                  </a:lnTo>
                  <a:lnTo>
                    <a:pt x="100" y="6"/>
                  </a:lnTo>
                  <a:lnTo>
                    <a:pt x="114" y="4"/>
                  </a:lnTo>
                  <a:lnTo>
                    <a:pt x="128" y="2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8" y="2"/>
                  </a:lnTo>
                  <a:lnTo>
                    <a:pt x="172" y="4"/>
                  </a:lnTo>
                  <a:lnTo>
                    <a:pt x="186" y="6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4"/>
                  </a:lnTo>
                  <a:lnTo>
                    <a:pt x="234" y="34"/>
                  </a:lnTo>
                  <a:lnTo>
                    <a:pt x="244" y="42"/>
                  </a:lnTo>
                  <a:lnTo>
                    <a:pt x="252" y="52"/>
                  </a:lnTo>
                  <a:lnTo>
                    <a:pt x="262" y="64"/>
                  </a:lnTo>
                  <a:lnTo>
                    <a:pt x="268" y="76"/>
                  </a:lnTo>
                  <a:lnTo>
                    <a:pt x="274" y="88"/>
                  </a:lnTo>
                  <a:lnTo>
                    <a:pt x="280" y="102"/>
                  </a:lnTo>
                  <a:lnTo>
                    <a:pt x="282" y="114"/>
                  </a:lnTo>
                  <a:lnTo>
                    <a:pt x="284" y="128"/>
                  </a:lnTo>
                  <a:lnTo>
                    <a:pt x="286" y="14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10" name="그룹 17"/>
          <p:cNvGrpSpPr/>
          <p:nvPr userDrawn="1"/>
        </p:nvGrpSpPr>
        <p:grpSpPr>
          <a:xfrm>
            <a:off x="1795093" y="4941597"/>
            <a:ext cx="150246" cy="159261"/>
            <a:chOff x="1866531" y="4610293"/>
            <a:chExt cx="150246" cy="159261"/>
          </a:xfrm>
        </p:grpSpPr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1866531" y="4633071"/>
              <a:ext cx="150246" cy="1364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grpSp>
          <p:nvGrpSpPr>
            <p:cNvPr id="13" name="그룹 19"/>
            <p:cNvGrpSpPr/>
            <p:nvPr/>
          </p:nvGrpSpPr>
          <p:grpSpPr>
            <a:xfrm>
              <a:off x="1887176" y="4610293"/>
              <a:ext cx="111825" cy="119119"/>
              <a:chOff x="1887176" y="4610293"/>
              <a:chExt cx="111825" cy="119119"/>
            </a:xfrm>
          </p:grpSpPr>
          <p:sp>
            <p:nvSpPr>
              <p:cNvPr id="22" name="Freeform 14"/>
              <p:cNvSpPr>
                <a:spLocks/>
              </p:cNvSpPr>
              <p:nvPr/>
            </p:nvSpPr>
            <p:spPr bwMode="auto">
              <a:xfrm>
                <a:off x="1910114" y="4676654"/>
                <a:ext cx="74550" cy="52758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6" y="92"/>
                  </a:cxn>
                  <a:cxn ang="0">
                    <a:pos x="130" y="0"/>
                  </a:cxn>
                </a:cxnLst>
                <a:rect l="0" t="0" r="r" b="b"/>
                <a:pathLst>
                  <a:path w="130" h="92">
                    <a:moveTo>
                      <a:pt x="0" y="44"/>
                    </a:moveTo>
                    <a:lnTo>
                      <a:pt x="46" y="92"/>
                    </a:lnTo>
                    <a:lnTo>
                      <a:pt x="13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 flipV="1">
                <a:off x="1887176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4" name="Line 19"/>
              <p:cNvSpPr>
                <a:spLocks noChangeShapeType="1"/>
              </p:cNvSpPr>
              <p:nvPr/>
            </p:nvSpPr>
            <p:spPr bwMode="auto">
              <a:xfrm flipV="1">
                <a:off x="1998427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42" name="TextBox 41"/>
          <p:cNvSpPr txBox="1"/>
          <p:nvPr userDrawn="1"/>
        </p:nvSpPr>
        <p:spPr>
          <a:xfrm>
            <a:off x="1142976" y="508795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5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VISION 2023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사내용 -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 userDrawn="1"/>
        </p:nvSpPr>
        <p:spPr>
          <a:xfrm flipH="1">
            <a:off x="0" y="0"/>
            <a:ext cx="2285984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ym typeface="Calibri"/>
            </a:endParaRPr>
          </a:p>
        </p:txBody>
      </p:sp>
      <p:sp>
        <p:nvSpPr>
          <p:cNvPr id="25" name="Freeform 8"/>
          <p:cNvSpPr>
            <a:spLocks/>
          </p:cNvSpPr>
          <p:nvPr userDrawn="1"/>
        </p:nvSpPr>
        <p:spPr bwMode="auto">
          <a:xfrm rot="16200000">
            <a:off x="1895714" y="1033188"/>
            <a:ext cx="1214630" cy="43408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ym typeface="Calibri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218301" y="905516"/>
            <a:ext cx="1709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Picture 2" descr="C:\Users\user\Desktop\작업_디자인\CI\osstem CI\osstem CI_3x3-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769" b="28692"/>
          <a:stretch>
            <a:fillRect/>
          </a:stretch>
        </p:blipFill>
        <p:spPr bwMode="auto">
          <a:xfrm>
            <a:off x="7500958" y="5976266"/>
            <a:ext cx="1404000" cy="667444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사내용 - 속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2643182"/>
            <a:ext cx="9144000" cy="42148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Freeform 8"/>
          <p:cNvSpPr>
            <a:spLocks/>
          </p:cNvSpPr>
          <p:nvPr userDrawn="1"/>
        </p:nvSpPr>
        <p:spPr bwMode="auto">
          <a:xfrm>
            <a:off x="5916247" y="2643182"/>
            <a:ext cx="1799025" cy="64294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사내용 - 내지(밝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F:\디자인\오스템임플란트\2017-혁신\fix\200203 _ fix\confidential 배경_대지 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47621"/>
          </a:xfrm>
          <a:prstGeom prst="rect">
            <a:avLst/>
          </a:prstGeom>
          <a:noFill/>
        </p:spPr>
      </p:pic>
      <p:sp>
        <p:nvSpPr>
          <p:cNvPr id="9" name="직사각형 8"/>
          <p:cNvSpPr/>
          <p:nvPr userDrawn="1"/>
        </p:nvSpPr>
        <p:spPr>
          <a:xfrm>
            <a:off x="0" y="0"/>
            <a:ext cx="9144000" cy="57148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pic>
        <p:nvPicPr>
          <p:cNvPr id="10" name="Picture 2" descr="C:\Users\user\Desktop\혁신\오스템PPT 2\2차 시안\회색배경 CI.jpg"/>
          <p:cNvPicPr>
            <a:picLocks noChangeAspect="1" noChangeArrowheads="1"/>
          </p:cNvPicPr>
          <p:nvPr userDrawn="1"/>
        </p:nvPicPr>
        <p:blipFill>
          <a:blip r:embed="rId3" cstate="print"/>
          <a:srcRect l="5719" t="14913" r="7597" b="11182"/>
          <a:stretch>
            <a:fillRect/>
          </a:stretch>
        </p:blipFill>
        <p:spPr bwMode="auto">
          <a:xfrm>
            <a:off x="8172400" y="116632"/>
            <a:ext cx="825091" cy="360040"/>
          </a:xfrm>
          <a:prstGeom prst="rect">
            <a:avLst/>
          </a:prstGeom>
          <a:noFill/>
        </p:spPr>
      </p:pic>
      <p:sp>
        <p:nvSpPr>
          <p:cNvPr id="11" name="Freeform 8"/>
          <p:cNvSpPr>
            <a:spLocks/>
          </p:cNvSpPr>
          <p:nvPr userDrawn="1"/>
        </p:nvSpPr>
        <p:spPr bwMode="auto">
          <a:xfrm>
            <a:off x="257402" y="571480"/>
            <a:ext cx="811870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>
              <a:lumMod val="75000"/>
            </a:schemeClr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" name="슬라이드 번호 개체 틀 3"/>
          <p:cNvSpPr txBox="1">
            <a:spLocks/>
          </p:cNvSpPr>
          <p:nvPr userDrawn="1"/>
        </p:nvSpPr>
        <p:spPr>
          <a:xfrm>
            <a:off x="6876256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/48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사내용 - 내지(어두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571480"/>
            <a:ext cx="9144000" cy="628652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11" name="Freeform 8"/>
          <p:cNvSpPr>
            <a:spLocks/>
          </p:cNvSpPr>
          <p:nvPr userDrawn="1"/>
        </p:nvSpPr>
        <p:spPr bwMode="auto">
          <a:xfrm>
            <a:off x="257402" y="571480"/>
            <a:ext cx="811870" cy="29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pic>
        <p:nvPicPr>
          <p:cNvPr id="8" name="Picture 2" descr="C:\Users\user\Desktop\혁신\오스템PPT 2\2차 시안\화이트배경 CI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3662" y="44624"/>
            <a:ext cx="984842" cy="504056"/>
          </a:xfrm>
          <a:prstGeom prst="rect">
            <a:avLst/>
          </a:prstGeom>
          <a:noFill/>
        </p:spPr>
      </p:pic>
      <p:sp>
        <p:nvSpPr>
          <p:cNvPr id="7" name="슬라이드 번호 개체 틀 3"/>
          <p:cNvSpPr txBox="1">
            <a:spLocks/>
          </p:cNvSpPr>
          <p:nvPr userDrawn="1"/>
        </p:nvSpPr>
        <p:spPr>
          <a:xfrm>
            <a:off x="6876256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B10DFB-95F8-4B3F-9596-1514915EC802}" type="slidenum"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/00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사내용 - Q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3786182" y="0"/>
            <a:ext cx="5357818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ym typeface="Calibri"/>
            </a:endParaRPr>
          </a:p>
        </p:txBody>
      </p:sp>
      <p:sp>
        <p:nvSpPr>
          <p:cNvPr id="4" name="Freeform 8"/>
          <p:cNvSpPr>
            <a:spLocks/>
          </p:cNvSpPr>
          <p:nvPr userDrawn="1"/>
        </p:nvSpPr>
        <p:spPr bwMode="auto">
          <a:xfrm rot="16200000">
            <a:off x="3079686" y="2206671"/>
            <a:ext cx="2198813" cy="78582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5" name="제목 4"/>
          <p:cNvSpPr txBox="1">
            <a:spLocks/>
          </p:cNvSpPr>
          <p:nvPr userDrawn="1"/>
        </p:nvSpPr>
        <p:spPr bwMode="auto">
          <a:xfrm>
            <a:off x="4786314" y="2214554"/>
            <a:ext cx="1481046" cy="757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05" tIns="40053" rIns="80105" bIns="40053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ctr" defTabSz="911225" eaLnBrk="0">
              <a:tabLst>
                <a:tab pos="85725" algn="l"/>
                <a:tab pos="180975" algn="l"/>
              </a:tabLst>
              <a:defRPr/>
            </a:pPr>
            <a:r>
              <a:rPr lang="en-US" altLang="ko-KR" sz="4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  <a:endParaRPr lang="en-US" altLang="ko-KR" sz="4400" b="1" kern="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6" name="제목 4"/>
          <p:cNvSpPr txBox="1">
            <a:spLocks/>
          </p:cNvSpPr>
          <p:nvPr userDrawn="1"/>
        </p:nvSpPr>
        <p:spPr bwMode="auto">
          <a:xfrm>
            <a:off x="520367" y="1714488"/>
            <a:ext cx="2837187" cy="118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05" tIns="40053" rIns="80105" bIns="40053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ctr" defTabSz="911225" eaLnBrk="0">
              <a:tabLst>
                <a:tab pos="85725" algn="l"/>
                <a:tab pos="180975" algn="l"/>
              </a:tabLst>
              <a:defRPr/>
            </a:pPr>
            <a:r>
              <a:rPr lang="en-US" altLang="ko-KR" sz="7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Thank</a:t>
            </a:r>
            <a:endParaRPr lang="en-US" altLang="ko-KR" sz="7200" b="1" kern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7" name="제목 4"/>
          <p:cNvSpPr txBox="1">
            <a:spLocks/>
          </p:cNvSpPr>
          <p:nvPr userDrawn="1"/>
        </p:nvSpPr>
        <p:spPr bwMode="auto">
          <a:xfrm>
            <a:off x="998157" y="2186184"/>
            <a:ext cx="2022540" cy="118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05" tIns="40053" rIns="80105" bIns="40053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ctr" defTabSz="911225" eaLnBrk="0">
              <a:tabLst>
                <a:tab pos="85725" algn="l"/>
                <a:tab pos="180975" algn="l"/>
              </a:tabLst>
              <a:defRPr/>
            </a:pPr>
            <a:r>
              <a:rPr lang="en-US" altLang="ko-KR" sz="7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you.</a:t>
            </a:r>
            <a:endParaRPr lang="en-US" altLang="ko-KR" sz="7200" b="1" kern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9" name="Picture 2" descr="C:\Users\user\Desktop\혁신\오스템PPT 2\2차 시안\회색배경 CI.jpg"/>
          <p:cNvPicPr>
            <a:picLocks noChangeAspect="1" noChangeArrowheads="1"/>
          </p:cNvPicPr>
          <p:nvPr userDrawn="1"/>
        </p:nvPicPr>
        <p:blipFill>
          <a:blip r:embed="rId2" cstate="print"/>
          <a:srcRect l="5719" t="14913" r="7597" b="11182"/>
          <a:stretch>
            <a:fillRect/>
          </a:stretch>
        </p:blipFill>
        <p:spPr bwMode="auto">
          <a:xfrm>
            <a:off x="7380312" y="5949280"/>
            <a:ext cx="1440160" cy="628434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@사내용 - 표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 userDrawn="1"/>
        </p:nvSpPr>
        <p:spPr>
          <a:xfrm>
            <a:off x="0" y="2786058"/>
            <a:ext cx="9144000" cy="4071942"/>
          </a:xfrm>
          <a:prstGeom prst="rect">
            <a:avLst/>
          </a:prstGeom>
          <a:solidFill>
            <a:srgbClr val="070324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pic>
        <p:nvPicPr>
          <p:cNvPr id="8194" name="Picture 2" descr="C:\Users\user\Desktop\혁신\오스템PPT 2\2차 시안\남색배경 color CI.jpg"/>
          <p:cNvPicPr>
            <a:picLocks noChangeAspect="1" noChangeArrowheads="1"/>
          </p:cNvPicPr>
          <p:nvPr userDrawn="1"/>
        </p:nvPicPr>
        <p:blipFill>
          <a:blip r:embed="rId2" cstate="print"/>
          <a:srcRect l="6106" t="16214" r="7210" b="22198"/>
          <a:stretch>
            <a:fillRect/>
          </a:stretch>
        </p:blipFill>
        <p:spPr bwMode="auto">
          <a:xfrm>
            <a:off x="7164288" y="5733257"/>
            <a:ext cx="1440160" cy="523694"/>
          </a:xfrm>
          <a:prstGeom prst="rect">
            <a:avLst/>
          </a:prstGeom>
          <a:noFill/>
        </p:spPr>
      </p:pic>
      <p:sp>
        <p:nvSpPr>
          <p:cNvPr id="28" name="직사각형 27"/>
          <p:cNvSpPr/>
          <p:nvPr userDrawn="1"/>
        </p:nvSpPr>
        <p:spPr>
          <a:xfrm>
            <a:off x="0" y="0"/>
            <a:ext cx="9144000" cy="2857496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29" name="Freeform 8"/>
          <p:cNvSpPr>
            <a:spLocks/>
          </p:cNvSpPr>
          <p:nvPr userDrawn="1"/>
        </p:nvSpPr>
        <p:spPr bwMode="auto">
          <a:xfrm>
            <a:off x="1253241" y="2857496"/>
            <a:ext cx="1214630" cy="43408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grpSp>
        <p:nvGrpSpPr>
          <p:cNvPr id="3" name="그룹 14"/>
          <p:cNvGrpSpPr/>
          <p:nvPr userDrawn="1"/>
        </p:nvGrpSpPr>
        <p:grpSpPr>
          <a:xfrm>
            <a:off x="1797387" y="4071150"/>
            <a:ext cx="147953" cy="147953"/>
            <a:chOff x="1868825" y="3903571"/>
            <a:chExt cx="147953" cy="147953"/>
          </a:xfrm>
        </p:grpSpPr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868825" y="3903571"/>
              <a:ext cx="147952" cy="1479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8"/>
                </a:cxn>
                <a:cxn ang="0">
                  <a:pos x="258" y="258"/>
                </a:cxn>
                <a:cxn ang="0">
                  <a:pos x="258" y="122"/>
                </a:cxn>
                <a:cxn ang="0">
                  <a:pos x="13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8" h="258">
                  <a:moveTo>
                    <a:pt x="0" y="0"/>
                  </a:moveTo>
                  <a:lnTo>
                    <a:pt x="0" y="258"/>
                  </a:lnTo>
                  <a:lnTo>
                    <a:pt x="258" y="258"/>
                  </a:lnTo>
                  <a:lnTo>
                    <a:pt x="258" y="122"/>
                  </a:lnTo>
                  <a:lnTo>
                    <a:pt x="13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1946816" y="3903571"/>
              <a:ext cx="69962" cy="69962"/>
            </a:xfrm>
            <a:custGeom>
              <a:avLst/>
              <a:gdLst/>
              <a:ahLst/>
              <a:cxnLst>
                <a:cxn ang="0">
                  <a:pos x="122" y="122"/>
                </a:cxn>
                <a:cxn ang="0">
                  <a:pos x="0" y="0"/>
                </a:cxn>
                <a:cxn ang="0">
                  <a:pos x="0" y="122"/>
                </a:cxn>
                <a:cxn ang="0">
                  <a:pos x="122" y="122"/>
                </a:cxn>
                <a:cxn ang="0">
                  <a:pos x="122" y="122"/>
                </a:cxn>
              </a:cxnLst>
              <a:rect l="0" t="0" r="r" b="b"/>
              <a:pathLst>
                <a:path w="122" h="122">
                  <a:moveTo>
                    <a:pt x="122" y="122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122" y="122"/>
                  </a:lnTo>
                  <a:lnTo>
                    <a:pt x="122" y="122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4" name="그룹 15"/>
          <p:cNvGrpSpPr/>
          <p:nvPr userDrawn="1"/>
        </p:nvGrpSpPr>
        <p:grpSpPr>
          <a:xfrm>
            <a:off x="1793946" y="4501213"/>
            <a:ext cx="157128" cy="158275"/>
            <a:chOff x="1865384" y="4280908"/>
            <a:chExt cx="157128" cy="158275"/>
          </a:xfrm>
        </p:grpSpPr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1865384" y="4280908"/>
              <a:ext cx="157128" cy="158275"/>
            </a:xfrm>
            <a:custGeom>
              <a:avLst/>
              <a:gdLst/>
              <a:ahLst/>
              <a:cxnLst>
                <a:cxn ang="0">
                  <a:pos x="274" y="138"/>
                </a:cxn>
                <a:cxn ang="0">
                  <a:pos x="272" y="166"/>
                </a:cxn>
                <a:cxn ang="0">
                  <a:pos x="264" y="192"/>
                </a:cxn>
                <a:cxn ang="0">
                  <a:pos x="250" y="214"/>
                </a:cxn>
                <a:cxn ang="0">
                  <a:pos x="234" y="234"/>
                </a:cxn>
                <a:cxn ang="0">
                  <a:pos x="214" y="252"/>
                </a:cxn>
                <a:cxn ang="0">
                  <a:pos x="190" y="264"/>
                </a:cxn>
                <a:cxn ang="0">
                  <a:pos x="164" y="272"/>
                </a:cxn>
                <a:cxn ang="0">
                  <a:pos x="136" y="276"/>
                </a:cxn>
                <a:cxn ang="0">
                  <a:pos x="122" y="274"/>
                </a:cxn>
                <a:cxn ang="0">
                  <a:pos x="96" y="268"/>
                </a:cxn>
                <a:cxn ang="0">
                  <a:pos x="72" y="258"/>
                </a:cxn>
                <a:cxn ang="0">
                  <a:pos x="50" y="244"/>
                </a:cxn>
                <a:cxn ang="0">
                  <a:pos x="30" y="226"/>
                </a:cxn>
                <a:cxn ang="0">
                  <a:pos x="16" y="204"/>
                </a:cxn>
                <a:cxn ang="0">
                  <a:pos x="6" y="178"/>
                </a:cxn>
                <a:cxn ang="0">
                  <a:pos x="0" y="152"/>
                </a:cxn>
                <a:cxn ang="0">
                  <a:pos x="0" y="138"/>
                </a:cxn>
                <a:cxn ang="0">
                  <a:pos x="2" y="110"/>
                </a:cxn>
                <a:cxn ang="0">
                  <a:pos x="10" y="84"/>
                </a:cxn>
                <a:cxn ang="0">
                  <a:pos x="22" y="60"/>
                </a:cxn>
                <a:cxn ang="0">
                  <a:pos x="40" y="40"/>
                </a:cxn>
                <a:cxn ang="0">
                  <a:pos x="60" y="24"/>
                </a:cxn>
                <a:cxn ang="0">
                  <a:pos x="84" y="12"/>
                </a:cxn>
                <a:cxn ang="0">
                  <a:pos x="110" y="4"/>
                </a:cxn>
                <a:cxn ang="0">
                  <a:pos x="136" y="0"/>
                </a:cxn>
                <a:cxn ang="0">
                  <a:pos x="150" y="2"/>
                </a:cxn>
                <a:cxn ang="0">
                  <a:pos x="178" y="6"/>
                </a:cxn>
                <a:cxn ang="0">
                  <a:pos x="202" y="16"/>
                </a:cxn>
                <a:cxn ang="0">
                  <a:pos x="224" y="32"/>
                </a:cxn>
                <a:cxn ang="0">
                  <a:pos x="242" y="50"/>
                </a:cxn>
                <a:cxn ang="0">
                  <a:pos x="258" y="72"/>
                </a:cxn>
                <a:cxn ang="0">
                  <a:pos x="268" y="96"/>
                </a:cxn>
                <a:cxn ang="0">
                  <a:pos x="274" y="124"/>
                </a:cxn>
                <a:cxn ang="0">
                  <a:pos x="274" y="138"/>
                </a:cxn>
              </a:cxnLst>
              <a:rect l="0" t="0" r="r" b="b"/>
              <a:pathLst>
                <a:path w="274" h="276">
                  <a:moveTo>
                    <a:pt x="274" y="138"/>
                  </a:moveTo>
                  <a:lnTo>
                    <a:pt x="274" y="138"/>
                  </a:lnTo>
                  <a:lnTo>
                    <a:pt x="274" y="152"/>
                  </a:lnTo>
                  <a:lnTo>
                    <a:pt x="272" y="166"/>
                  </a:lnTo>
                  <a:lnTo>
                    <a:pt x="268" y="178"/>
                  </a:lnTo>
                  <a:lnTo>
                    <a:pt x="264" y="192"/>
                  </a:lnTo>
                  <a:lnTo>
                    <a:pt x="258" y="204"/>
                  </a:lnTo>
                  <a:lnTo>
                    <a:pt x="250" y="214"/>
                  </a:lnTo>
                  <a:lnTo>
                    <a:pt x="242" y="226"/>
                  </a:lnTo>
                  <a:lnTo>
                    <a:pt x="234" y="234"/>
                  </a:lnTo>
                  <a:lnTo>
                    <a:pt x="224" y="244"/>
                  </a:lnTo>
                  <a:lnTo>
                    <a:pt x="214" y="252"/>
                  </a:lnTo>
                  <a:lnTo>
                    <a:pt x="202" y="258"/>
                  </a:lnTo>
                  <a:lnTo>
                    <a:pt x="190" y="264"/>
                  </a:lnTo>
                  <a:lnTo>
                    <a:pt x="178" y="268"/>
                  </a:lnTo>
                  <a:lnTo>
                    <a:pt x="164" y="272"/>
                  </a:lnTo>
                  <a:lnTo>
                    <a:pt x="150" y="274"/>
                  </a:lnTo>
                  <a:lnTo>
                    <a:pt x="136" y="276"/>
                  </a:lnTo>
                  <a:lnTo>
                    <a:pt x="136" y="276"/>
                  </a:lnTo>
                  <a:lnTo>
                    <a:pt x="122" y="274"/>
                  </a:lnTo>
                  <a:lnTo>
                    <a:pt x="110" y="272"/>
                  </a:lnTo>
                  <a:lnTo>
                    <a:pt x="96" y="268"/>
                  </a:lnTo>
                  <a:lnTo>
                    <a:pt x="84" y="264"/>
                  </a:lnTo>
                  <a:lnTo>
                    <a:pt x="72" y="258"/>
                  </a:lnTo>
                  <a:lnTo>
                    <a:pt x="60" y="252"/>
                  </a:lnTo>
                  <a:lnTo>
                    <a:pt x="50" y="244"/>
                  </a:lnTo>
                  <a:lnTo>
                    <a:pt x="40" y="234"/>
                  </a:lnTo>
                  <a:lnTo>
                    <a:pt x="30" y="226"/>
                  </a:lnTo>
                  <a:lnTo>
                    <a:pt x="22" y="214"/>
                  </a:lnTo>
                  <a:lnTo>
                    <a:pt x="16" y="204"/>
                  </a:lnTo>
                  <a:lnTo>
                    <a:pt x="10" y="192"/>
                  </a:lnTo>
                  <a:lnTo>
                    <a:pt x="6" y="178"/>
                  </a:lnTo>
                  <a:lnTo>
                    <a:pt x="2" y="166"/>
                  </a:lnTo>
                  <a:lnTo>
                    <a:pt x="0" y="15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0" y="124"/>
                  </a:lnTo>
                  <a:lnTo>
                    <a:pt x="2" y="110"/>
                  </a:lnTo>
                  <a:lnTo>
                    <a:pt x="6" y="96"/>
                  </a:lnTo>
                  <a:lnTo>
                    <a:pt x="10" y="84"/>
                  </a:lnTo>
                  <a:lnTo>
                    <a:pt x="16" y="72"/>
                  </a:lnTo>
                  <a:lnTo>
                    <a:pt x="22" y="60"/>
                  </a:lnTo>
                  <a:lnTo>
                    <a:pt x="30" y="50"/>
                  </a:lnTo>
                  <a:lnTo>
                    <a:pt x="40" y="40"/>
                  </a:lnTo>
                  <a:lnTo>
                    <a:pt x="50" y="32"/>
                  </a:lnTo>
                  <a:lnTo>
                    <a:pt x="60" y="24"/>
                  </a:lnTo>
                  <a:lnTo>
                    <a:pt x="72" y="16"/>
                  </a:lnTo>
                  <a:lnTo>
                    <a:pt x="84" y="12"/>
                  </a:lnTo>
                  <a:lnTo>
                    <a:pt x="96" y="6"/>
                  </a:lnTo>
                  <a:lnTo>
                    <a:pt x="110" y="4"/>
                  </a:lnTo>
                  <a:lnTo>
                    <a:pt x="122" y="2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4" y="4"/>
                  </a:lnTo>
                  <a:lnTo>
                    <a:pt x="178" y="6"/>
                  </a:lnTo>
                  <a:lnTo>
                    <a:pt x="190" y="12"/>
                  </a:lnTo>
                  <a:lnTo>
                    <a:pt x="202" y="16"/>
                  </a:lnTo>
                  <a:lnTo>
                    <a:pt x="214" y="24"/>
                  </a:lnTo>
                  <a:lnTo>
                    <a:pt x="224" y="32"/>
                  </a:lnTo>
                  <a:lnTo>
                    <a:pt x="234" y="40"/>
                  </a:lnTo>
                  <a:lnTo>
                    <a:pt x="242" y="50"/>
                  </a:lnTo>
                  <a:lnTo>
                    <a:pt x="250" y="60"/>
                  </a:lnTo>
                  <a:lnTo>
                    <a:pt x="258" y="72"/>
                  </a:lnTo>
                  <a:lnTo>
                    <a:pt x="264" y="84"/>
                  </a:lnTo>
                  <a:lnTo>
                    <a:pt x="268" y="96"/>
                  </a:lnTo>
                  <a:lnTo>
                    <a:pt x="272" y="110"/>
                  </a:lnTo>
                  <a:lnTo>
                    <a:pt x="274" y="124"/>
                  </a:lnTo>
                  <a:lnTo>
                    <a:pt x="274" y="138"/>
                  </a:lnTo>
                  <a:lnTo>
                    <a:pt x="274" y="138"/>
                  </a:lnTo>
                  <a:lnTo>
                    <a:pt x="274" y="138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1943375" y="4323344"/>
              <a:ext cx="44730" cy="412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"/>
                </a:cxn>
                <a:cxn ang="0">
                  <a:pos x="78" y="72"/>
                </a:cxn>
              </a:cxnLst>
              <a:rect l="0" t="0" r="r" b="b"/>
              <a:pathLst>
                <a:path w="78" h="72">
                  <a:moveTo>
                    <a:pt x="0" y="0"/>
                  </a:moveTo>
                  <a:lnTo>
                    <a:pt x="0" y="72"/>
                  </a:lnTo>
                  <a:lnTo>
                    <a:pt x="78" y="72"/>
                  </a:lnTo>
                </a:path>
              </a:pathLst>
            </a:custGeom>
            <a:noFill/>
            <a:ln w="12700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5" name="그룹 16"/>
          <p:cNvGrpSpPr/>
          <p:nvPr userDrawn="1"/>
        </p:nvGrpSpPr>
        <p:grpSpPr>
          <a:xfrm>
            <a:off x="1785918" y="3611268"/>
            <a:ext cx="164009" cy="177772"/>
            <a:chOff x="1857356" y="3511325"/>
            <a:chExt cx="164009" cy="177772"/>
          </a:xfrm>
        </p:grpSpPr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1891763" y="3511325"/>
              <a:ext cx="95194" cy="95194"/>
            </a:xfrm>
            <a:custGeom>
              <a:avLst/>
              <a:gdLst/>
              <a:ahLst/>
              <a:cxnLst>
                <a:cxn ang="0">
                  <a:pos x="166" y="84"/>
                </a:cxn>
                <a:cxn ang="0">
                  <a:pos x="166" y="84"/>
                </a:cxn>
                <a:cxn ang="0">
                  <a:pos x="164" y="100"/>
                </a:cxn>
                <a:cxn ang="0">
                  <a:pos x="160" y="116"/>
                </a:cxn>
                <a:cxn ang="0">
                  <a:pos x="152" y="130"/>
                </a:cxn>
                <a:cxn ang="0">
                  <a:pos x="142" y="142"/>
                </a:cxn>
                <a:cxn ang="0">
                  <a:pos x="130" y="152"/>
                </a:cxn>
                <a:cxn ang="0">
                  <a:pos x="116" y="160"/>
                </a:cxn>
                <a:cxn ang="0">
                  <a:pos x="100" y="166"/>
                </a:cxn>
                <a:cxn ang="0">
                  <a:pos x="82" y="166"/>
                </a:cxn>
                <a:cxn ang="0">
                  <a:pos x="82" y="166"/>
                </a:cxn>
                <a:cxn ang="0">
                  <a:pos x="66" y="166"/>
                </a:cxn>
                <a:cxn ang="0">
                  <a:pos x="50" y="160"/>
                </a:cxn>
                <a:cxn ang="0">
                  <a:pos x="36" y="152"/>
                </a:cxn>
                <a:cxn ang="0">
                  <a:pos x="24" y="142"/>
                </a:cxn>
                <a:cxn ang="0">
                  <a:pos x="14" y="130"/>
                </a:cxn>
                <a:cxn ang="0">
                  <a:pos x="6" y="116"/>
                </a:cxn>
                <a:cxn ang="0">
                  <a:pos x="0" y="100"/>
                </a:cxn>
                <a:cxn ang="0">
                  <a:pos x="0" y="84"/>
                </a:cxn>
                <a:cxn ang="0">
                  <a:pos x="0" y="84"/>
                </a:cxn>
                <a:cxn ang="0">
                  <a:pos x="0" y="66"/>
                </a:cxn>
                <a:cxn ang="0">
                  <a:pos x="6" y="50"/>
                </a:cxn>
                <a:cxn ang="0">
                  <a:pos x="14" y="36"/>
                </a:cxn>
                <a:cxn ang="0">
                  <a:pos x="24" y="24"/>
                </a:cxn>
                <a:cxn ang="0">
                  <a:pos x="36" y="14"/>
                </a:cxn>
                <a:cxn ang="0">
                  <a:pos x="50" y="6"/>
                </a:cxn>
                <a:cxn ang="0">
                  <a:pos x="66" y="2"/>
                </a:cxn>
                <a:cxn ang="0">
                  <a:pos x="82" y="0"/>
                </a:cxn>
                <a:cxn ang="0">
                  <a:pos x="82" y="0"/>
                </a:cxn>
                <a:cxn ang="0">
                  <a:pos x="100" y="2"/>
                </a:cxn>
                <a:cxn ang="0">
                  <a:pos x="116" y="6"/>
                </a:cxn>
                <a:cxn ang="0">
                  <a:pos x="130" y="14"/>
                </a:cxn>
                <a:cxn ang="0">
                  <a:pos x="142" y="24"/>
                </a:cxn>
                <a:cxn ang="0">
                  <a:pos x="152" y="36"/>
                </a:cxn>
                <a:cxn ang="0">
                  <a:pos x="160" y="50"/>
                </a:cxn>
                <a:cxn ang="0">
                  <a:pos x="164" y="66"/>
                </a:cxn>
                <a:cxn ang="0">
                  <a:pos x="166" y="84"/>
                </a:cxn>
                <a:cxn ang="0">
                  <a:pos x="166" y="84"/>
                </a:cxn>
                <a:cxn ang="0">
                  <a:pos x="166" y="84"/>
                </a:cxn>
              </a:cxnLst>
              <a:rect l="0" t="0" r="r" b="b"/>
              <a:pathLst>
                <a:path w="166" h="166">
                  <a:moveTo>
                    <a:pt x="166" y="84"/>
                  </a:moveTo>
                  <a:lnTo>
                    <a:pt x="166" y="84"/>
                  </a:lnTo>
                  <a:lnTo>
                    <a:pt x="164" y="100"/>
                  </a:lnTo>
                  <a:lnTo>
                    <a:pt x="160" y="116"/>
                  </a:lnTo>
                  <a:lnTo>
                    <a:pt x="152" y="130"/>
                  </a:lnTo>
                  <a:lnTo>
                    <a:pt x="142" y="142"/>
                  </a:lnTo>
                  <a:lnTo>
                    <a:pt x="130" y="152"/>
                  </a:lnTo>
                  <a:lnTo>
                    <a:pt x="116" y="160"/>
                  </a:lnTo>
                  <a:lnTo>
                    <a:pt x="100" y="166"/>
                  </a:lnTo>
                  <a:lnTo>
                    <a:pt x="82" y="166"/>
                  </a:lnTo>
                  <a:lnTo>
                    <a:pt x="82" y="166"/>
                  </a:lnTo>
                  <a:lnTo>
                    <a:pt x="66" y="166"/>
                  </a:lnTo>
                  <a:lnTo>
                    <a:pt x="50" y="160"/>
                  </a:lnTo>
                  <a:lnTo>
                    <a:pt x="36" y="152"/>
                  </a:lnTo>
                  <a:lnTo>
                    <a:pt x="24" y="142"/>
                  </a:lnTo>
                  <a:lnTo>
                    <a:pt x="14" y="130"/>
                  </a:lnTo>
                  <a:lnTo>
                    <a:pt x="6" y="116"/>
                  </a:lnTo>
                  <a:lnTo>
                    <a:pt x="0" y="100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100" y="2"/>
                  </a:lnTo>
                  <a:lnTo>
                    <a:pt x="116" y="6"/>
                  </a:lnTo>
                  <a:lnTo>
                    <a:pt x="130" y="14"/>
                  </a:lnTo>
                  <a:lnTo>
                    <a:pt x="142" y="24"/>
                  </a:lnTo>
                  <a:lnTo>
                    <a:pt x="152" y="36"/>
                  </a:lnTo>
                  <a:lnTo>
                    <a:pt x="160" y="50"/>
                  </a:lnTo>
                  <a:lnTo>
                    <a:pt x="164" y="66"/>
                  </a:lnTo>
                  <a:lnTo>
                    <a:pt x="166" y="84"/>
                  </a:lnTo>
                  <a:lnTo>
                    <a:pt x="166" y="84"/>
                  </a:lnTo>
                  <a:lnTo>
                    <a:pt x="166" y="84"/>
                  </a:lnTo>
                  <a:close/>
                </a:path>
              </a:pathLst>
            </a:custGeom>
            <a:noFill/>
            <a:ln w="12700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1857356" y="3606519"/>
              <a:ext cx="164009" cy="82578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0" y="144"/>
                </a:cxn>
                <a:cxn ang="0">
                  <a:pos x="0" y="128"/>
                </a:cxn>
                <a:cxn ang="0">
                  <a:pos x="2" y="114"/>
                </a:cxn>
                <a:cxn ang="0">
                  <a:pos x="6" y="102"/>
                </a:cxn>
                <a:cxn ang="0">
                  <a:pos x="10" y="88"/>
                </a:cxn>
                <a:cxn ang="0">
                  <a:pos x="16" y="76"/>
                </a:cxn>
                <a:cxn ang="0">
                  <a:pos x="24" y="64"/>
                </a:cxn>
                <a:cxn ang="0">
                  <a:pos x="32" y="52"/>
                </a:cxn>
                <a:cxn ang="0">
                  <a:pos x="42" y="42"/>
                </a:cxn>
                <a:cxn ang="0">
                  <a:pos x="52" y="34"/>
                </a:cxn>
                <a:cxn ang="0">
                  <a:pos x="62" y="24"/>
                </a:cxn>
                <a:cxn ang="0">
                  <a:pos x="74" y="18"/>
                </a:cxn>
                <a:cxn ang="0">
                  <a:pos x="86" y="12"/>
                </a:cxn>
                <a:cxn ang="0">
                  <a:pos x="100" y="6"/>
                </a:cxn>
                <a:cxn ang="0">
                  <a:pos x="114" y="4"/>
                </a:cxn>
                <a:cxn ang="0">
                  <a:pos x="128" y="2"/>
                </a:cxn>
                <a:cxn ang="0">
                  <a:pos x="142" y="0"/>
                </a:cxn>
                <a:cxn ang="0">
                  <a:pos x="142" y="0"/>
                </a:cxn>
                <a:cxn ang="0">
                  <a:pos x="158" y="2"/>
                </a:cxn>
                <a:cxn ang="0">
                  <a:pos x="172" y="4"/>
                </a:cxn>
                <a:cxn ang="0">
                  <a:pos x="186" y="6"/>
                </a:cxn>
                <a:cxn ang="0">
                  <a:pos x="198" y="12"/>
                </a:cxn>
                <a:cxn ang="0">
                  <a:pos x="210" y="18"/>
                </a:cxn>
                <a:cxn ang="0">
                  <a:pos x="222" y="24"/>
                </a:cxn>
                <a:cxn ang="0">
                  <a:pos x="234" y="34"/>
                </a:cxn>
                <a:cxn ang="0">
                  <a:pos x="244" y="42"/>
                </a:cxn>
                <a:cxn ang="0">
                  <a:pos x="252" y="52"/>
                </a:cxn>
                <a:cxn ang="0">
                  <a:pos x="262" y="64"/>
                </a:cxn>
                <a:cxn ang="0">
                  <a:pos x="268" y="76"/>
                </a:cxn>
                <a:cxn ang="0">
                  <a:pos x="274" y="88"/>
                </a:cxn>
                <a:cxn ang="0">
                  <a:pos x="280" y="102"/>
                </a:cxn>
                <a:cxn ang="0">
                  <a:pos x="282" y="114"/>
                </a:cxn>
                <a:cxn ang="0">
                  <a:pos x="284" y="128"/>
                </a:cxn>
                <a:cxn ang="0">
                  <a:pos x="286" y="144"/>
                </a:cxn>
              </a:cxnLst>
              <a:rect l="0" t="0" r="r" b="b"/>
              <a:pathLst>
                <a:path w="286" h="144">
                  <a:moveTo>
                    <a:pt x="0" y="144"/>
                  </a:moveTo>
                  <a:lnTo>
                    <a:pt x="0" y="144"/>
                  </a:lnTo>
                  <a:lnTo>
                    <a:pt x="0" y="128"/>
                  </a:lnTo>
                  <a:lnTo>
                    <a:pt x="2" y="114"/>
                  </a:lnTo>
                  <a:lnTo>
                    <a:pt x="6" y="102"/>
                  </a:lnTo>
                  <a:lnTo>
                    <a:pt x="10" y="88"/>
                  </a:lnTo>
                  <a:lnTo>
                    <a:pt x="16" y="76"/>
                  </a:lnTo>
                  <a:lnTo>
                    <a:pt x="24" y="64"/>
                  </a:lnTo>
                  <a:lnTo>
                    <a:pt x="32" y="52"/>
                  </a:lnTo>
                  <a:lnTo>
                    <a:pt x="42" y="42"/>
                  </a:lnTo>
                  <a:lnTo>
                    <a:pt x="52" y="34"/>
                  </a:lnTo>
                  <a:lnTo>
                    <a:pt x="62" y="24"/>
                  </a:lnTo>
                  <a:lnTo>
                    <a:pt x="74" y="18"/>
                  </a:lnTo>
                  <a:lnTo>
                    <a:pt x="86" y="12"/>
                  </a:lnTo>
                  <a:lnTo>
                    <a:pt x="100" y="6"/>
                  </a:lnTo>
                  <a:lnTo>
                    <a:pt x="114" y="4"/>
                  </a:lnTo>
                  <a:lnTo>
                    <a:pt x="128" y="2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8" y="2"/>
                  </a:lnTo>
                  <a:lnTo>
                    <a:pt x="172" y="4"/>
                  </a:lnTo>
                  <a:lnTo>
                    <a:pt x="186" y="6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4"/>
                  </a:lnTo>
                  <a:lnTo>
                    <a:pt x="234" y="34"/>
                  </a:lnTo>
                  <a:lnTo>
                    <a:pt x="244" y="42"/>
                  </a:lnTo>
                  <a:lnTo>
                    <a:pt x="252" y="52"/>
                  </a:lnTo>
                  <a:lnTo>
                    <a:pt x="262" y="64"/>
                  </a:lnTo>
                  <a:lnTo>
                    <a:pt x="268" y="76"/>
                  </a:lnTo>
                  <a:lnTo>
                    <a:pt x="274" y="88"/>
                  </a:lnTo>
                  <a:lnTo>
                    <a:pt x="280" y="102"/>
                  </a:lnTo>
                  <a:lnTo>
                    <a:pt x="282" y="114"/>
                  </a:lnTo>
                  <a:lnTo>
                    <a:pt x="284" y="128"/>
                  </a:lnTo>
                  <a:lnTo>
                    <a:pt x="286" y="144"/>
                  </a:lnTo>
                </a:path>
              </a:pathLst>
            </a:custGeom>
            <a:noFill/>
            <a:ln w="12700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6" name="그룹 17"/>
          <p:cNvGrpSpPr/>
          <p:nvPr userDrawn="1"/>
        </p:nvGrpSpPr>
        <p:grpSpPr>
          <a:xfrm>
            <a:off x="1795093" y="4941597"/>
            <a:ext cx="150246" cy="159261"/>
            <a:chOff x="1866531" y="4610293"/>
            <a:chExt cx="150246" cy="159261"/>
          </a:xfrm>
        </p:grpSpPr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1866531" y="4633071"/>
              <a:ext cx="150246" cy="136483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grpSp>
          <p:nvGrpSpPr>
            <p:cNvPr id="7" name="그룹 19"/>
            <p:cNvGrpSpPr/>
            <p:nvPr/>
          </p:nvGrpSpPr>
          <p:grpSpPr>
            <a:xfrm>
              <a:off x="1887176" y="4610293"/>
              <a:ext cx="111825" cy="119119"/>
              <a:chOff x="1887176" y="4610293"/>
              <a:chExt cx="111825" cy="119119"/>
            </a:xfrm>
          </p:grpSpPr>
          <p:sp>
            <p:nvSpPr>
              <p:cNvPr id="22" name="Freeform 14"/>
              <p:cNvSpPr>
                <a:spLocks/>
              </p:cNvSpPr>
              <p:nvPr/>
            </p:nvSpPr>
            <p:spPr bwMode="auto">
              <a:xfrm>
                <a:off x="1910114" y="4676654"/>
                <a:ext cx="74550" cy="52758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6" y="92"/>
                  </a:cxn>
                  <a:cxn ang="0">
                    <a:pos x="130" y="0"/>
                  </a:cxn>
                </a:cxnLst>
                <a:rect l="0" t="0" r="r" b="b"/>
                <a:pathLst>
                  <a:path w="130" h="92">
                    <a:moveTo>
                      <a:pt x="0" y="44"/>
                    </a:moveTo>
                    <a:lnTo>
                      <a:pt x="46" y="92"/>
                    </a:lnTo>
                    <a:lnTo>
                      <a:pt x="130" y="0"/>
                    </a:lnTo>
                  </a:path>
                </a:pathLst>
              </a:custGeom>
              <a:noFill/>
              <a:ln w="12700">
                <a:solidFill>
                  <a:schemeClr val="bg1">
                    <a:lumMod val="9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 flipV="1">
                <a:off x="1887176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chemeClr val="bg1">
                    <a:lumMod val="9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4" name="Line 19"/>
              <p:cNvSpPr>
                <a:spLocks noChangeShapeType="1"/>
              </p:cNvSpPr>
              <p:nvPr/>
            </p:nvSpPr>
            <p:spPr bwMode="auto">
              <a:xfrm flipV="1">
                <a:off x="1998427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chemeClr val="bg1">
                    <a:lumMod val="9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42" name="TextBox 41"/>
          <p:cNvSpPr txBox="1"/>
          <p:nvPr userDrawn="1"/>
        </p:nvSpPr>
        <p:spPr>
          <a:xfrm>
            <a:off x="1142976" y="508795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5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VISION 2023</a:t>
            </a:r>
          </a:p>
        </p:txBody>
      </p:sp>
      <p:pic>
        <p:nvPicPr>
          <p:cNvPr id="37" name="Picture 2" descr="C:\Users\user\Desktop\그림1.jpg"/>
          <p:cNvPicPr>
            <a:picLocks noChangeAspect="1" noChangeArrowheads="1"/>
          </p:cNvPicPr>
          <p:nvPr userDrawn="1"/>
        </p:nvPicPr>
        <p:blipFill>
          <a:blip r:embed="rId3" cstate="print"/>
          <a:srcRect l="30667" b="28889"/>
          <a:stretch>
            <a:fillRect/>
          </a:stretch>
        </p:blipFill>
        <p:spPr bwMode="auto">
          <a:xfrm>
            <a:off x="6357949" y="2852936"/>
            <a:ext cx="2786051" cy="2143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@사내용 - 표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user\Desktop\혁신\오스템PPT 2\2차 시안\화이트배경 color CI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08304" y="5877272"/>
            <a:ext cx="1691680" cy="865825"/>
          </a:xfrm>
          <a:prstGeom prst="rect">
            <a:avLst/>
          </a:prstGeom>
          <a:noFill/>
        </p:spPr>
      </p:pic>
      <p:grpSp>
        <p:nvGrpSpPr>
          <p:cNvPr id="3" name="그룹 29"/>
          <p:cNvGrpSpPr/>
          <p:nvPr userDrawn="1"/>
        </p:nvGrpSpPr>
        <p:grpSpPr>
          <a:xfrm>
            <a:off x="0" y="0"/>
            <a:ext cx="9144000" cy="3291585"/>
            <a:chOff x="0" y="0"/>
            <a:chExt cx="9144000" cy="3291585"/>
          </a:xfrm>
        </p:grpSpPr>
        <p:sp>
          <p:nvSpPr>
            <p:cNvPr id="7" name="직사각형 6"/>
            <p:cNvSpPr/>
            <p:nvPr userDrawn="1"/>
          </p:nvSpPr>
          <p:spPr>
            <a:xfrm>
              <a:off x="0" y="0"/>
              <a:ext cx="9144000" cy="2857496"/>
            </a:xfrm>
            <a:prstGeom prst="rect">
              <a:avLst/>
            </a:prstGeom>
            <a:solidFill>
              <a:srgbClr val="070324"/>
            </a:solidFill>
            <a:ln w="9525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latinLnBrk="0" hangingPunct="0"/>
              <a:endParaRPr lang="ko-KR" altLang="en-US" dirty="0">
                <a:solidFill>
                  <a:srgbClr val="000000"/>
                </a:solidFill>
                <a:sym typeface="Calibri"/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1253241" y="2857496"/>
              <a:ext cx="1214630" cy="4340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" y="5"/>
                </a:cxn>
                <a:cxn ang="0">
                  <a:pos x="232" y="17"/>
                </a:cxn>
                <a:cxn ang="0">
                  <a:pos x="281" y="24"/>
                </a:cxn>
                <a:cxn ang="0">
                  <a:pos x="377" y="46"/>
                </a:cxn>
                <a:cxn ang="0">
                  <a:pos x="470" y="76"/>
                </a:cxn>
                <a:cxn ang="0">
                  <a:pos x="562" y="111"/>
                </a:cxn>
                <a:cxn ang="0">
                  <a:pos x="607" y="130"/>
                </a:cxn>
                <a:cxn ang="0">
                  <a:pos x="668" y="160"/>
                </a:cxn>
                <a:cxn ang="0">
                  <a:pos x="702" y="179"/>
                </a:cxn>
                <a:cxn ang="0">
                  <a:pos x="769" y="219"/>
                </a:cxn>
                <a:cxn ang="0">
                  <a:pos x="834" y="263"/>
                </a:cxn>
                <a:cxn ang="0">
                  <a:pos x="895" y="311"/>
                </a:cxn>
                <a:cxn ang="0">
                  <a:pos x="953" y="362"/>
                </a:cxn>
                <a:cxn ang="0">
                  <a:pos x="1009" y="417"/>
                </a:cxn>
                <a:cxn ang="0">
                  <a:pos x="1061" y="475"/>
                </a:cxn>
                <a:cxn ang="0">
                  <a:pos x="1111" y="536"/>
                </a:cxn>
                <a:cxn ang="0">
                  <a:pos x="1133" y="567"/>
                </a:cxn>
                <a:cxn ang="0">
                  <a:pos x="1173" y="624"/>
                </a:cxn>
                <a:cxn ang="0">
                  <a:pos x="1210" y="683"/>
                </a:cxn>
                <a:cxn ang="0">
                  <a:pos x="1244" y="743"/>
                </a:cxn>
                <a:cxn ang="0">
                  <a:pos x="1276" y="805"/>
                </a:cxn>
                <a:cxn ang="0">
                  <a:pos x="1290" y="836"/>
                </a:cxn>
                <a:cxn ang="0">
                  <a:pos x="1319" y="901"/>
                </a:cxn>
                <a:cxn ang="0">
                  <a:pos x="1331" y="934"/>
                </a:cxn>
                <a:cxn ang="0">
                  <a:pos x="1354" y="997"/>
                </a:cxn>
                <a:cxn ang="0">
                  <a:pos x="1369" y="1027"/>
                </a:cxn>
                <a:cxn ang="0">
                  <a:pos x="1389" y="1055"/>
                </a:cxn>
                <a:cxn ang="0">
                  <a:pos x="1395" y="1062"/>
                </a:cxn>
                <a:cxn ang="0">
                  <a:pos x="1408" y="1072"/>
                </a:cxn>
                <a:cxn ang="0">
                  <a:pos x="1418" y="1075"/>
                </a:cxn>
                <a:cxn ang="0">
                  <a:pos x="1424" y="1075"/>
                </a:cxn>
                <a:cxn ang="0">
                  <a:pos x="1433" y="1073"/>
                </a:cxn>
                <a:cxn ang="0">
                  <a:pos x="1451" y="1062"/>
                </a:cxn>
                <a:cxn ang="0">
                  <a:pos x="1465" y="1044"/>
                </a:cxn>
                <a:cxn ang="0">
                  <a:pos x="1481" y="1017"/>
                </a:cxn>
                <a:cxn ang="0">
                  <a:pos x="1489" y="1000"/>
                </a:cxn>
                <a:cxn ang="0">
                  <a:pos x="1510" y="948"/>
                </a:cxn>
                <a:cxn ang="0">
                  <a:pos x="1536" y="879"/>
                </a:cxn>
                <a:cxn ang="0">
                  <a:pos x="1551" y="844"/>
                </a:cxn>
                <a:cxn ang="0">
                  <a:pos x="1583" y="775"/>
                </a:cxn>
                <a:cxn ang="0">
                  <a:pos x="1601" y="742"/>
                </a:cxn>
                <a:cxn ang="0">
                  <a:pos x="1638" y="677"/>
                </a:cxn>
                <a:cxn ang="0">
                  <a:pos x="1679" y="613"/>
                </a:cxn>
                <a:cxn ang="0">
                  <a:pos x="1723" y="551"/>
                </a:cxn>
                <a:cxn ang="0">
                  <a:pos x="1770" y="492"/>
                </a:cxn>
                <a:cxn ang="0">
                  <a:pos x="1792" y="466"/>
                </a:cxn>
                <a:cxn ang="0">
                  <a:pos x="1836" y="418"/>
                </a:cxn>
                <a:cxn ang="0">
                  <a:pos x="1882" y="371"/>
                </a:cxn>
                <a:cxn ang="0">
                  <a:pos x="1932" y="327"/>
                </a:cxn>
                <a:cxn ang="0">
                  <a:pos x="1983" y="285"/>
                </a:cxn>
                <a:cxn ang="0">
                  <a:pos x="2036" y="246"/>
                </a:cxn>
                <a:cxn ang="0">
                  <a:pos x="2090" y="209"/>
                </a:cxn>
                <a:cxn ang="0">
                  <a:pos x="2147" y="175"/>
                </a:cxn>
                <a:cxn ang="0">
                  <a:pos x="2177" y="160"/>
                </a:cxn>
                <a:cxn ang="0">
                  <a:pos x="2237" y="130"/>
                </a:cxn>
                <a:cxn ang="0">
                  <a:pos x="2282" y="111"/>
                </a:cxn>
                <a:cxn ang="0">
                  <a:pos x="2374" y="76"/>
                </a:cxn>
                <a:cxn ang="0">
                  <a:pos x="2468" y="46"/>
                </a:cxn>
                <a:cxn ang="0">
                  <a:pos x="2563" y="24"/>
                </a:cxn>
                <a:cxn ang="0">
                  <a:pos x="2612" y="17"/>
                </a:cxn>
                <a:cxn ang="0">
                  <a:pos x="2728" y="5"/>
                </a:cxn>
                <a:cxn ang="0">
                  <a:pos x="2844" y="0"/>
                </a:cxn>
              </a:cxnLst>
              <a:rect l="0" t="0" r="r" b="b"/>
              <a:pathLst>
                <a:path w="2844" h="1075">
                  <a:moveTo>
                    <a:pt x="0" y="0"/>
                  </a:moveTo>
                  <a:lnTo>
                    <a:pt x="0" y="0"/>
                  </a:lnTo>
                  <a:lnTo>
                    <a:pt x="58" y="1"/>
                  </a:lnTo>
                  <a:lnTo>
                    <a:pt x="116" y="5"/>
                  </a:lnTo>
                  <a:lnTo>
                    <a:pt x="174" y="10"/>
                  </a:lnTo>
                  <a:lnTo>
                    <a:pt x="232" y="17"/>
                  </a:lnTo>
                  <a:lnTo>
                    <a:pt x="232" y="17"/>
                  </a:lnTo>
                  <a:lnTo>
                    <a:pt x="281" y="24"/>
                  </a:lnTo>
                  <a:lnTo>
                    <a:pt x="329" y="34"/>
                  </a:lnTo>
                  <a:lnTo>
                    <a:pt x="377" y="46"/>
                  </a:lnTo>
                  <a:lnTo>
                    <a:pt x="424" y="60"/>
                  </a:lnTo>
                  <a:lnTo>
                    <a:pt x="470" y="76"/>
                  </a:lnTo>
                  <a:lnTo>
                    <a:pt x="517" y="92"/>
                  </a:lnTo>
                  <a:lnTo>
                    <a:pt x="562" y="111"/>
                  </a:lnTo>
                  <a:lnTo>
                    <a:pt x="607" y="130"/>
                  </a:lnTo>
                  <a:lnTo>
                    <a:pt x="607" y="130"/>
                  </a:lnTo>
                  <a:lnTo>
                    <a:pt x="638" y="145"/>
                  </a:lnTo>
                  <a:lnTo>
                    <a:pt x="668" y="160"/>
                  </a:lnTo>
                  <a:lnTo>
                    <a:pt x="668" y="160"/>
                  </a:lnTo>
                  <a:lnTo>
                    <a:pt x="702" y="179"/>
                  </a:lnTo>
                  <a:lnTo>
                    <a:pt x="736" y="198"/>
                  </a:lnTo>
                  <a:lnTo>
                    <a:pt x="769" y="219"/>
                  </a:lnTo>
                  <a:lnTo>
                    <a:pt x="802" y="241"/>
                  </a:lnTo>
                  <a:lnTo>
                    <a:pt x="834" y="263"/>
                  </a:lnTo>
                  <a:lnTo>
                    <a:pt x="864" y="287"/>
                  </a:lnTo>
                  <a:lnTo>
                    <a:pt x="895" y="311"/>
                  </a:lnTo>
                  <a:lnTo>
                    <a:pt x="924" y="337"/>
                  </a:lnTo>
                  <a:lnTo>
                    <a:pt x="953" y="362"/>
                  </a:lnTo>
                  <a:lnTo>
                    <a:pt x="981" y="390"/>
                  </a:lnTo>
                  <a:lnTo>
                    <a:pt x="1009" y="417"/>
                  </a:lnTo>
                  <a:lnTo>
                    <a:pt x="1035" y="447"/>
                  </a:lnTo>
                  <a:lnTo>
                    <a:pt x="1061" y="475"/>
                  </a:lnTo>
                  <a:lnTo>
                    <a:pt x="1086" y="506"/>
                  </a:lnTo>
                  <a:lnTo>
                    <a:pt x="1111" y="536"/>
                  </a:lnTo>
                  <a:lnTo>
                    <a:pt x="1133" y="567"/>
                  </a:lnTo>
                  <a:lnTo>
                    <a:pt x="1133" y="567"/>
                  </a:lnTo>
                  <a:lnTo>
                    <a:pt x="1153" y="596"/>
                  </a:lnTo>
                  <a:lnTo>
                    <a:pt x="1173" y="624"/>
                  </a:lnTo>
                  <a:lnTo>
                    <a:pt x="1192" y="654"/>
                  </a:lnTo>
                  <a:lnTo>
                    <a:pt x="1210" y="683"/>
                  </a:lnTo>
                  <a:lnTo>
                    <a:pt x="1228" y="713"/>
                  </a:lnTo>
                  <a:lnTo>
                    <a:pt x="1244" y="743"/>
                  </a:lnTo>
                  <a:lnTo>
                    <a:pt x="1261" y="774"/>
                  </a:lnTo>
                  <a:lnTo>
                    <a:pt x="1276" y="805"/>
                  </a:lnTo>
                  <a:lnTo>
                    <a:pt x="1276" y="805"/>
                  </a:lnTo>
                  <a:lnTo>
                    <a:pt x="1290" y="836"/>
                  </a:lnTo>
                  <a:lnTo>
                    <a:pt x="1304" y="869"/>
                  </a:lnTo>
                  <a:lnTo>
                    <a:pt x="1319" y="901"/>
                  </a:lnTo>
                  <a:lnTo>
                    <a:pt x="1331" y="934"/>
                  </a:lnTo>
                  <a:lnTo>
                    <a:pt x="1331" y="934"/>
                  </a:lnTo>
                  <a:lnTo>
                    <a:pt x="1343" y="965"/>
                  </a:lnTo>
                  <a:lnTo>
                    <a:pt x="1354" y="997"/>
                  </a:lnTo>
                  <a:lnTo>
                    <a:pt x="1361" y="1012"/>
                  </a:lnTo>
                  <a:lnTo>
                    <a:pt x="1369" y="1027"/>
                  </a:lnTo>
                  <a:lnTo>
                    <a:pt x="1378" y="1041"/>
                  </a:lnTo>
                  <a:lnTo>
                    <a:pt x="1389" y="1055"/>
                  </a:lnTo>
                  <a:lnTo>
                    <a:pt x="1389" y="1055"/>
                  </a:lnTo>
                  <a:lnTo>
                    <a:pt x="1395" y="1062"/>
                  </a:lnTo>
                  <a:lnTo>
                    <a:pt x="1404" y="1068"/>
                  </a:lnTo>
                  <a:lnTo>
                    <a:pt x="1408" y="1072"/>
                  </a:lnTo>
                  <a:lnTo>
                    <a:pt x="1414" y="1074"/>
                  </a:lnTo>
                  <a:lnTo>
                    <a:pt x="1418" y="1075"/>
                  </a:lnTo>
                  <a:lnTo>
                    <a:pt x="1424" y="1075"/>
                  </a:lnTo>
                  <a:lnTo>
                    <a:pt x="1424" y="1075"/>
                  </a:lnTo>
                  <a:lnTo>
                    <a:pt x="1428" y="1074"/>
                  </a:lnTo>
                  <a:lnTo>
                    <a:pt x="1433" y="1073"/>
                  </a:lnTo>
                  <a:lnTo>
                    <a:pt x="1442" y="1068"/>
                  </a:lnTo>
                  <a:lnTo>
                    <a:pt x="1451" y="1062"/>
                  </a:lnTo>
                  <a:lnTo>
                    <a:pt x="1459" y="1053"/>
                  </a:lnTo>
                  <a:lnTo>
                    <a:pt x="1465" y="1044"/>
                  </a:lnTo>
                  <a:lnTo>
                    <a:pt x="1471" y="1034"/>
                  </a:lnTo>
                  <a:lnTo>
                    <a:pt x="1481" y="1017"/>
                  </a:lnTo>
                  <a:lnTo>
                    <a:pt x="1481" y="1017"/>
                  </a:lnTo>
                  <a:lnTo>
                    <a:pt x="1489" y="1000"/>
                  </a:lnTo>
                  <a:lnTo>
                    <a:pt x="1496" y="983"/>
                  </a:lnTo>
                  <a:lnTo>
                    <a:pt x="1510" y="948"/>
                  </a:lnTo>
                  <a:lnTo>
                    <a:pt x="1522" y="913"/>
                  </a:lnTo>
                  <a:lnTo>
                    <a:pt x="1536" y="879"/>
                  </a:lnTo>
                  <a:lnTo>
                    <a:pt x="1536" y="879"/>
                  </a:lnTo>
                  <a:lnTo>
                    <a:pt x="1551" y="844"/>
                  </a:lnTo>
                  <a:lnTo>
                    <a:pt x="1567" y="809"/>
                  </a:lnTo>
                  <a:lnTo>
                    <a:pt x="1583" y="775"/>
                  </a:lnTo>
                  <a:lnTo>
                    <a:pt x="1601" y="742"/>
                  </a:lnTo>
                  <a:lnTo>
                    <a:pt x="1601" y="742"/>
                  </a:lnTo>
                  <a:lnTo>
                    <a:pt x="1620" y="709"/>
                  </a:lnTo>
                  <a:lnTo>
                    <a:pt x="1638" y="677"/>
                  </a:lnTo>
                  <a:lnTo>
                    <a:pt x="1658" y="645"/>
                  </a:lnTo>
                  <a:lnTo>
                    <a:pt x="1679" y="613"/>
                  </a:lnTo>
                  <a:lnTo>
                    <a:pt x="1701" y="581"/>
                  </a:lnTo>
                  <a:lnTo>
                    <a:pt x="1723" y="551"/>
                  </a:lnTo>
                  <a:lnTo>
                    <a:pt x="1747" y="521"/>
                  </a:lnTo>
                  <a:lnTo>
                    <a:pt x="1770" y="492"/>
                  </a:lnTo>
                  <a:lnTo>
                    <a:pt x="1770" y="492"/>
                  </a:lnTo>
                  <a:lnTo>
                    <a:pt x="1792" y="466"/>
                  </a:lnTo>
                  <a:lnTo>
                    <a:pt x="1813" y="442"/>
                  </a:lnTo>
                  <a:lnTo>
                    <a:pt x="1836" y="418"/>
                  </a:lnTo>
                  <a:lnTo>
                    <a:pt x="1859" y="394"/>
                  </a:lnTo>
                  <a:lnTo>
                    <a:pt x="1882" y="371"/>
                  </a:lnTo>
                  <a:lnTo>
                    <a:pt x="1906" y="349"/>
                  </a:lnTo>
                  <a:lnTo>
                    <a:pt x="1932" y="327"/>
                  </a:lnTo>
                  <a:lnTo>
                    <a:pt x="1957" y="306"/>
                  </a:lnTo>
                  <a:lnTo>
                    <a:pt x="1983" y="285"/>
                  </a:lnTo>
                  <a:lnTo>
                    <a:pt x="2009" y="265"/>
                  </a:lnTo>
                  <a:lnTo>
                    <a:pt x="2036" y="246"/>
                  </a:lnTo>
                  <a:lnTo>
                    <a:pt x="2063" y="228"/>
                  </a:lnTo>
                  <a:lnTo>
                    <a:pt x="2090" y="209"/>
                  </a:lnTo>
                  <a:lnTo>
                    <a:pt x="2119" y="192"/>
                  </a:lnTo>
                  <a:lnTo>
                    <a:pt x="2147" y="175"/>
                  </a:lnTo>
                  <a:lnTo>
                    <a:pt x="2177" y="160"/>
                  </a:lnTo>
                  <a:lnTo>
                    <a:pt x="2177" y="160"/>
                  </a:lnTo>
                  <a:lnTo>
                    <a:pt x="2206" y="145"/>
                  </a:lnTo>
                  <a:lnTo>
                    <a:pt x="2237" y="130"/>
                  </a:lnTo>
                  <a:lnTo>
                    <a:pt x="2237" y="130"/>
                  </a:lnTo>
                  <a:lnTo>
                    <a:pt x="2282" y="111"/>
                  </a:lnTo>
                  <a:lnTo>
                    <a:pt x="2328" y="92"/>
                  </a:lnTo>
                  <a:lnTo>
                    <a:pt x="2374" y="76"/>
                  </a:lnTo>
                  <a:lnTo>
                    <a:pt x="2421" y="60"/>
                  </a:lnTo>
                  <a:lnTo>
                    <a:pt x="2468" y="46"/>
                  </a:lnTo>
                  <a:lnTo>
                    <a:pt x="2515" y="34"/>
                  </a:lnTo>
                  <a:lnTo>
                    <a:pt x="2563" y="24"/>
                  </a:lnTo>
                  <a:lnTo>
                    <a:pt x="2612" y="17"/>
                  </a:lnTo>
                  <a:lnTo>
                    <a:pt x="2612" y="17"/>
                  </a:lnTo>
                  <a:lnTo>
                    <a:pt x="2670" y="10"/>
                  </a:lnTo>
                  <a:lnTo>
                    <a:pt x="2728" y="5"/>
                  </a:lnTo>
                  <a:lnTo>
                    <a:pt x="2786" y="1"/>
                  </a:lnTo>
                  <a:lnTo>
                    <a:pt x="2844" y="0"/>
                  </a:lnTo>
                </a:path>
              </a:pathLst>
            </a:custGeom>
            <a:solidFill>
              <a:srgbClr val="070324"/>
            </a:solidFill>
            <a:ln w="9525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 latinLnBrk="0" hangingPunct="0"/>
              <a:endParaRPr lang="ko-KR" altLang="en-US" dirty="0">
                <a:solidFill>
                  <a:srgbClr val="000000"/>
                </a:solidFill>
                <a:sym typeface="Calibri"/>
              </a:endParaRPr>
            </a:p>
          </p:txBody>
        </p:sp>
      </p:grpSp>
      <p:pic>
        <p:nvPicPr>
          <p:cNvPr id="28" name="Picture 3" descr="C:\Users\user\Desktop\작업_디자인\PSD 소스\기업PR2.png"/>
          <p:cNvPicPr>
            <a:picLocks noChangeAspect="1" noChangeArrowheads="1"/>
          </p:cNvPicPr>
          <p:nvPr userDrawn="1"/>
        </p:nvPicPr>
        <p:blipFill>
          <a:blip r:embed="rId3" cstate="print"/>
          <a:srcRect r="3424" b="32716"/>
          <a:stretch>
            <a:fillRect/>
          </a:stretch>
        </p:blipFill>
        <p:spPr bwMode="auto">
          <a:xfrm>
            <a:off x="6083472" y="116632"/>
            <a:ext cx="3060528" cy="2736304"/>
          </a:xfrm>
          <a:prstGeom prst="rect">
            <a:avLst/>
          </a:prstGeom>
          <a:noFill/>
        </p:spPr>
      </p:pic>
      <p:grpSp>
        <p:nvGrpSpPr>
          <p:cNvPr id="4" name="그룹 14"/>
          <p:cNvGrpSpPr/>
          <p:nvPr userDrawn="1"/>
        </p:nvGrpSpPr>
        <p:grpSpPr>
          <a:xfrm>
            <a:off x="1797387" y="4071150"/>
            <a:ext cx="147953" cy="147953"/>
            <a:chOff x="1868825" y="3903571"/>
            <a:chExt cx="147953" cy="147953"/>
          </a:xfrm>
        </p:grpSpPr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868825" y="3903571"/>
              <a:ext cx="147952" cy="1479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8"/>
                </a:cxn>
                <a:cxn ang="0">
                  <a:pos x="258" y="258"/>
                </a:cxn>
                <a:cxn ang="0">
                  <a:pos x="258" y="122"/>
                </a:cxn>
                <a:cxn ang="0">
                  <a:pos x="13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8" h="258">
                  <a:moveTo>
                    <a:pt x="0" y="0"/>
                  </a:moveTo>
                  <a:lnTo>
                    <a:pt x="0" y="258"/>
                  </a:lnTo>
                  <a:lnTo>
                    <a:pt x="258" y="258"/>
                  </a:lnTo>
                  <a:lnTo>
                    <a:pt x="258" y="122"/>
                  </a:lnTo>
                  <a:lnTo>
                    <a:pt x="13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1946816" y="3903571"/>
              <a:ext cx="69962" cy="69962"/>
            </a:xfrm>
            <a:custGeom>
              <a:avLst/>
              <a:gdLst/>
              <a:ahLst/>
              <a:cxnLst>
                <a:cxn ang="0">
                  <a:pos x="122" y="122"/>
                </a:cxn>
                <a:cxn ang="0">
                  <a:pos x="0" y="0"/>
                </a:cxn>
                <a:cxn ang="0">
                  <a:pos x="0" y="122"/>
                </a:cxn>
                <a:cxn ang="0">
                  <a:pos x="122" y="122"/>
                </a:cxn>
                <a:cxn ang="0">
                  <a:pos x="122" y="122"/>
                </a:cxn>
              </a:cxnLst>
              <a:rect l="0" t="0" r="r" b="b"/>
              <a:pathLst>
                <a:path w="122" h="122">
                  <a:moveTo>
                    <a:pt x="122" y="122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122" y="122"/>
                  </a:lnTo>
                  <a:lnTo>
                    <a:pt x="122" y="122"/>
                  </a:lnTo>
                  <a:close/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5" name="그룹 15"/>
          <p:cNvGrpSpPr/>
          <p:nvPr userDrawn="1"/>
        </p:nvGrpSpPr>
        <p:grpSpPr>
          <a:xfrm>
            <a:off x="1793946" y="4501213"/>
            <a:ext cx="157128" cy="158275"/>
            <a:chOff x="1865384" y="4280908"/>
            <a:chExt cx="157128" cy="158275"/>
          </a:xfrm>
        </p:grpSpPr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1865384" y="4280908"/>
              <a:ext cx="157128" cy="158275"/>
            </a:xfrm>
            <a:custGeom>
              <a:avLst/>
              <a:gdLst/>
              <a:ahLst/>
              <a:cxnLst>
                <a:cxn ang="0">
                  <a:pos x="274" y="138"/>
                </a:cxn>
                <a:cxn ang="0">
                  <a:pos x="272" y="166"/>
                </a:cxn>
                <a:cxn ang="0">
                  <a:pos x="264" y="192"/>
                </a:cxn>
                <a:cxn ang="0">
                  <a:pos x="250" y="214"/>
                </a:cxn>
                <a:cxn ang="0">
                  <a:pos x="234" y="234"/>
                </a:cxn>
                <a:cxn ang="0">
                  <a:pos x="214" y="252"/>
                </a:cxn>
                <a:cxn ang="0">
                  <a:pos x="190" y="264"/>
                </a:cxn>
                <a:cxn ang="0">
                  <a:pos x="164" y="272"/>
                </a:cxn>
                <a:cxn ang="0">
                  <a:pos x="136" y="276"/>
                </a:cxn>
                <a:cxn ang="0">
                  <a:pos x="122" y="274"/>
                </a:cxn>
                <a:cxn ang="0">
                  <a:pos x="96" y="268"/>
                </a:cxn>
                <a:cxn ang="0">
                  <a:pos x="72" y="258"/>
                </a:cxn>
                <a:cxn ang="0">
                  <a:pos x="50" y="244"/>
                </a:cxn>
                <a:cxn ang="0">
                  <a:pos x="30" y="226"/>
                </a:cxn>
                <a:cxn ang="0">
                  <a:pos x="16" y="204"/>
                </a:cxn>
                <a:cxn ang="0">
                  <a:pos x="6" y="178"/>
                </a:cxn>
                <a:cxn ang="0">
                  <a:pos x="0" y="152"/>
                </a:cxn>
                <a:cxn ang="0">
                  <a:pos x="0" y="138"/>
                </a:cxn>
                <a:cxn ang="0">
                  <a:pos x="2" y="110"/>
                </a:cxn>
                <a:cxn ang="0">
                  <a:pos x="10" y="84"/>
                </a:cxn>
                <a:cxn ang="0">
                  <a:pos x="22" y="60"/>
                </a:cxn>
                <a:cxn ang="0">
                  <a:pos x="40" y="40"/>
                </a:cxn>
                <a:cxn ang="0">
                  <a:pos x="60" y="24"/>
                </a:cxn>
                <a:cxn ang="0">
                  <a:pos x="84" y="12"/>
                </a:cxn>
                <a:cxn ang="0">
                  <a:pos x="110" y="4"/>
                </a:cxn>
                <a:cxn ang="0">
                  <a:pos x="136" y="0"/>
                </a:cxn>
                <a:cxn ang="0">
                  <a:pos x="150" y="2"/>
                </a:cxn>
                <a:cxn ang="0">
                  <a:pos x="178" y="6"/>
                </a:cxn>
                <a:cxn ang="0">
                  <a:pos x="202" y="16"/>
                </a:cxn>
                <a:cxn ang="0">
                  <a:pos x="224" y="32"/>
                </a:cxn>
                <a:cxn ang="0">
                  <a:pos x="242" y="50"/>
                </a:cxn>
                <a:cxn ang="0">
                  <a:pos x="258" y="72"/>
                </a:cxn>
                <a:cxn ang="0">
                  <a:pos x="268" y="96"/>
                </a:cxn>
                <a:cxn ang="0">
                  <a:pos x="274" y="124"/>
                </a:cxn>
                <a:cxn ang="0">
                  <a:pos x="274" y="138"/>
                </a:cxn>
              </a:cxnLst>
              <a:rect l="0" t="0" r="r" b="b"/>
              <a:pathLst>
                <a:path w="274" h="276">
                  <a:moveTo>
                    <a:pt x="274" y="138"/>
                  </a:moveTo>
                  <a:lnTo>
                    <a:pt x="274" y="138"/>
                  </a:lnTo>
                  <a:lnTo>
                    <a:pt x="274" y="152"/>
                  </a:lnTo>
                  <a:lnTo>
                    <a:pt x="272" y="166"/>
                  </a:lnTo>
                  <a:lnTo>
                    <a:pt x="268" y="178"/>
                  </a:lnTo>
                  <a:lnTo>
                    <a:pt x="264" y="192"/>
                  </a:lnTo>
                  <a:lnTo>
                    <a:pt x="258" y="204"/>
                  </a:lnTo>
                  <a:lnTo>
                    <a:pt x="250" y="214"/>
                  </a:lnTo>
                  <a:lnTo>
                    <a:pt x="242" y="226"/>
                  </a:lnTo>
                  <a:lnTo>
                    <a:pt x="234" y="234"/>
                  </a:lnTo>
                  <a:lnTo>
                    <a:pt x="224" y="244"/>
                  </a:lnTo>
                  <a:lnTo>
                    <a:pt x="214" y="252"/>
                  </a:lnTo>
                  <a:lnTo>
                    <a:pt x="202" y="258"/>
                  </a:lnTo>
                  <a:lnTo>
                    <a:pt x="190" y="264"/>
                  </a:lnTo>
                  <a:lnTo>
                    <a:pt x="178" y="268"/>
                  </a:lnTo>
                  <a:lnTo>
                    <a:pt x="164" y="272"/>
                  </a:lnTo>
                  <a:lnTo>
                    <a:pt x="150" y="274"/>
                  </a:lnTo>
                  <a:lnTo>
                    <a:pt x="136" y="276"/>
                  </a:lnTo>
                  <a:lnTo>
                    <a:pt x="136" y="276"/>
                  </a:lnTo>
                  <a:lnTo>
                    <a:pt x="122" y="274"/>
                  </a:lnTo>
                  <a:lnTo>
                    <a:pt x="110" y="272"/>
                  </a:lnTo>
                  <a:lnTo>
                    <a:pt x="96" y="268"/>
                  </a:lnTo>
                  <a:lnTo>
                    <a:pt x="84" y="264"/>
                  </a:lnTo>
                  <a:lnTo>
                    <a:pt x="72" y="258"/>
                  </a:lnTo>
                  <a:lnTo>
                    <a:pt x="60" y="252"/>
                  </a:lnTo>
                  <a:lnTo>
                    <a:pt x="50" y="244"/>
                  </a:lnTo>
                  <a:lnTo>
                    <a:pt x="40" y="234"/>
                  </a:lnTo>
                  <a:lnTo>
                    <a:pt x="30" y="226"/>
                  </a:lnTo>
                  <a:lnTo>
                    <a:pt x="22" y="214"/>
                  </a:lnTo>
                  <a:lnTo>
                    <a:pt x="16" y="204"/>
                  </a:lnTo>
                  <a:lnTo>
                    <a:pt x="10" y="192"/>
                  </a:lnTo>
                  <a:lnTo>
                    <a:pt x="6" y="178"/>
                  </a:lnTo>
                  <a:lnTo>
                    <a:pt x="2" y="166"/>
                  </a:lnTo>
                  <a:lnTo>
                    <a:pt x="0" y="15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0" y="124"/>
                  </a:lnTo>
                  <a:lnTo>
                    <a:pt x="2" y="110"/>
                  </a:lnTo>
                  <a:lnTo>
                    <a:pt x="6" y="96"/>
                  </a:lnTo>
                  <a:lnTo>
                    <a:pt x="10" y="84"/>
                  </a:lnTo>
                  <a:lnTo>
                    <a:pt x="16" y="72"/>
                  </a:lnTo>
                  <a:lnTo>
                    <a:pt x="22" y="60"/>
                  </a:lnTo>
                  <a:lnTo>
                    <a:pt x="30" y="50"/>
                  </a:lnTo>
                  <a:lnTo>
                    <a:pt x="40" y="40"/>
                  </a:lnTo>
                  <a:lnTo>
                    <a:pt x="50" y="32"/>
                  </a:lnTo>
                  <a:lnTo>
                    <a:pt x="60" y="24"/>
                  </a:lnTo>
                  <a:lnTo>
                    <a:pt x="72" y="16"/>
                  </a:lnTo>
                  <a:lnTo>
                    <a:pt x="84" y="12"/>
                  </a:lnTo>
                  <a:lnTo>
                    <a:pt x="96" y="6"/>
                  </a:lnTo>
                  <a:lnTo>
                    <a:pt x="110" y="4"/>
                  </a:lnTo>
                  <a:lnTo>
                    <a:pt x="122" y="2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4" y="4"/>
                  </a:lnTo>
                  <a:lnTo>
                    <a:pt x="178" y="6"/>
                  </a:lnTo>
                  <a:lnTo>
                    <a:pt x="190" y="12"/>
                  </a:lnTo>
                  <a:lnTo>
                    <a:pt x="202" y="16"/>
                  </a:lnTo>
                  <a:lnTo>
                    <a:pt x="214" y="24"/>
                  </a:lnTo>
                  <a:lnTo>
                    <a:pt x="224" y="32"/>
                  </a:lnTo>
                  <a:lnTo>
                    <a:pt x="234" y="40"/>
                  </a:lnTo>
                  <a:lnTo>
                    <a:pt x="242" y="50"/>
                  </a:lnTo>
                  <a:lnTo>
                    <a:pt x="250" y="60"/>
                  </a:lnTo>
                  <a:lnTo>
                    <a:pt x="258" y="72"/>
                  </a:lnTo>
                  <a:lnTo>
                    <a:pt x="264" y="84"/>
                  </a:lnTo>
                  <a:lnTo>
                    <a:pt x="268" y="96"/>
                  </a:lnTo>
                  <a:lnTo>
                    <a:pt x="272" y="110"/>
                  </a:lnTo>
                  <a:lnTo>
                    <a:pt x="274" y="124"/>
                  </a:lnTo>
                  <a:lnTo>
                    <a:pt x="274" y="138"/>
                  </a:lnTo>
                  <a:lnTo>
                    <a:pt x="274" y="138"/>
                  </a:lnTo>
                  <a:lnTo>
                    <a:pt x="274" y="138"/>
                  </a:lnTo>
                  <a:close/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1943375" y="4323344"/>
              <a:ext cx="44730" cy="412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"/>
                </a:cxn>
                <a:cxn ang="0">
                  <a:pos x="78" y="72"/>
                </a:cxn>
              </a:cxnLst>
              <a:rect l="0" t="0" r="r" b="b"/>
              <a:pathLst>
                <a:path w="78" h="72">
                  <a:moveTo>
                    <a:pt x="0" y="0"/>
                  </a:moveTo>
                  <a:lnTo>
                    <a:pt x="0" y="72"/>
                  </a:lnTo>
                  <a:lnTo>
                    <a:pt x="78" y="72"/>
                  </a:lnTo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6" name="그룹 16"/>
          <p:cNvGrpSpPr/>
          <p:nvPr userDrawn="1"/>
        </p:nvGrpSpPr>
        <p:grpSpPr>
          <a:xfrm>
            <a:off x="1785918" y="3611268"/>
            <a:ext cx="164009" cy="177772"/>
            <a:chOff x="1857356" y="3511325"/>
            <a:chExt cx="164009" cy="177772"/>
          </a:xfrm>
        </p:grpSpPr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1891763" y="3511325"/>
              <a:ext cx="95194" cy="95194"/>
            </a:xfrm>
            <a:custGeom>
              <a:avLst/>
              <a:gdLst/>
              <a:ahLst/>
              <a:cxnLst>
                <a:cxn ang="0">
                  <a:pos x="166" y="84"/>
                </a:cxn>
                <a:cxn ang="0">
                  <a:pos x="166" y="84"/>
                </a:cxn>
                <a:cxn ang="0">
                  <a:pos x="164" y="100"/>
                </a:cxn>
                <a:cxn ang="0">
                  <a:pos x="160" y="116"/>
                </a:cxn>
                <a:cxn ang="0">
                  <a:pos x="152" y="130"/>
                </a:cxn>
                <a:cxn ang="0">
                  <a:pos x="142" y="142"/>
                </a:cxn>
                <a:cxn ang="0">
                  <a:pos x="130" y="152"/>
                </a:cxn>
                <a:cxn ang="0">
                  <a:pos x="116" y="160"/>
                </a:cxn>
                <a:cxn ang="0">
                  <a:pos x="100" y="166"/>
                </a:cxn>
                <a:cxn ang="0">
                  <a:pos x="82" y="166"/>
                </a:cxn>
                <a:cxn ang="0">
                  <a:pos x="82" y="166"/>
                </a:cxn>
                <a:cxn ang="0">
                  <a:pos x="66" y="166"/>
                </a:cxn>
                <a:cxn ang="0">
                  <a:pos x="50" y="160"/>
                </a:cxn>
                <a:cxn ang="0">
                  <a:pos x="36" y="152"/>
                </a:cxn>
                <a:cxn ang="0">
                  <a:pos x="24" y="142"/>
                </a:cxn>
                <a:cxn ang="0">
                  <a:pos x="14" y="130"/>
                </a:cxn>
                <a:cxn ang="0">
                  <a:pos x="6" y="116"/>
                </a:cxn>
                <a:cxn ang="0">
                  <a:pos x="0" y="100"/>
                </a:cxn>
                <a:cxn ang="0">
                  <a:pos x="0" y="84"/>
                </a:cxn>
                <a:cxn ang="0">
                  <a:pos x="0" y="84"/>
                </a:cxn>
                <a:cxn ang="0">
                  <a:pos x="0" y="66"/>
                </a:cxn>
                <a:cxn ang="0">
                  <a:pos x="6" y="50"/>
                </a:cxn>
                <a:cxn ang="0">
                  <a:pos x="14" y="36"/>
                </a:cxn>
                <a:cxn ang="0">
                  <a:pos x="24" y="24"/>
                </a:cxn>
                <a:cxn ang="0">
                  <a:pos x="36" y="14"/>
                </a:cxn>
                <a:cxn ang="0">
                  <a:pos x="50" y="6"/>
                </a:cxn>
                <a:cxn ang="0">
                  <a:pos x="66" y="2"/>
                </a:cxn>
                <a:cxn ang="0">
                  <a:pos x="82" y="0"/>
                </a:cxn>
                <a:cxn ang="0">
                  <a:pos x="82" y="0"/>
                </a:cxn>
                <a:cxn ang="0">
                  <a:pos x="100" y="2"/>
                </a:cxn>
                <a:cxn ang="0">
                  <a:pos x="116" y="6"/>
                </a:cxn>
                <a:cxn ang="0">
                  <a:pos x="130" y="14"/>
                </a:cxn>
                <a:cxn ang="0">
                  <a:pos x="142" y="24"/>
                </a:cxn>
                <a:cxn ang="0">
                  <a:pos x="152" y="36"/>
                </a:cxn>
                <a:cxn ang="0">
                  <a:pos x="160" y="50"/>
                </a:cxn>
                <a:cxn ang="0">
                  <a:pos x="164" y="66"/>
                </a:cxn>
                <a:cxn ang="0">
                  <a:pos x="166" y="84"/>
                </a:cxn>
                <a:cxn ang="0">
                  <a:pos x="166" y="84"/>
                </a:cxn>
                <a:cxn ang="0">
                  <a:pos x="166" y="84"/>
                </a:cxn>
              </a:cxnLst>
              <a:rect l="0" t="0" r="r" b="b"/>
              <a:pathLst>
                <a:path w="166" h="166">
                  <a:moveTo>
                    <a:pt x="166" y="84"/>
                  </a:moveTo>
                  <a:lnTo>
                    <a:pt x="166" y="84"/>
                  </a:lnTo>
                  <a:lnTo>
                    <a:pt x="164" y="100"/>
                  </a:lnTo>
                  <a:lnTo>
                    <a:pt x="160" y="116"/>
                  </a:lnTo>
                  <a:lnTo>
                    <a:pt x="152" y="130"/>
                  </a:lnTo>
                  <a:lnTo>
                    <a:pt x="142" y="142"/>
                  </a:lnTo>
                  <a:lnTo>
                    <a:pt x="130" y="152"/>
                  </a:lnTo>
                  <a:lnTo>
                    <a:pt x="116" y="160"/>
                  </a:lnTo>
                  <a:lnTo>
                    <a:pt x="100" y="166"/>
                  </a:lnTo>
                  <a:lnTo>
                    <a:pt x="82" y="166"/>
                  </a:lnTo>
                  <a:lnTo>
                    <a:pt x="82" y="166"/>
                  </a:lnTo>
                  <a:lnTo>
                    <a:pt x="66" y="166"/>
                  </a:lnTo>
                  <a:lnTo>
                    <a:pt x="50" y="160"/>
                  </a:lnTo>
                  <a:lnTo>
                    <a:pt x="36" y="152"/>
                  </a:lnTo>
                  <a:lnTo>
                    <a:pt x="24" y="142"/>
                  </a:lnTo>
                  <a:lnTo>
                    <a:pt x="14" y="130"/>
                  </a:lnTo>
                  <a:lnTo>
                    <a:pt x="6" y="116"/>
                  </a:lnTo>
                  <a:lnTo>
                    <a:pt x="0" y="100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100" y="2"/>
                  </a:lnTo>
                  <a:lnTo>
                    <a:pt x="116" y="6"/>
                  </a:lnTo>
                  <a:lnTo>
                    <a:pt x="130" y="14"/>
                  </a:lnTo>
                  <a:lnTo>
                    <a:pt x="142" y="24"/>
                  </a:lnTo>
                  <a:lnTo>
                    <a:pt x="152" y="36"/>
                  </a:lnTo>
                  <a:lnTo>
                    <a:pt x="160" y="50"/>
                  </a:lnTo>
                  <a:lnTo>
                    <a:pt x="164" y="66"/>
                  </a:lnTo>
                  <a:lnTo>
                    <a:pt x="166" y="84"/>
                  </a:lnTo>
                  <a:lnTo>
                    <a:pt x="166" y="84"/>
                  </a:lnTo>
                  <a:lnTo>
                    <a:pt x="166" y="84"/>
                  </a:lnTo>
                  <a:close/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1857356" y="3606519"/>
              <a:ext cx="164009" cy="82578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0" y="144"/>
                </a:cxn>
                <a:cxn ang="0">
                  <a:pos x="0" y="128"/>
                </a:cxn>
                <a:cxn ang="0">
                  <a:pos x="2" y="114"/>
                </a:cxn>
                <a:cxn ang="0">
                  <a:pos x="6" y="102"/>
                </a:cxn>
                <a:cxn ang="0">
                  <a:pos x="10" y="88"/>
                </a:cxn>
                <a:cxn ang="0">
                  <a:pos x="16" y="76"/>
                </a:cxn>
                <a:cxn ang="0">
                  <a:pos x="24" y="64"/>
                </a:cxn>
                <a:cxn ang="0">
                  <a:pos x="32" y="52"/>
                </a:cxn>
                <a:cxn ang="0">
                  <a:pos x="42" y="42"/>
                </a:cxn>
                <a:cxn ang="0">
                  <a:pos x="52" y="34"/>
                </a:cxn>
                <a:cxn ang="0">
                  <a:pos x="62" y="24"/>
                </a:cxn>
                <a:cxn ang="0">
                  <a:pos x="74" y="18"/>
                </a:cxn>
                <a:cxn ang="0">
                  <a:pos x="86" y="12"/>
                </a:cxn>
                <a:cxn ang="0">
                  <a:pos x="100" y="6"/>
                </a:cxn>
                <a:cxn ang="0">
                  <a:pos x="114" y="4"/>
                </a:cxn>
                <a:cxn ang="0">
                  <a:pos x="128" y="2"/>
                </a:cxn>
                <a:cxn ang="0">
                  <a:pos x="142" y="0"/>
                </a:cxn>
                <a:cxn ang="0">
                  <a:pos x="142" y="0"/>
                </a:cxn>
                <a:cxn ang="0">
                  <a:pos x="158" y="2"/>
                </a:cxn>
                <a:cxn ang="0">
                  <a:pos x="172" y="4"/>
                </a:cxn>
                <a:cxn ang="0">
                  <a:pos x="186" y="6"/>
                </a:cxn>
                <a:cxn ang="0">
                  <a:pos x="198" y="12"/>
                </a:cxn>
                <a:cxn ang="0">
                  <a:pos x="210" y="18"/>
                </a:cxn>
                <a:cxn ang="0">
                  <a:pos x="222" y="24"/>
                </a:cxn>
                <a:cxn ang="0">
                  <a:pos x="234" y="34"/>
                </a:cxn>
                <a:cxn ang="0">
                  <a:pos x="244" y="42"/>
                </a:cxn>
                <a:cxn ang="0">
                  <a:pos x="252" y="52"/>
                </a:cxn>
                <a:cxn ang="0">
                  <a:pos x="262" y="64"/>
                </a:cxn>
                <a:cxn ang="0">
                  <a:pos x="268" y="76"/>
                </a:cxn>
                <a:cxn ang="0">
                  <a:pos x="274" y="88"/>
                </a:cxn>
                <a:cxn ang="0">
                  <a:pos x="280" y="102"/>
                </a:cxn>
                <a:cxn ang="0">
                  <a:pos x="282" y="114"/>
                </a:cxn>
                <a:cxn ang="0">
                  <a:pos x="284" y="128"/>
                </a:cxn>
                <a:cxn ang="0">
                  <a:pos x="286" y="144"/>
                </a:cxn>
              </a:cxnLst>
              <a:rect l="0" t="0" r="r" b="b"/>
              <a:pathLst>
                <a:path w="286" h="144">
                  <a:moveTo>
                    <a:pt x="0" y="144"/>
                  </a:moveTo>
                  <a:lnTo>
                    <a:pt x="0" y="144"/>
                  </a:lnTo>
                  <a:lnTo>
                    <a:pt x="0" y="128"/>
                  </a:lnTo>
                  <a:lnTo>
                    <a:pt x="2" y="114"/>
                  </a:lnTo>
                  <a:lnTo>
                    <a:pt x="6" y="102"/>
                  </a:lnTo>
                  <a:lnTo>
                    <a:pt x="10" y="88"/>
                  </a:lnTo>
                  <a:lnTo>
                    <a:pt x="16" y="76"/>
                  </a:lnTo>
                  <a:lnTo>
                    <a:pt x="24" y="64"/>
                  </a:lnTo>
                  <a:lnTo>
                    <a:pt x="32" y="52"/>
                  </a:lnTo>
                  <a:lnTo>
                    <a:pt x="42" y="42"/>
                  </a:lnTo>
                  <a:lnTo>
                    <a:pt x="52" y="34"/>
                  </a:lnTo>
                  <a:lnTo>
                    <a:pt x="62" y="24"/>
                  </a:lnTo>
                  <a:lnTo>
                    <a:pt x="74" y="18"/>
                  </a:lnTo>
                  <a:lnTo>
                    <a:pt x="86" y="12"/>
                  </a:lnTo>
                  <a:lnTo>
                    <a:pt x="100" y="6"/>
                  </a:lnTo>
                  <a:lnTo>
                    <a:pt x="114" y="4"/>
                  </a:lnTo>
                  <a:lnTo>
                    <a:pt x="128" y="2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8" y="2"/>
                  </a:lnTo>
                  <a:lnTo>
                    <a:pt x="172" y="4"/>
                  </a:lnTo>
                  <a:lnTo>
                    <a:pt x="186" y="6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4"/>
                  </a:lnTo>
                  <a:lnTo>
                    <a:pt x="234" y="34"/>
                  </a:lnTo>
                  <a:lnTo>
                    <a:pt x="244" y="42"/>
                  </a:lnTo>
                  <a:lnTo>
                    <a:pt x="252" y="52"/>
                  </a:lnTo>
                  <a:lnTo>
                    <a:pt x="262" y="64"/>
                  </a:lnTo>
                  <a:lnTo>
                    <a:pt x="268" y="76"/>
                  </a:lnTo>
                  <a:lnTo>
                    <a:pt x="274" y="88"/>
                  </a:lnTo>
                  <a:lnTo>
                    <a:pt x="280" y="102"/>
                  </a:lnTo>
                  <a:lnTo>
                    <a:pt x="282" y="114"/>
                  </a:lnTo>
                  <a:lnTo>
                    <a:pt x="284" y="128"/>
                  </a:lnTo>
                  <a:lnTo>
                    <a:pt x="286" y="144"/>
                  </a:lnTo>
                </a:path>
              </a:pathLst>
            </a:custGeom>
            <a:noFill/>
            <a:ln w="12700">
              <a:solidFill>
                <a:srgbClr val="FF505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10" name="그룹 17"/>
          <p:cNvGrpSpPr/>
          <p:nvPr userDrawn="1"/>
        </p:nvGrpSpPr>
        <p:grpSpPr>
          <a:xfrm>
            <a:off x="1795093" y="4941597"/>
            <a:ext cx="150246" cy="159261"/>
            <a:chOff x="1866531" y="4610293"/>
            <a:chExt cx="150246" cy="159261"/>
          </a:xfrm>
        </p:grpSpPr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1866531" y="4633071"/>
              <a:ext cx="150246" cy="136483"/>
            </a:xfrm>
            <a:prstGeom prst="rect">
              <a:avLst/>
            </a:prstGeom>
            <a:noFill/>
            <a:ln w="12700">
              <a:solidFill>
                <a:srgbClr val="FF505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grpSp>
          <p:nvGrpSpPr>
            <p:cNvPr id="13" name="그룹 19"/>
            <p:cNvGrpSpPr/>
            <p:nvPr/>
          </p:nvGrpSpPr>
          <p:grpSpPr>
            <a:xfrm>
              <a:off x="1887176" y="4610293"/>
              <a:ext cx="111825" cy="119119"/>
              <a:chOff x="1887176" y="4610293"/>
              <a:chExt cx="111825" cy="119119"/>
            </a:xfrm>
          </p:grpSpPr>
          <p:sp>
            <p:nvSpPr>
              <p:cNvPr id="22" name="Freeform 14"/>
              <p:cNvSpPr>
                <a:spLocks/>
              </p:cNvSpPr>
              <p:nvPr/>
            </p:nvSpPr>
            <p:spPr bwMode="auto">
              <a:xfrm>
                <a:off x="1910114" y="4676654"/>
                <a:ext cx="74550" cy="52758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6" y="92"/>
                  </a:cxn>
                  <a:cxn ang="0">
                    <a:pos x="130" y="0"/>
                  </a:cxn>
                </a:cxnLst>
                <a:rect l="0" t="0" r="r" b="b"/>
                <a:pathLst>
                  <a:path w="130" h="92">
                    <a:moveTo>
                      <a:pt x="0" y="44"/>
                    </a:moveTo>
                    <a:lnTo>
                      <a:pt x="46" y="92"/>
                    </a:lnTo>
                    <a:lnTo>
                      <a:pt x="130" y="0"/>
                    </a:lnTo>
                  </a:path>
                </a:pathLst>
              </a:custGeom>
              <a:noFill/>
              <a:ln w="12700">
                <a:solidFill>
                  <a:srgbClr val="FF50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 flipV="1">
                <a:off x="1887176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rgbClr val="FF50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4" name="Line 19"/>
              <p:cNvSpPr>
                <a:spLocks noChangeShapeType="1"/>
              </p:cNvSpPr>
              <p:nvPr/>
            </p:nvSpPr>
            <p:spPr bwMode="auto">
              <a:xfrm flipV="1">
                <a:off x="1998427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rgbClr val="FF505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42" name="TextBox 41"/>
          <p:cNvSpPr txBox="1"/>
          <p:nvPr userDrawn="1"/>
        </p:nvSpPr>
        <p:spPr>
          <a:xfrm>
            <a:off x="1142976" y="508795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5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VISION 2023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@사내용 - 표지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 descr="C:\Users\user\Desktop\혁신\오스템PPT 2\2차 시안\컬러배경_CI.jpg"/>
          <p:cNvPicPr>
            <a:picLocks noChangeAspect="1" noChangeArrowheads="1"/>
          </p:cNvPicPr>
          <p:nvPr userDrawn="1"/>
        </p:nvPicPr>
        <p:blipFill>
          <a:blip r:embed="rId2" cstate="print"/>
          <a:srcRect r="311"/>
          <a:stretch>
            <a:fillRect/>
          </a:stretch>
        </p:blipFill>
        <p:spPr bwMode="auto">
          <a:xfrm>
            <a:off x="-1" y="2780928"/>
            <a:ext cx="9144001" cy="4077072"/>
          </a:xfrm>
          <a:prstGeom prst="rect">
            <a:avLst/>
          </a:prstGeom>
          <a:noFill/>
        </p:spPr>
      </p:pic>
      <p:sp>
        <p:nvSpPr>
          <p:cNvPr id="30" name="직사각형 29"/>
          <p:cNvSpPr/>
          <p:nvPr userDrawn="1"/>
        </p:nvSpPr>
        <p:spPr>
          <a:xfrm>
            <a:off x="0" y="0"/>
            <a:ext cx="9144000" cy="2857496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52" name="Freeform 8"/>
          <p:cNvSpPr>
            <a:spLocks/>
          </p:cNvSpPr>
          <p:nvPr userDrawn="1"/>
        </p:nvSpPr>
        <p:spPr bwMode="auto">
          <a:xfrm>
            <a:off x="1253241" y="2857496"/>
            <a:ext cx="1214630" cy="43408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6" y="5"/>
              </a:cxn>
              <a:cxn ang="0">
                <a:pos x="232" y="17"/>
              </a:cxn>
              <a:cxn ang="0">
                <a:pos x="281" y="24"/>
              </a:cxn>
              <a:cxn ang="0">
                <a:pos x="377" y="46"/>
              </a:cxn>
              <a:cxn ang="0">
                <a:pos x="470" y="76"/>
              </a:cxn>
              <a:cxn ang="0">
                <a:pos x="562" y="111"/>
              </a:cxn>
              <a:cxn ang="0">
                <a:pos x="607" y="130"/>
              </a:cxn>
              <a:cxn ang="0">
                <a:pos x="668" y="160"/>
              </a:cxn>
              <a:cxn ang="0">
                <a:pos x="702" y="179"/>
              </a:cxn>
              <a:cxn ang="0">
                <a:pos x="769" y="219"/>
              </a:cxn>
              <a:cxn ang="0">
                <a:pos x="834" y="263"/>
              </a:cxn>
              <a:cxn ang="0">
                <a:pos x="895" y="311"/>
              </a:cxn>
              <a:cxn ang="0">
                <a:pos x="953" y="362"/>
              </a:cxn>
              <a:cxn ang="0">
                <a:pos x="1009" y="417"/>
              </a:cxn>
              <a:cxn ang="0">
                <a:pos x="1061" y="475"/>
              </a:cxn>
              <a:cxn ang="0">
                <a:pos x="1111" y="536"/>
              </a:cxn>
              <a:cxn ang="0">
                <a:pos x="1133" y="567"/>
              </a:cxn>
              <a:cxn ang="0">
                <a:pos x="1173" y="624"/>
              </a:cxn>
              <a:cxn ang="0">
                <a:pos x="1210" y="683"/>
              </a:cxn>
              <a:cxn ang="0">
                <a:pos x="1244" y="743"/>
              </a:cxn>
              <a:cxn ang="0">
                <a:pos x="1276" y="805"/>
              </a:cxn>
              <a:cxn ang="0">
                <a:pos x="1290" y="836"/>
              </a:cxn>
              <a:cxn ang="0">
                <a:pos x="1319" y="901"/>
              </a:cxn>
              <a:cxn ang="0">
                <a:pos x="1331" y="934"/>
              </a:cxn>
              <a:cxn ang="0">
                <a:pos x="1354" y="997"/>
              </a:cxn>
              <a:cxn ang="0">
                <a:pos x="1369" y="1027"/>
              </a:cxn>
              <a:cxn ang="0">
                <a:pos x="1389" y="1055"/>
              </a:cxn>
              <a:cxn ang="0">
                <a:pos x="1395" y="1062"/>
              </a:cxn>
              <a:cxn ang="0">
                <a:pos x="1408" y="1072"/>
              </a:cxn>
              <a:cxn ang="0">
                <a:pos x="1418" y="1075"/>
              </a:cxn>
              <a:cxn ang="0">
                <a:pos x="1424" y="1075"/>
              </a:cxn>
              <a:cxn ang="0">
                <a:pos x="1433" y="1073"/>
              </a:cxn>
              <a:cxn ang="0">
                <a:pos x="1451" y="1062"/>
              </a:cxn>
              <a:cxn ang="0">
                <a:pos x="1465" y="1044"/>
              </a:cxn>
              <a:cxn ang="0">
                <a:pos x="1481" y="1017"/>
              </a:cxn>
              <a:cxn ang="0">
                <a:pos x="1489" y="1000"/>
              </a:cxn>
              <a:cxn ang="0">
                <a:pos x="1510" y="948"/>
              </a:cxn>
              <a:cxn ang="0">
                <a:pos x="1536" y="879"/>
              </a:cxn>
              <a:cxn ang="0">
                <a:pos x="1551" y="844"/>
              </a:cxn>
              <a:cxn ang="0">
                <a:pos x="1583" y="775"/>
              </a:cxn>
              <a:cxn ang="0">
                <a:pos x="1601" y="742"/>
              </a:cxn>
              <a:cxn ang="0">
                <a:pos x="1638" y="677"/>
              </a:cxn>
              <a:cxn ang="0">
                <a:pos x="1679" y="613"/>
              </a:cxn>
              <a:cxn ang="0">
                <a:pos x="1723" y="551"/>
              </a:cxn>
              <a:cxn ang="0">
                <a:pos x="1770" y="492"/>
              </a:cxn>
              <a:cxn ang="0">
                <a:pos x="1792" y="466"/>
              </a:cxn>
              <a:cxn ang="0">
                <a:pos x="1836" y="418"/>
              </a:cxn>
              <a:cxn ang="0">
                <a:pos x="1882" y="371"/>
              </a:cxn>
              <a:cxn ang="0">
                <a:pos x="1932" y="327"/>
              </a:cxn>
              <a:cxn ang="0">
                <a:pos x="1983" y="285"/>
              </a:cxn>
              <a:cxn ang="0">
                <a:pos x="2036" y="246"/>
              </a:cxn>
              <a:cxn ang="0">
                <a:pos x="2090" y="209"/>
              </a:cxn>
              <a:cxn ang="0">
                <a:pos x="2147" y="175"/>
              </a:cxn>
              <a:cxn ang="0">
                <a:pos x="2177" y="160"/>
              </a:cxn>
              <a:cxn ang="0">
                <a:pos x="2237" y="130"/>
              </a:cxn>
              <a:cxn ang="0">
                <a:pos x="2282" y="111"/>
              </a:cxn>
              <a:cxn ang="0">
                <a:pos x="2374" y="76"/>
              </a:cxn>
              <a:cxn ang="0">
                <a:pos x="2468" y="46"/>
              </a:cxn>
              <a:cxn ang="0">
                <a:pos x="2563" y="24"/>
              </a:cxn>
              <a:cxn ang="0">
                <a:pos x="2612" y="17"/>
              </a:cxn>
              <a:cxn ang="0">
                <a:pos x="2728" y="5"/>
              </a:cxn>
              <a:cxn ang="0">
                <a:pos x="2844" y="0"/>
              </a:cxn>
            </a:cxnLst>
            <a:rect l="0" t="0" r="r" b="b"/>
            <a:pathLst>
              <a:path w="2844" h="1075">
                <a:moveTo>
                  <a:pt x="0" y="0"/>
                </a:moveTo>
                <a:lnTo>
                  <a:pt x="0" y="0"/>
                </a:lnTo>
                <a:lnTo>
                  <a:pt x="58" y="1"/>
                </a:lnTo>
                <a:lnTo>
                  <a:pt x="116" y="5"/>
                </a:lnTo>
                <a:lnTo>
                  <a:pt x="174" y="10"/>
                </a:lnTo>
                <a:lnTo>
                  <a:pt x="232" y="17"/>
                </a:lnTo>
                <a:lnTo>
                  <a:pt x="232" y="17"/>
                </a:lnTo>
                <a:lnTo>
                  <a:pt x="281" y="24"/>
                </a:lnTo>
                <a:lnTo>
                  <a:pt x="329" y="34"/>
                </a:lnTo>
                <a:lnTo>
                  <a:pt x="377" y="46"/>
                </a:lnTo>
                <a:lnTo>
                  <a:pt x="424" y="60"/>
                </a:lnTo>
                <a:lnTo>
                  <a:pt x="470" y="76"/>
                </a:lnTo>
                <a:lnTo>
                  <a:pt x="517" y="92"/>
                </a:lnTo>
                <a:lnTo>
                  <a:pt x="562" y="111"/>
                </a:lnTo>
                <a:lnTo>
                  <a:pt x="607" y="130"/>
                </a:lnTo>
                <a:lnTo>
                  <a:pt x="607" y="130"/>
                </a:lnTo>
                <a:lnTo>
                  <a:pt x="638" y="145"/>
                </a:lnTo>
                <a:lnTo>
                  <a:pt x="668" y="160"/>
                </a:lnTo>
                <a:lnTo>
                  <a:pt x="668" y="160"/>
                </a:lnTo>
                <a:lnTo>
                  <a:pt x="702" y="179"/>
                </a:lnTo>
                <a:lnTo>
                  <a:pt x="736" y="198"/>
                </a:lnTo>
                <a:lnTo>
                  <a:pt x="769" y="219"/>
                </a:lnTo>
                <a:lnTo>
                  <a:pt x="802" y="241"/>
                </a:lnTo>
                <a:lnTo>
                  <a:pt x="834" y="263"/>
                </a:lnTo>
                <a:lnTo>
                  <a:pt x="864" y="287"/>
                </a:lnTo>
                <a:lnTo>
                  <a:pt x="895" y="311"/>
                </a:lnTo>
                <a:lnTo>
                  <a:pt x="924" y="337"/>
                </a:lnTo>
                <a:lnTo>
                  <a:pt x="953" y="362"/>
                </a:lnTo>
                <a:lnTo>
                  <a:pt x="981" y="390"/>
                </a:lnTo>
                <a:lnTo>
                  <a:pt x="1009" y="417"/>
                </a:lnTo>
                <a:lnTo>
                  <a:pt x="1035" y="447"/>
                </a:lnTo>
                <a:lnTo>
                  <a:pt x="1061" y="475"/>
                </a:lnTo>
                <a:lnTo>
                  <a:pt x="1086" y="506"/>
                </a:lnTo>
                <a:lnTo>
                  <a:pt x="1111" y="536"/>
                </a:lnTo>
                <a:lnTo>
                  <a:pt x="1133" y="567"/>
                </a:lnTo>
                <a:lnTo>
                  <a:pt x="1133" y="567"/>
                </a:lnTo>
                <a:lnTo>
                  <a:pt x="1153" y="596"/>
                </a:lnTo>
                <a:lnTo>
                  <a:pt x="1173" y="624"/>
                </a:lnTo>
                <a:lnTo>
                  <a:pt x="1192" y="654"/>
                </a:lnTo>
                <a:lnTo>
                  <a:pt x="1210" y="683"/>
                </a:lnTo>
                <a:lnTo>
                  <a:pt x="1228" y="713"/>
                </a:lnTo>
                <a:lnTo>
                  <a:pt x="1244" y="743"/>
                </a:lnTo>
                <a:lnTo>
                  <a:pt x="1261" y="774"/>
                </a:lnTo>
                <a:lnTo>
                  <a:pt x="1276" y="805"/>
                </a:lnTo>
                <a:lnTo>
                  <a:pt x="1276" y="805"/>
                </a:lnTo>
                <a:lnTo>
                  <a:pt x="1290" y="836"/>
                </a:lnTo>
                <a:lnTo>
                  <a:pt x="1304" y="869"/>
                </a:lnTo>
                <a:lnTo>
                  <a:pt x="1319" y="901"/>
                </a:lnTo>
                <a:lnTo>
                  <a:pt x="1331" y="934"/>
                </a:lnTo>
                <a:lnTo>
                  <a:pt x="1331" y="934"/>
                </a:lnTo>
                <a:lnTo>
                  <a:pt x="1343" y="965"/>
                </a:lnTo>
                <a:lnTo>
                  <a:pt x="1354" y="997"/>
                </a:lnTo>
                <a:lnTo>
                  <a:pt x="1361" y="1012"/>
                </a:lnTo>
                <a:lnTo>
                  <a:pt x="1369" y="1027"/>
                </a:lnTo>
                <a:lnTo>
                  <a:pt x="1378" y="1041"/>
                </a:lnTo>
                <a:lnTo>
                  <a:pt x="1389" y="1055"/>
                </a:lnTo>
                <a:lnTo>
                  <a:pt x="1389" y="1055"/>
                </a:lnTo>
                <a:lnTo>
                  <a:pt x="1395" y="1062"/>
                </a:lnTo>
                <a:lnTo>
                  <a:pt x="1404" y="1068"/>
                </a:lnTo>
                <a:lnTo>
                  <a:pt x="1408" y="1072"/>
                </a:lnTo>
                <a:lnTo>
                  <a:pt x="1414" y="1074"/>
                </a:lnTo>
                <a:lnTo>
                  <a:pt x="1418" y="1075"/>
                </a:lnTo>
                <a:lnTo>
                  <a:pt x="1424" y="1075"/>
                </a:lnTo>
                <a:lnTo>
                  <a:pt x="1424" y="1075"/>
                </a:lnTo>
                <a:lnTo>
                  <a:pt x="1428" y="1074"/>
                </a:lnTo>
                <a:lnTo>
                  <a:pt x="1433" y="1073"/>
                </a:lnTo>
                <a:lnTo>
                  <a:pt x="1442" y="1068"/>
                </a:lnTo>
                <a:lnTo>
                  <a:pt x="1451" y="1062"/>
                </a:lnTo>
                <a:lnTo>
                  <a:pt x="1459" y="1053"/>
                </a:lnTo>
                <a:lnTo>
                  <a:pt x="1465" y="1044"/>
                </a:lnTo>
                <a:lnTo>
                  <a:pt x="1471" y="1034"/>
                </a:lnTo>
                <a:lnTo>
                  <a:pt x="1481" y="1017"/>
                </a:lnTo>
                <a:lnTo>
                  <a:pt x="1481" y="1017"/>
                </a:lnTo>
                <a:lnTo>
                  <a:pt x="1489" y="1000"/>
                </a:lnTo>
                <a:lnTo>
                  <a:pt x="1496" y="983"/>
                </a:lnTo>
                <a:lnTo>
                  <a:pt x="1510" y="948"/>
                </a:lnTo>
                <a:lnTo>
                  <a:pt x="1522" y="913"/>
                </a:lnTo>
                <a:lnTo>
                  <a:pt x="1536" y="879"/>
                </a:lnTo>
                <a:lnTo>
                  <a:pt x="1536" y="879"/>
                </a:lnTo>
                <a:lnTo>
                  <a:pt x="1551" y="844"/>
                </a:lnTo>
                <a:lnTo>
                  <a:pt x="1567" y="809"/>
                </a:lnTo>
                <a:lnTo>
                  <a:pt x="1583" y="775"/>
                </a:lnTo>
                <a:lnTo>
                  <a:pt x="1601" y="742"/>
                </a:lnTo>
                <a:lnTo>
                  <a:pt x="1601" y="742"/>
                </a:lnTo>
                <a:lnTo>
                  <a:pt x="1620" y="709"/>
                </a:lnTo>
                <a:lnTo>
                  <a:pt x="1638" y="677"/>
                </a:lnTo>
                <a:lnTo>
                  <a:pt x="1658" y="645"/>
                </a:lnTo>
                <a:lnTo>
                  <a:pt x="1679" y="613"/>
                </a:lnTo>
                <a:lnTo>
                  <a:pt x="1701" y="581"/>
                </a:lnTo>
                <a:lnTo>
                  <a:pt x="1723" y="551"/>
                </a:lnTo>
                <a:lnTo>
                  <a:pt x="1747" y="521"/>
                </a:lnTo>
                <a:lnTo>
                  <a:pt x="1770" y="492"/>
                </a:lnTo>
                <a:lnTo>
                  <a:pt x="1770" y="492"/>
                </a:lnTo>
                <a:lnTo>
                  <a:pt x="1792" y="466"/>
                </a:lnTo>
                <a:lnTo>
                  <a:pt x="1813" y="442"/>
                </a:lnTo>
                <a:lnTo>
                  <a:pt x="1836" y="418"/>
                </a:lnTo>
                <a:lnTo>
                  <a:pt x="1859" y="394"/>
                </a:lnTo>
                <a:lnTo>
                  <a:pt x="1882" y="371"/>
                </a:lnTo>
                <a:lnTo>
                  <a:pt x="1906" y="349"/>
                </a:lnTo>
                <a:lnTo>
                  <a:pt x="1932" y="327"/>
                </a:lnTo>
                <a:lnTo>
                  <a:pt x="1957" y="306"/>
                </a:lnTo>
                <a:lnTo>
                  <a:pt x="1983" y="285"/>
                </a:lnTo>
                <a:lnTo>
                  <a:pt x="2009" y="265"/>
                </a:lnTo>
                <a:lnTo>
                  <a:pt x="2036" y="246"/>
                </a:lnTo>
                <a:lnTo>
                  <a:pt x="2063" y="228"/>
                </a:lnTo>
                <a:lnTo>
                  <a:pt x="2090" y="209"/>
                </a:lnTo>
                <a:lnTo>
                  <a:pt x="2119" y="192"/>
                </a:lnTo>
                <a:lnTo>
                  <a:pt x="2147" y="175"/>
                </a:lnTo>
                <a:lnTo>
                  <a:pt x="2177" y="160"/>
                </a:lnTo>
                <a:lnTo>
                  <a:pt x="2177" y="160"/>
                </a:lnTo>
                <a:lnTo>
                  <a:pt x="2206" y="145"/>
                </a:lnTo>
                <a:lnTo>
                  <a:pt x="2237" y="130"/>
                </a:lnTo>
                <a:lnTo>
                  <a:pt x="2237" y="130"/>
                </a:lnTo>
                <a:lnTo>
                  <a:pt x="2282" y="111"/>
                </a:lnTo>
                <a:lnTo>
                  <a:pt x="2328" y="92"/>
                </a:lnTo>
                <a:lnTo>
                  <a:pt x="2374" y="76"/>
                </a:lnTo>
                <a:lnTo>
                  <a:pt x="2421" y="60"/>
                </a:lnTo>
                <a:lnTo>
                  <a:pt x="2468" y="46"/>
                </a:lnTo>
                <a:lnTo>
                  <a:pt x="2515" y="34"/>
                </a:lnTo>
                <a:lnTo>
                  <a:pt x="2563" y="24"/>
                </a:lnTo>
                <a:lnTo>
                  <a:pt x="2612" y="17"/>
                </a:lnTo>
                <a:lnTo>
                  <a:pt x="2612" y="17"/>
                </a:lnTo>
                <a:lnTo>
                  <a:pt x="2670" y="10"/>
                </a:lnTo>
                <a:lnTo>
                  <a:pt x="2728" y="5"/>
                </a:lnTo>
                <a:lnTo>
                  <a:pt x="2786" y="1"/>
                </a:lnTo>
                <a:lnTo>
                  <a:pt x="2844" y="0"/>
                </a:lnTo>
              </a:path>
            </a:pathLst>
          </a:custGeom>
          <a:solidFill>
            <a:schemeClr val="bg1"/>
          </a:solidFill>
          <a:ln w="952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 latinLnBrk="0" hangingPunct="0"/>
            <a:endParaRPr lang="ko-KR" altLang="en-US" dirty="0">
              <a:solidFill>
                <a:srgbClr val="000000"/>
              </a:solidFill>
              <a:sym typeface="Calibri"/>
            </a:endParaRPr>
          </a:p>
        </p:txBody>
      </p:sp>
      <p:grpSp>
        <p:nvGrpSpPr>
          <p:cNvPr id="4" name="그룹 14"/>
          <p:cNvGrpSpPr/>
          <p:nvPr userDrawn="1"/>
        </p:nvGrpSpPr>
        <p:grpSpPr>
          <a:xfrm>
            <a:off x="1797387" y="4071150"/>
            <a:ext cx="147953" cy="147953"/>
            <a:chOff x="1868825" y="3903571"/>
            <a:chExt cx="147953" cy="147953"/>
          </a:xfrm>
        </p:grpSpPr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868825" y="3903571"/>
              <a:ext cx="147952" cy="1479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8"/>
                </a:cxn>
                <a:cxn ang="0">
                  <a:pos x="258" y="258"/>
                </a:cxn>
                <a:cxn ang="0">
                  <a:pos x="258" y="122"/>
                </a:cxn>
                <a:cxn ang="0">
                  <a:pos x="13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8" h="258">
                  <a:moveTo>
                    <a:pt x="0" y="0"/>
                  </a:moveTo>
                  <a:lnTo>
                    <a:pt x="0" y="258"/>
                  </a:lnTo>
                  <a:lnTo>
                    <a:pt x="258" y="258"/>
                  </a:lnTo>
                  <a:lnTo>
                    <a:pt x="258" y="122"/>
                  </a:lnTo>
                  <a:lnTo>
                    <a:pt x="13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1946816" y="3903571"/>
              <a:ext cx="69962" cy="69962"/>
            </a:xfrm>
            <a:custGeom>
              <a:avLst/>
              <a:gdLst/>
              <a:ahLst/>
              <a:cxnLst>
                <a:cxn ang="0">
                  <a:pos x="122" y="122"/>
                </a:cxn>
                <a:cxn ang="0">
                  <a:pos x="0" y="0"/>
                </a:cxn>
                <a:cxn ang="0">
                  <a:pos x="0" y="122"/>
                </a:cxn>
                <a:cxn ang="0">
                  <a:pos x="122" y="122"/>
                </a:cxn>
                <a:cxn ang="0">
                  <a:pos x="122" y="122"/>
                </a:cxn>
              </a:cxnLst>
              <a:rect l="0" t="0" r="r" b="b"/>
              <a:pathLst>
                <a:path w="122" h="122">
                  <a:moveTo>
                    <a:pt x="122" y="122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122" y="122"/>
                  </a:lnTo>
                  <a:lnTo>
                    <a:pt x="122" y="122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그룹 15"/>
          <p:cNvGrpSpPr/>
          <p:nvPr userDrawn="1"/>
        </p:nvGrpSpPr>
        <p:grpSpPr>
          <a:xfrm>
            <a:off x="1793946" y="4501213"/>
            <a:ext cx="157128" cy="158275"/>
            <a:chOff x="1865384" y="4280908"/>
            <a:chExt cx="157128" cy="158275"/>
          </a:xfrm>
        </p:grpSpPr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1865384" y="4280908"/>
              <a:ext cx="157128" cy="158275"/>
            </a:xfrm>
            <a:custGeom>
              <a:avLst/>
              <a:gdLst/>
              <a:ahLst/>
              <a:cxnLst>
                <a:cxn ang="0">
                  <a:pos x="274" y="138"/>
                </a:cxn>
                <a:cxn ang="0">
                  <a:pos x="272" y="166"/>
                </a:cxn>
                <a:cxn ang="0">
                  <a:pos x="264" y="192"/>
                </a:cxn>
                <a:cxn ang="0">
                  <a:pos x="250" y="214"/>
                </a:cxn>
                <a:cxn ang="0">
                  <a:pos x="234" y="234"/>
                </a:cxn>
                <a:cxn ang="0">
                  <a:pos x="214" y="252"/>
                </a:cxn>
                <a:cxn ang="0">
                  <a:pos x="190" y="264"/>
                </a:cxn>
                <a:cxn ang="0">
                  <a:pos x="164" y="272"/>
                </a:cxn>
                <a:cxn ang="0">
                  <a:pos x="136" y="276"/>
                </a:cxn>
                <a:cxn ang="0">
                  <a:pos x="122" y="274"/>
                </a:cxn>
                <a:cxn ang="0">
                  <a:pos x="96" y="268"/>
                </a:cxn>
                <a:cxn ang="0">
                  <a:pos x="72" y="258"/>
                </a:cxn>
                <a:cxn ang="0">
                  <a:pos x="50" y="244"/>
                </a:cxn>
                <a:cxn ang="0">
                  <a:pos x="30" y="226"/>
                </a:cxn>
                <a:cxn ang="0">
                  <a:pos x="16" y="204"/>
                </a:cxn>
                <a:cxn ang="0">
                  <a:pos x="6" y="178"/>
                </a:cxn>
                <a:cxn ang="0">
                  <a:pos x="0" y="152"/>
                </a:cxn>
                <a:cxn ang="0">
                  <a:pos x="0" y="138"/>
                </a:cxn>
                <a:cxn ang="0">
                  <a:pos x="2" y="110"/>
                </a:cxn>
                <a:cxn ang="0">
                  <a:pos x="10" y="84"/>
                </a:cxn>
                <a:cxn ang="0">
                  <a:pos x="22" y="60"/>
                </a:cxn>
                <a:cxn ang="0">
                  <a:pos x="40" y="40"/>
                </a:cxn>
                <a:cxn ang="0">
                  <a:pos x="60" y="24"/>
                </a:cxn>
                <a:cxn ang="0">
                  <a:pos x="84" y="12"/>
                </a:cxn>
                <a:cxn ang="0">
                  <a:pos x="110" y="4"/>
                </a:cxn>
                <a:cxn ang="0">
                  <a:pos x="136" y="0"/>
                </a:cxn>
                <a:cxn ang="0">
                  <a:pos x="150" y="2"/>
                </a:cxn>
                <a:cxn ang="0">
                  <a:pos x="178" y="6"/>
                </a:cxn>
                <a:cxn ang="0">
                  <a:pos x="202" y="16"/>
                </a:cxn>
                <a:cxn ang="0">
                  <a:pos x="224" y="32"/>
                </a:cxn>
                <a:cxn ang="0">
                  <a:pos x="242" y="50"/>
                </a:cxn>
                <a:cxn ang="0">
                  <a:pos x="258" y="72"/>
                </a:cxn>
                <a:cxn ang="0">
                  <a:pos x="268" y="96"/>
                </a:cxn>
                <a:cxn ang="0">
                  <a:pos x="274" y="124"/>
                </a:cxn>
                <a:cxn ang="0">
                  <a:pos x="274" y="138"/>
                </a:cxn>
              </a:cxnLst>
              <a:rect l="0" t="0" r="r" b="b"/>
              <a:pathLst>
                <a:path w="274" h="276">
                  <a:moveTo>
                    <a:pt x="274" y="138"/>
                  </a:moveTo>
                  <a:lnTo>
                    <a:pt x="274" y="138"/>
                  </a:lnTo>
                  <a:lnTo>
                    <a:pt x="274" y="152"/>
                  </a:lnTo>
                  <a:lnTo>
                    <a:pt x="272" y="166"/>
                  </a:lnTo>
                  <a:lnTo>
                    <a:pt x="268" y="178"/>
                  </a:lnTo>
                  <a:lnTo>
                    <a:pt x="264" y="192"/>
                  </a:lnTo>
                  <a:lnTo>
                    <a:pt x="258" y="204"/>
                  </a:lnTo>
                  <a:lnTo>
                    <a:pt x="250" y="214"/>
                  </a:lnTo>
                  <a:lnTo>
                    <a:pt x="242" y="226"/>
                  </a:lnTo>
                  <a:lnTo>
                    <a:pt x="234" y="234"/>
                  </a:lnTo>
                  <a:lnTo>
                    <a:pt x="224" y="244"/>
                  </a:lnTo>
                  <a:lnTo>
                    <a:pt x="214" y="252"/>
                  </a:lnTo>
                  <a:lnTo>
                    <a:pt x="202" y="258"/>
                  </a:lnTo>
                  <a:lnTo>
                    <a:pt x="190" y="264"/>
                  </a:lnTo>
                  <a:lnTo>
                    <a:pt x="178" y="268"/>
                  </a:lnTo>
                  <a:lnTo>
                    <a:pt x="164" y="272"/>
                  </a:lnTo>
                  <a:lnTo>
                    <a:pt x="150" y="274"/>
                  </a:lnTo>
                  <a:lnTo>
                    <a:pt x="136" y="276"/>
                  </a:lnTo>
                  <a:lnTo>
                    <a:pt x="136" y="276"/>
                  </a:lnTo>
                  <a:lnTo>
                    <a:pt x="122" y="274"/>
                  </a:lnTo>
                  <a:lnTo>
                    <a:pt x="110" y="272"/>
                  </a:lnTo>
                  <a:lnTo>
                    <a:pt x="96" y="268"/>
                  </a:lnTo>
                  <a:lnTo>
                    <a:pt x="84" y="264"/>
                  </a:lnTo>
                  <a:lnTo>
                    <a:pt x="72" y="258"/>
                  </a:lnTo>
                  <a:lnTo>
                    <a:pt x="60" y="252"/>
                  </a:lnTo>
                  <a:lnTo>
                    <a:pt x="50" y="244"/>
                  </a:lnTo>
                  <a:lnTo>
                    <a:pt x="40" y="234"/>
                  </a:lnTo>
                  <a:lnTo>
                    <a:pt x="30" y="226"/>
                  </a:lnTo>
                  <a:lnTo>
                    <a:pt x="22" y="214"/>
                  </a:lnTo>
                  <a:lnTo>
                    <a:pt x="16" y="204"/>
                  </a:lnTo>
                  <a:lnTo>
                    <a:pt x="10" y="192"/>
                  </a:lnTo>
                  <a:lnTo>
                    <a:pt x="6" y="178"/>
                  </a:lnTo>
                  <a:lnTo>
                    <a:pt x="2" y="166"/>
                  </a:lnTo>
                  <a:lnTo>
                    <a:pt x="0" y="15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0" y="124"/>
                  </a:lnTo>
                  <a:lnTo>
                    <a:pt x="2" y="110"/>
                  </a:lnTo>
                  <a:lnTo>
                    <a:pt x="6" y="96"/>
                  </a:lnTo>
                  <a:lnTo>
                    <a:pt x="10" y="84"/>
                  </a:lnTo>
                  <a:lnTo>
                    <a:pt x="16" y="72"/>
                  </a:lnTo>
                  <a:lnTo>
                    <a:pt x="22" y="60"/>
                  </a:lnTo>
                  <a:lnTo>
                    <a:pt x="30" y="50"/>
                  </a:lnTo>
                  <a:lnTo>
                    <a:pt x="40" y="40"/>
                  </a:lnTo>
                  <a:lnTo>
                    <a:pt x="50" y="32"/>
                  </a:lnTo>
                  <a:lnTo>
                    <a:pt x="60" y="24"/>
                  </a:lnTo>
                  <a:lnTo>
                    <a:pt x="72" y="16"/>
                  </a:lnTo>
                  <a:lnTo>
                    <a:pt x="84" y="12"/>
                  </a:lnTo>
                  <a:lnTo>
                    <a:pt x="96" y="6"/>
                  </a:lnTo>
                  <a:lnTo>
                    <a:pt x="110" y="4"/>
                  </a:lnTo>
                  <a:lnTo>
                    <a:pt x="122" y="2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4" y="4"/>
                  </a:lnTo>
                  <a:lnTo>
                    <a:pt x="178" y="6"/>
                  </a:lnTo>
                  <a:lnTo>
                    <a:pt x="190" y="12"/>
                  </a:lnTo>
                  <a:lnTo>
                    <a:pt x="202" y="16"/>
                  </a:lnTo>
                  <a:lnTo>
                    <a:pt x="214" y="24"/>
                  </a:lnTo>
                  <a:lnTo>
                    <a:pt x="224" y="32"/>
                  </a:lnTo>
                  <a:lnTo>
                    <a:pt x="234" y="40"/>
                  </a:lnTo>
                  <a:lnTo>
                    <a:pt x="242" y="50"/>
                  </a:lnTo>
                  <a:lnTo>
                    <a:pt x="250" y="60"/>
                  </a:lnTo>
                  <a:lnTo>
                    <a:pt x="258" y="72"/>
                  </a:lnTo>
                  <a:lnTo>
                    <a:pt x="264" y="84"/>
                  </a:lnTo>
                  <a:lnTo>
                    <a:pt x="268" y="96"/>
                  </a:lnTo>
                  <a:lnTo>
                    <a:pt x="272" y="110"/>
                  </a:lnTo>
                  <a:lnTo>
                    <a:pt x="274" y="124"/>
                  </a:lnTo>
                  <a:lnTo>
                    <a:pt x="274" y="138"/>
                  </a:lnTo>
                  <a:lnTo>
                    <a:pt x="274" y="138"/>
                  </a:lnTo>
                  <a:lnTo>
                    <a:pt x="274" y="138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1943375" y="4323344"/>
              <a:ext cx="44730" cy="412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"/>
                </a:cxn>
                <a:cxn ang="0">
                  <a:pos x="78" y="72"/>
                </a:cxn>
              </a:cxnLst>
              <a:rect l="0" t="0" r="r" b="b"/>
              <a:pathLst>
                <a:path w="78" h="72">
                  <a:moveTo>
                    <a:pt x="0" y="0"/>
                  </a:moveTo>
                  <a:lnTo>
                    <a:pt x="0" y="72"/>
                  </a:lnTo>
                  <a:lnTo>
                    <a:pt x="78" y="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그룹 16"/>
          <p:cNvGrpSpPr/>
          <p:nvPr userDrawn="1"/>
        </p:nvGrpSpPr>
        <p:grpSpPr>
          <a:xfrm>
            <a:off x="1785918" y="3611268"/>
            <a:ext cx="164009" cy="177772"/>
            <a:chOff x="1857356" y="3511325"/>
            <a:chExt cx="164009" cy="177772"/>
          </a:xfrm>
        </p:grpSpPr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1891763" y="3511325"/>
              <a:ext cx="95194" cy="95194"/>
            </a:xfrm>
            <a:custGeom>
              <a:avLst/>
              <a:gdLst/>
              <a:ahLst/>
              <a:cxnLst>
                <a:cxn ang="0">
                  <a:pos x="166" y="84"/>
                </a:cxn>
                <a:cxn ang="0">
                  <a:pos x="166" y="84"/>
                </a:cxn>
                <a:cxn ang="0">
                  <a:pos x="164" y="100"/>
                </a:cxn>
                <a:cxn ang="0">
                  <a:pos x="160" y="116"/>
                </a:cxn>
                <a:cxn ang="0">
                  <a:pos x="152" y="130"/>
                </a:cxn>
                <a:cxn ang="0">
                  <a:pos x="142" y="142"/>
                </a:cxn>
                <a:cxn ang="0">
                  <a:pos x="130" y="152"/>
                </a:cxn>
                <a:cxn ang="0">
                  <a:pos x="116" y="160"/>
                </a:cxn>
                <a:cxn ang="0">
                  <a:pos x="100" y="166"/>
                </a:cxn>
                <a:cxn ang="0">
                  <a:pos x="82" y="166"/>
                </a:cxn>
                <a:cxn ang="0">
                  <a:pos x="82" y="166"/>
                </a:cxn>
                <a:cxn ang="0">
                  <a:pos x="66" y="166"/>
                </a:cxn>
                <a:cxn ang="0">
                  <a:pos x="50" y="160"/>
                </a:cxn>
                <a:cxn ang="0">
                  <a:pos x="36" y="152"/>
                </a:cxn>
                <a:cxn ang="0">
                  <a:pos x="24" y="142"/>
                </a:cxn>
                <a:cxn ang="0">
                  <a:pos x="14" y="130"/>
                </a:cxn>
                <a:cxn ang="0">
                  <a:pos x="6" y="116"/>
                </a:cxn>
                <a:cxn ang="0">
                  <a:pos x="0" y="100"/>
                </a:cxn>
                <a:cxn ang="0">
                  <a:pos x="0" y="84"/>
                </a:cxn>
                <a:cxn ang="0">
                  <a:pos x="0" y="84"/>
                </a:cxn>
                <a:cxn ang="0">
                  <a:pos x="0" y="66"/>
                </a:cxn>
                <a:cxn ang="0">
                  <a:pos x="6" y="50"/>
                </a:cxn>
                <a:cxn ang="0">
                  <a:pos x="14" y="36"/>
                </a:cxn>
                <a:cxn ang="0">
                  <a:pos x="24" y="24"/>
                </a:cxn>
                <a:cxn ang="0">
                  <a:pos x="36" y="14"/>
                </a:cxn>
                <a:cxn ang="0">
                  <a:pos x="50" y="6"/>
                </a:cxn>
                <a:cxn ang="0">
                  <a:pos x="66" y="2"/>
                </a:cxn>
                <a:cxn ang="0">
                  <a:pos x="82" y="0"/>
                </a:cxn>
                <a:cxn ang="0">
                  <a:pos x="82" y="0"/>
                </a:cxn>
                <a:cxn ang="0">
                  <a:pos x="100" y="2"/>
                </a:cxn>
                <a:cxn ang="0">
                  <a:pos x="116" y="6"/>
                </a:cxn>
                <a:cxn ang="0">
                  <a:pos x="130" y="14"/>
                </a:cxn>
                <a:cxn ang="0">
                  <a:pos x="142" y="24"/>
                </a:cxn>
                <a:cxn ang="0">
                  <a:pos x="152" y="36"/>
                </a:cxn>
                <a:cxn ang="0">
                  <a:pos x="160" y="50"/>
                </a:cxn>
                <a:cxn ang="0">
                  <a:pos x="164" y="66"/>
                </a:cxn>
                <a:cxn ang="0">
                  <a:pos x="166" y="84"/>
                </a:cxn>
                <a:cxn ang="0">
                  <a:pos x="166" y="84"/>
                </a:cxn>
                <a:cxn ang="0">
                  <a:pos x="166" y="84"/>
                </a:cxn>
              </a:cxnLst>
              <a:rect l="0" t="0" r="r" b="b"/>
              <a:pathLst>
                <a:path w="166" h="166">
                  <a:moveTo>
                    <a:pt x="166" y="84"/>
                  </a:moveTo>
                  <a:lnTo>
                    <a:pt x="166" y="84"/>
                  </a:lnTo>
                  <a:lnTo>
                    <a:pt x="164" y="100"/>
                  </a:lnTo>
                  <a:lnTo>
                    <a:pt x="160" y="116"/>
                  </a:lnTo>
                  <a:lnTo>
                    <a:pt x="152" y="130"/>
                  </a:lnTo>
                  <a:lnTo>
                    <a:pt x="142" y="142"/>
                  </a:lnTo>
                  <a:lnTo>
                    <a:pt x="130" y="152"/>
                  </a:lnTo>
                  <a:lnTo>
                    <a:pt x="116" y="160"/>
                  </a:lnTo>
                  <a:lnTo>
                    <a:pt x="100" y="166"/>
                  </a:lnTo>
                  <a:lnTo>
                    <a:pt x="82" y="166"/>
                  </a:lnTo>
                  <a:lnTo>
                    <a:pt x="82" y="166"/>
                  </a:lnTo>
                  <a:lnTo>
                    <a:pt x="66" y="166"/>
                  </a:lnTo>
                  <a:lnTo>
                    <a:pt x="50" y="160"/>
                  </a:lnTo>
                  <a:lnTo>
                    <a:pt x="36" y="152"/>
                  </a:lnTo>
                  <a:lnTo>
                    <a:pt x="24" y="142"/>
                  </a:lnTo>
                  <a:lnTo>
                    <a:pt x="14" y="130"/>
                  </a:lnTo>
                  <a:lnTo>
                    <a:pt x="6" y="116"/>
                  </a:lnTo>
                  <a:lnTo>
                    <a:pt x="0" y="100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100" y="2"/>
                  </a:lnTo>
                  <a:lnTo>
                    <a:pt x="116" y="6"/>
                  </a:lnTo>
                  <a:lnTo>
                    <a:pt x="130" y="14"/>
                  </a:lnTo>
                  <a:lnTo>
                    <a:pt x="142" y="24"/>
                  </a:lnTo>
                  <a:lnTo>
                    <a:pt x="152" y="36"/>
                  </a:lnTo>
                  <a:lnTo>
                    <a:pt x="160" y="50"/>
                  </a:lnTo>
                  <a:lnTo>
                    <a:pt x="164" y="66"/>
                  </a:lnTo>
                  <a:lnTo>
                    <a:pt x="166" y="84"/>
                  </a:lnTo>
                  <a:lnTo>
                    <a:pt x="166" y="84"/>
                  </a:lnTo>
                  <a:lnTo>
                    <a:pt x="166" y="84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1857356" y="3606519"/>
              <a:ext cx="164009" cy="82578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0" y="144"/>
                </a:cxn>
                <a:cxn ang="0">
                  <a:pos x="0" y="128"/>
                </a:cxn>
                <a:cxn ang="0">
                  <a:pos x="2" y="114"/>
                </a:cxn>
                <a:cxn ang="0">
                  <a:pos x="6" y="102"/>
                </a:cxn>
                <a:cxn ang="0">
                  <a:pos x="10" y="88"/>
                </a:cxn>
                <a:cxn ang="0">
                  <a:pos x="16" y="76"/>
                </a:cxn>
                <a:cxn ang="0">
                  <a:pos x="24" y="64"/>
                </a:cxn>
                <a:cxn ang="0">
                  <a:pos x="32" y="52"/>
                </a:cxn>
                <a:cxn ang="0">
                  <a:pos x="42" y="42"/>
                </a:cxn>
                <a:cxn ang="0">
                  <a:pos x="52" y="34"/>
                </a:cxn>
                <a:cxn ang="0">
                  <a:pos x="62" y="24"/>
                </a:cxn>
                <a:cxn ang="0">
                  <a:pos x="74" y="18"/>
                </a:cxn>
                <a:cxn ang="0">
                  <a:pos x="86" y="12"/>
                </a:cxn>
                <a:cxn ang="0">
                  <a:pos x="100" y="6"/>
                </a:cxn>
                <a:cxn ang="0">
                  <a:pos x="114" y="4"/>
                </a:cxn>
                <a:cxn ang="0">
                  <a:pos x="128" y="2"/>
                </a:cxn>
                <a:cxn ang="0">
                  <a:pos x="142" y="0"/>
                </a:cxn>
                <a:cxn ang="0">
                  <a:pos x="142" y="0"/>
                </a:cxn>
                <a:cxn ang="0">
                  <a:pos x="158" y="2"/>
                </a:cxn>
                <a:cxn ang="0">
                  <a:pos x="172" y="4"/>
                </a:cxn>
                <a:cxn ang="0">
                  <a:pos x="186" y="6"/>
                </a:cxn>
                <a:cxn ang="0">
                  <a:pos x="198" y="12"/>
                </a:cxn>
                <a:cxn ang="0">
                  <a:pos x="210" y="18"/>
                </a:cxn>
                <a:cxn ang="0">
                  <a:pos x="222" y="24"/>
                </a:cxn>
                <a:cxn ang="0">
                  <a:pos x="234" y="34"/>
                </a:cxn>
                <a:cxn ang="0">
                  <a:pos x="244" y="42"/>
                </a:cxn>
                <a:cxn ang="0">
                  <a:pos x="252" y="52"/>
                </a:cxn>
                <a:cxn ang="0">
                  <a:pos x="262" y="64"/>
                </a:cxn>
                <a:cxn ang="0">
                  <a:pos x="268" y="76"/>
                </a:cxn>
                <a:cxn ang="0">
                  <a:pos x="274" y="88"/>
                </a:cxn>
                <a:cxn ang="0">
                  <a:pos x="280" y="102"/>
                </a:cxn>
                <a:cxn ang="0">
                  <a:pos x="282" y="114"/>
                </a:cxn>
                <a:cxn ang="0">
                  <a:pos x="284" y="128"/>
                </a:cxn>
                <a:cxn ang="0">
                  <a:pos x="286" y="144"/>
                </a:cxn>
              </a:cxnLst>
              <a:rect l="0" t="0" r="r" b="b"/>
              <a:pathLst>
                <a:path w="286" h="144">
                  <a:moveTo>
                    <a:pt x="0" y="144"/>
                  </a:moveTo>
                  <a:lnTo>
                    <a:pt x="0" y="144"/>
                  </a:lnTo>
                  <a:lnTo>
                    <a:pt x="0" y="128"/>
                  </a:lnTo>
                  <a:lnTo>
                    <a:pt x="2" y="114"/>
                  </a:lnTo>
                  <a:lnTo>
                    <a:pt x="6" y="102"/>
                  </a:lnTo>
                  <a:lnTo>
                    <a:pt x="10" y="88"/>
                  </a:lnTo>
                  <a:lnTo>
                    <a:pt x="16" y="76"/>
                  </a:lnTo>
                  <a:lnTo>
                    <a:pt x="24" y="64"/>
                  </a:lnTo>
                  <a:lnTo>
                    <a:pt x="32" y="52"/>
                  </a:lnTo>
                  <a:lnTo>
                    <a:pt x="42" y="42"/>
                  </a:lnTo>
                  <a:lnTo>
                    <a:pt x="52" y="34"/>
                  </a:lnTo>
                  <a:lnTo>
                    <a:pt x="62" y="24"/>
                  </a:lnTo>
                  <a:lnTo>
                    <a:pt x="74" y="18"/>
                  </a:lnTo>
                  <a:lnTo>
                    <a:pt x="86" y="12"/>
                  </a:lnTo>
                  <a:lnTo>
                    <a:pt x="100" y="6"/>
                  </a:lnTo>
                  <a:lnTo>
                    <a:pt x="114" y="4"/>
                  </a:lnTo>
                  <a:lnTo>
                    <a:pt x="128" y="2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8" y="2"/>
                  </a:lnTo>
                  <a:lnTo>
                    <a:pt x="172" y="4"/>
                  </a:lnTo>
                  <a:lnTo>
                    <a:pt x="186" y="6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4"/>
                  </a:lnTo>
                  <a:lnTo>
                    <a:pt x="234" y="34"/>
                  </a:lnTo>
                  <a:lnTo>
                    <a:pt x="244" y="42"/>
                  </a:lnTo>
                  <a:lnTo>
                    <a:pt x="252" y="52"/>
                  </a:lnTo>
                  <a:lnTo>
                    <a:pt x="262" y="64"/>
                  </a:lnTo>
                  <a:lnTo>
                    <a:pt x="268" y="76"/>
                  </a:lnTo>
                  <a:lnTo>
                    <a:pt x="274" y="88"/>
                  </a:lnTo>
                  <a:lnTo>
                    <a:pt x="280" y="102"/>
                  </a:lnTo>
                  <a:lnTo>
                    <a:pt x="282" y="114"/>
                  </a:lnTo>
                  <a:lnTo>
                    <a:pt x="284" y="128"/>
                  </a:lnTo>
                  <a:lnTo>
                    <a:pt x="286" y="1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17"/>
          <p:cNvGrpSpPr/>
          <p:nvPr userDrawn="1"/>
        </p:nvGrpSpPr>
        <p:grpSpPr>
          <a:xfrm>
            <a:off x="1795093" y="4941597"/>
            <a:ext cx="150246" cy="159261"/>
            <a:chOff x="1866531" y="4610293"/>
            <a:chExt cx="150246" cy="159261"/>
          </a:xfrm>
        </p:grpSpPr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1866531" y="4633071"/>
              <a:ext cx="150246" cy="13648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3" name="그룹 19"/>
            <p:cNvGrpSpPr/>
            <p:nvPr/>
          </p:nvGrpSpPr>
          <p:grpSpPr>
            <a:xfrm>
              <a:off x="1887176" y="4610293"/>
              <a:ext cx="111825" cy="119119"/>
              <a:chOff x="1887176" y="4610293"/>
              <a:chExt cx="111825" cy="119119"/>
            </a:xfrm>
          </p:grpSpPr>
          <p:sp>
            <p:nvSpPr>
              <p:cNvPr id="22" name="Freeform 14"/>
              <p:cNvSpPr>
                <a:spLocks/>
              </p:cNvSpPr>
              <p:nvPr/>
            </p:nvSpPr>
            <p:spPr bwMode="auto">
              <a:xfrm>
                <a:off x="1910114" y="4676654"/>
                <a:ext cx="74550" cy="52758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6" y="92"/>
                  </a:cxn>
                  <a:cxn ang="0">
                    <a:pos x="130" y="0"/>
                  </a:cxn>
                </a:cxnLst>
                <a:rect l="0" t="0" r="r" b="b"/>
                <a:pathLst>
                  <a:path w="130" h="92">
                    <a:moveTo>
                      <a:pt x="0" y="44"/>
                    </a:moveTo>
                    <a:lnTo>
                      <a:pt x="46" y="92"/>
                    </a:lnTo>
                    <a:lnTo>
                      <a:pt x="130" y="0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 flipV="1">
                <a:off x="1887176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Line 19"/>
              <p:cNvSpPr>
                <a:spLocks noChangeShapeType="1"/>
              </p:cNvSpPr>
              <p:nvPr/>
            </p:nvSpPr>
            <p:spPr bwMode="auto">
              <a:xfrm flipV="1">
                <a:off x="1998427" y="4610293"/>
                <a:ext cx="574" cy="21791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2" name="TextBox 41"/>
          <p:cNvSpPr txBox="1"/>
          <p:nvPr userDrawn="1"/>
        </p:nvSpPr>
        <p:spPr>
          <a:xfrm>
            <a:off x="1142976" y="508795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5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VISION 2023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5" r:id="rId2"/>
    <p:sldLayoutId id="2147483649" r:id="rId3"/>
    <p:sldLayoutId id="2147483650" r:id="rId4"/>
    <p:sldLayoutId id="2147483653" r:id="rId5"/>
    <p:sldLayoutId id="2147483652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4" r:id="rId14"/>
    <p:sldLayoutId id="2147483665" r:id="rId1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alm.osstem.com/issues/25381" TargetMode="External"/><Relationship Id="rId2" Type="http://schemas.openxmlformats.org/officeDocument/2006/relationships/hyperlink" Target="http://alm.osstem.com/issues/2539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alm.osstem.com/issues/24343" TargetMode="External"/><Relationship Id="rId5" Type="http://schemas.openxmlformats.org/officeDocument/2006/relationships/hyperlink" Target="http://alm.osstem.com/issues/24683" TargetMode="External"/><Relationship Id="rId4" Type="http://schemas.openxmlformats.org/officeDocument/2006/relationships/hyperlink" Target="http://alm.osstem.com/issues/25366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alm.osstem.com/issues/22973?tab=history_comments" TargetMode="Externa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alm.osstem.com/issues/22973?tab=history_comments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alm.osstem.com/issues/22973?tab=history_comments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alm.osstem.com/issues/22973?tab=history_comments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alm.osstem.com/issues/22973?tab=history_comments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alm.osstem.com/issues/22973?tab=history_comments" TargetMode="Externa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6"/>
          <p:cNvSpPr>
            <a:spLocks noGrp="1"/>
          </p:cNvSpPr>
          <p:nvPr>
            <p:ph type="title" idx="4294967295"/>
          </p:nvPr>
        </p:nvSpPr>
        <p:spPr>
          <a:xfrm>
            <a:off x="1115616" y="1124744"/>
            <a:ext cx="5745731" cy="688256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algn="l"/>
            <a:r>
              <a:rPr lang="ko-KR" altLang="en-US" sz="4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통합 테스트케이스 설계</a:t>
            </a: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4294967295"/>
          </p:nvPr>
        </p:nvSpPr>
        <p:spPr>
          <a:xfrm>
            <a:off x="2123728" y="3518508"/>
            <a:ext cx="72768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>
              <a:buNone/>
            </a:pP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4294967295"/>
          </p:nvPr>
        </p:nvSpPr>
        <p:spPr>
          <a:xfrm>
            <a:off x="2123728" y="3973869"/>
            <a:ext cx="505514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48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매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4294967295"/>
          </p:nvPr>
        </p:nvSpPr>
        <p:spPr>
          <a:xfrm>
            <a:off x="2123728" y="4423417"/>
            <a:ext cx="505514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50</a:t>
            </a:r>
            <a:r>
              <a:rPr lang="ko-KR" altLang="en-US" sz="1600" dirty="0">
                <a:latin typeface="맑은 고딕" pitchFamily="50" charset="-127"/>
                <a:ea typeface="맑은 고딕" pitchFamily="50" charset="-127"/>
              </a:rPr>
              <a:t>분</a:t>
            </a:r>
          </a:p>
        </p:txBody>
      </p:sp>
      <p:sp>
        <p:nvSpPr>
          <p:cNvPr id="21" name="텍스트 개체 틀 20"/>
          <p:cNvSpPr>
            <a:spLocks noGrp="1"/>
          </p:cNvSpPr>
          <p:nvPr>
            <p:ph type="body" sz="quarter" idx="4294967295"/>
          </p:nvPr>
        </p:nvSpPr>
        <p:spPr>
          <a:xfrm>
            <a:off x="2123728" y="4868590"/>
            <a:ext cx="1072977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2021.05.27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83205" y="2563973"/>
            <a:ext cx="7704856" cy="34582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b="1" dirty="0"/>
              <a:t>1) Test Case ID</a:t>
            </a:r>
          </a:p>
          <a:p>
            <a:endParaRPr lang="en-US" altLang="ko-KR" sz="1200" b="1" dirty="0"/>
          </a:p>
          <a:p>
            <a:r>
              <a:rPr lang="en-US" altLang="ko-KR" sz="1200" b="1" dirty="0">
                <a:latin typeface="+mn-ea"/>
              </a:rPr>
              <a:t>   (</a:t>
            </a:r>
            <a:r>
              <a:rPr lang="ko-KR" altLang="en-US" sz="1200" b="1" dirty="0">
                <a:latin typeface="+mn-ea"/>
              </a:rPr>
              <a:t>사례</a:t>
            </a:r>
            <a:r>
              <a:rPr lang="en-US" altLang="ko-KR" sz="1200" b="1" dirty="0">
                <a:latin typeface="+mn-ea"/>
              </a:rPr>
              <a:t>1)   </a:t>
            </a:r>
            <a:r>
              <a:rPr lang="en-US" altLang="ko-KR" sz="1200" b="1" dirty="0">
                <a:latin typeface="+mn-ea"/>
                <a:sym typeface="Wingdings" panose="05000000000000000000" pitchFamily="2" charset="2"/>
              </a:rPr>
              <a:t>IT _OC_ DE_ 1                                   (</a:t>
            </a:r>
            <a:r>
              <a:rPr lang="ko-KR" altLang="en-US" sz="1200" b="1" dirty="0">
                <a:latin typeface="+mn-ea"/>
                <a:sym typeface="Wingdings" panose="05000000000000000000" pitchFamily="2" charset="2"/>
              </a:rPr>
              <a:t>사례</a:t>
            </a:r>
            <a:r>
              <a:rPr lang="en-US" altLang="ko-KR" sz="1200" b="1" dirty="0">
                <a:latin typeface="+mn-ea"/>
                <a:sym typeface="Wingdings" panose="05000000000000000000" pitchFamily="2" charset="2"/>
              </a:rPr>
              <a:t>2)      IT _OG _1                        </a:t>
            </a:r>
          </a:p>
          <a:p>
            <a:endParaRPr lang="en-US" altLang="ko-KR" sz="1200" b="1" dirty="0">
              <a:latin typeface="+mn-ea"/>
              <a:sym typeface="Wingdings" panose="05000000000000000000" pitchFamily="2" charset="2"/>
            </a:endParaRPr>
          </a:p>
          <a:p>
            <a:endParaRPr lang="en-US" altLang="ko-KR" sz="1200" b="1" dirty="0">
              <a:latin typeface="+mn-ea"/>
              <a:sym typeface="Wingdings" panose="05000000000000000000" pitchFamily="2" charset="2"/>
            </a:endParaRPr>
          </a:p>
          <a:p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      1-1)  </a:t>
            </a:r>
            <a:r>
              <a:rPr lang="ko-KR" altLang="en-US" sz="1000" b="1" dirty="0">
                <a:latin typeface="+mn-ea"/>
              </a:rPr>
              <a:t>테스트레벨 </a:t>
            </a:r>
            <a:endParaRPr lang="en-US" altLang="ko-KR" sz="1000" b="1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         -</a:t>
            </a:r>
            <a:r>
              <a:rPr lang="ko-KR" altLang="en-US" sz="1000" dirty="0">
                <a:latin typeface="+mn-ea"/>
              </a:rPr>
              <a:t>단위테스트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: Unit Test  </a:t>
            </a:r>
            <a:r>
              <a:rPr lang="en-US" altLang="ko-KR" sz="1000" dirty="0">
                <a:latin typeface="+mn-ea"/>
              </a:rPr>
              <a:t>UT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        -</a:t>
            </a:r>
            <a:r>
              <a:rPr lang="ko-KR" altLang="en-US" sz="1000" dirty="0">
                <a:latin typeface="+mn-ea"/>
              </a:rPr>
              <a:t>통합테스트 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: Integration Test  IT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        -</a:t>
            </a:r>
            <a:r>
              <a:rPr lang="ko-KR" altLang="en-US" sz="1000" dirty="0">
                <a:latin typeface="+mn-ea"/>
                <a:sym typeface="Wingdings" panose="05000000000000000000" pitchFamily="2" charset="2"/>
              </a:rPr>
              <a:t>시스템테스트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(</a:t>
            </a:r>
            <a:r>
              <a:rPr lang="ko-KR" altLang="en-US" sz="1000" dirty="0">
                <a:latin typeface="+mn-ea"/>
                <a:sym typeface="Wingdings" panose="05000000000000000000" pitchFamily="2" charset="2"/>
              </a:rPr>
              <a:t>연동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,</a:t>
            </a:r>
            <a:r>
              <a:rPr lang="ko-KR" altLang="en-US" sz="1000" dirty="0">
                <a:latin typeface="+mn-ea"/>
                <a:sym typeface="Wingdings" panose="05000000000000000000" pitchFamily="2" charset="2"/>
              </a:rPr>
              <a:t>성능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000" dirty="0">
                <a:latin typeface="+mn-ea"/>
                <a:sym typeface="Wingdings" panose="05000000000000000000" pitchFamily="2" charset="2"/>
              </a:rPr>
              <a:t>등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) : System Test  ST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        -</a:t>
            </a:r>
            <a:r>
              <a:rPr lang="ko-KR" altLang="en-US" sz="1000" dirty="0">
                <a:latin typeface="+mn-ea"/>
                <a:sym typeface="Wingdings" panose="05000000000000000000" pitchFamily="2" charset="2"/>
              </a:rPr>
              <a:t>사용자모드 테스트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: User Mode Test  UMT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        -</a:t>
            </a:r>
            <a:r>
              <a:rPr lang="ko-KR" altLang="en-US" sz="1000" dirty="0">
                <a:latin typeface="+mn-ea"/>
                <a:sym typeface="Wingdings" panose="05000000000000000000" pitchFamily="2" charset="2"/>
              </a:rPr>
              <a:t>알파테스트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/</a:t>
            </a:r>
            <a:r>
              <a:rPr lang="ko-KR" altLang="en-US" sz="1000" dirty="0">
                <a:latin typeface="+mn-ea"/>
                <a:sym typeface="Wingdings" panose="05000000000000000000" pitchFamily="2" charset="2"/>
              </a:rPr>
              <a:t>베타테스트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 AT/BT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880" y="1844824"/>
            <a:ext cx="220537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[SW </a:t>
            </a:r>
            <a:r>
              <a:rPr lang="ko-KR" altLang="en-US" sz="900" b="1" dirty="0"/>
              <a:t>품질평가실 </a:t>
            </a:r>
            <a:r>
              <a:rPr lang="en-US" altLang="ko-KR" sz="900" b="1" dirty="0"/>
              <a:t>-</a:t>
            </a:r>
            <a:r>
              <a:rPr lang="ko-KR" altLang="en-US" sz="900" b="1" dirty="0"/>
              <a:t> 테스트케이스 템플릿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sp>
        <p:nvSpPr>
          <p:cNvPr id="2" name="직사각형 1"/>
          <p:cNvSpPr/>
          <p:nvPr/>
        </p:nvSpPr>
        <p:spPr>
          <a:xfrm>
            <a:off x="2123728" y="2852936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411760" y="2852936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771800" y="2852936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059832" y="2852936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58906" y="4293096"/>
            <a:ext cx="1032974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200" b="1" dirty="0"/>
              <a:t>테스트레벨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8946" y="4005064"/>
            <a:ext cx="744942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200" b="1" dirty="0"/>
              <a:t>제품명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0970" y="3789040"/>
            <a:ext cx="1719062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200" b="1" dirty="0" err="1"/>
              <a:t>모듈명</a:t>
            </a:r>
            <a:r>
              <a:rPr lang="en-US" altLang="ko-KR" sz="1200" b="1" dirty="0"/>
              <a:t> (Optional)</a:t>
            </a:r>
            <a:endParaRPr lang="ko-KR" altLang="en-US" sz="1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3707904" y="3531671"/>
            <a:ext cx="1728192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200" b="1" dirty="0"/>
              <a:t>아라비아숫자 </a:t>
            </a:r>
            <a:r>
              <a:rPr lang="en-US" altLang="ko-KR" sz="1200" b="1" dirty="0"/>
              <a:t>(1,2,3…)</a:t>
            </a:r>
            <a:endParaRPr lang="ko-KR" altLang="en-US" sz="1200" b="1" dirty="0"/>
          </a:p>
        </p:txBody>
      </p:sp>
      <p:cxnSp>
        <p:nvCxnSpPr>
          <p:cNvPr id="22" name="꺾인 연결선 21"/>
          <p:cNvCxnSpPr>
            <a:stCxn id="9" idx="2"/>
            <a:endCxn id="15" idx="1"/>
          </p:cNvCxnSpPr>
          <p:nvPr/>
        </p:nvCxnSpPr>
        <p:spPr>
          <a:xfrm rot="16200000" flipH="1">
            <a:off x="2244977" y="3559779"/>
            <a:ext cx="848765" cy="2991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3" idx="2"/>
            <a:endCxn id="16" idx="1"/>
          </p:cNvCxnSpPr>
          <p:nvPr/>
        </p:nvCxnSpPr>
        <p:spPr>
          <a:xfrm rot="16200000" flipH="1">
            <a:off x="2694021" y="3470775"/>
            <a:ext cx="632741" cy="2611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14" idx="2"/>
            <a:endCxn id="17" idx="1"/>
          </p:cNvCxnSpPr>
          <p:nvPr/>
        </p:nvCxnSpPr>
        <p:spPr>
          <a:xfrm rot="16200000" flipH="1">
            <a:off x="3250188" y="3202640"/>
            <a:ext cx="375372" cy="5400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2" idx="2"/>
            <a:endCxn id="8" idx="1"/>
          </p:cNvCxnSpPr>
          <p:nvPr/>
        </p:nvCxnSpPr>
        <p:spPr>
          <a:xfrm rot="16200000" flipH="1">
            <a:off x="1776925" y="3739799"/>
            <a:ext cx="1136797" cy="2271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509048" y="4653136"/>
            <a:ext cx="2991054" cy="176547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000" b="1" dirty="0"/>
              <a:t>1-2) </a:t>
            </a:r>
            <a:r>
              <a:rPr lang="ko-KR" altLang="en-US" sz="1000" b="1" dirty="0"/>
              <a:t>제품명</a:t>
            </a:r>
            <a:endParaRPr lang="en-US" altLang="ko-KR" sz="1000" b="1" dirty="0"/>
          </a:p>
          <a:p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    OneClick : OC </a:t>
            </a:r>
          </a:p>
          <a:p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    One2: O2 </a:t>
            </a:r>
          </a:p>
          <a:p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    One3: O3</a:t>
            </a:r>
          </a:p>
          <a:p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    OneGuide: OG</a:t>
            </a:r>
          </a:p>
          <a:p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     </a:t>
            </a:r>
            <a:r>
              <a:rPr lang="en-US" altLang="ko-KR" sz="1000" dirty="0" err="1">
                <a:latin typeface="+mn-ea"/>
                <a:sym typeface="Wingdings" panose="05000000000000000000" pitchFamily="2" charset="2"/>
              </a:rPr>
              <a:t>OnePros</a:t>
            </a:r>
            <a:r>
              <a:rPr lang="en-US" altLang="ko-KR" sz="1000" dirty="0">
                <a:latin typeface="+mn-ea"/>
                <a:sym typeface="Wingdings" panose="05000000000000000000" pitchFamily="2" charset="2"/>
              </a:rPr>
              <a:t>: OP</a:t>
            </a:r>
          </a:p>
          <a:p>
            <a:endParaRPr lang="en-US" altLang="ko-KR" sz="10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1-3) </a:t>
            </a:r>
            <a:r>
              <a:rPr lang="ko-KR" altLang="en-US" sz="1000" b="1" dirty="0">
                <a:latin typeface="+mn-ea"/>
                <a:sym typeface="Wingdings" panose="05000000000000000000" pitchFamily="2" charset="2"/>
              </a:rPr>
              <a:t>모듈명 </a:t>
            </a:r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(optional)</a:t>
            </a:r>
          </a:p>
          <a:p>
            <a:r>
              <a:rPr lang="ko-KR" altLang="en-US" sz="1000" dirty="0"/>
              <a:t>      </a:t>
            </a:r>
            <a:r>
              <a:rPr lang="en-US" altLang="ko-KR" sz="1000" dirty="0"/>
              <a:t>OneClick </a:t>
            </a:r>
            <a:r>
              <a:rPr lang="ko-KR" altLang="en-US" sz="1000" dirty="0"/>
              <a:t>같이 모듈 별 기능이 많을 경우 추가</a:t>
            </a:r>
            <a:endParaRPr lang="en-US" altLang="ko-KR" sz="1000" dirty="0"/>
          </a:p>
          <a:p>
            <a:r>
              <a:rPr lang="ko-KR" altLang="en-US" sz="1000" dirty="0"/>
              <a:t> </a:t>
            </a:r>
            <a:r>
              <a:rPr lang="en-US" altLang="ko-KR" sz="1000" dirty="0"/>
              <a:t>     </a:t>
            </a:r>
            <a:r>
              <a:rPr lang="ko-KR" altLang="en-US" sz="1000" dirty="0"/>
              <a:t>예제</a:t>
            </a:r>
            <a:r>
              <a:rPr lang="en-US" altLang="ko-KR" sz="1000" dirty="0"/>
              <a:t>) Desk </a:t>
            </a:r>
            <a:r>
              <a:rPr lang="en-US" altLang="ko-KR" sz="1000" dirty="0">
                <a:sym typeface="Wingdings" panose="05000000000000000000" pitchFamily="2" charset="2"/>
              </a:rPr>
              <a:t> DE, </a:t>
            </a:r>
            <a:r>
              <a:rPr lang="ko-KR" altLang="en-US" sz="1000" dirty="0">
                <a:sym typeface="Wingdings" panose="05000000000000000000" pitchFamily="2" charset="2"/>
              </a:rPr>
              <a:t>예약</a:t>
            </a:r>
            <a:r>
              <a:rPr lang="en-US" altLang="ko-KR" sz="1000" dirty="0">
                <a:sym typeface="Wingdings" panose="05000000000000000000" pitchFamily="2" charset="2"/>
              </a:rPr>
              <a:t> RE</a:t>
            </a:r>
            <a:endParaRPr lang="en-US" altLang="ko-KR" sz="1000" dirty="0"/>
          </a:p>
          <a:p>
            <a:r>
              <a:rPr lang="en-US" altLang="ko-KR" sz="1000" dirty="0"/>
              <a:t>     </a:t>
            </a:r>
            <a:endParaRPr lang="ko-KR" altLang="en-US" sz="1000" dirty="0"/>
          </a:p>
        </p:txBody>
      </p:sp>
      <p:sp>
        <p:nvSpPr>
          <p:cNvPr id="47" name="직사각형 46"/>
          <p:cNvSpPr/>
          <p:nvPr/>
        </p:nvSpPr>
        <p:spPr>
          <a:xfrm>
            <a:off x="5796136" y="2894660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117512" y="2894660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438888" y="2906129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968154"/>
              </p:ext>
            </p:extLst>
          </p:nvPr>
        </p:nvGraphicFramePr>
        <p:xfrm>
          <a:off x="971600" y="1153892"/>
          <a:ext cx="7886702" cy="659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3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0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1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67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0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TestCase 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직사각형 26"/>
          <p:cNvSpPr/>
          <p:nvPr/>
        </p:nvSpPr>
        <p:spPr>
          <a:xfrm>
            <a:off x="946738" y="1139278"/>
            <a:ext cx="672934" cy="653397"/>
          </a:xfrm>
          <a:prstGeom prst="rect">
            <a:avLst/>
          </a:prstGeom>
          <a:solidFill>
            <a:srgbClr val="E1F618">
              <a:alpha val="30000"/>
            </a:srgbClr>
          </a:solidFill>
          <a:ln w="19050">
            <a:noFill/>
            <a:prstDash val="dash"/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  <p:sp>
        <p:nvSpPr>
          <p:cNvPr id="31" name="텍스트 개체 틀 4"/>
          <p:cNvSpPr txBox="1">
            <a:spLocks/>
          </p:cNvSpPr>
          <p:nvPr/>
        </p:nvSpPr>
        <p:spPr>
          <a:xfrm>
            <a:off x="755576" y="692696"/>
            <a:ext cx="4753472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작성 기준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(1/5)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6136" y="3580681"/>
            <a:ext cx="108012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b="1" dirty="0"/>
              <a:t>IT _O2 _1</a:t>
            </a:r>
            <a:endParaRPr lang="ko-KR" altLang="en-US" sz="1200" b="1" dirty="0"/>
          </a:p>
        </p:txBody>
      </p:sp>
      <p:sp>
        <p:nvSpPr>
          <p:cNvPr id="25" name="직사각형 24"/>
          <p:cNvSpPr/>
          <p:nvPr/>
        </p:nvSpPr>
        <p:spPr>
          <a:xfrm>
            <a:off x="5796136" y="3501008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084168" y="3501008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372200" y="3501008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80312" y="2940275"/>
            <a:ext cx="1008112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b="1" dirty="0"/>
              <a:t>IT_ O3_1</a:t>
            </a:r>
            <a:endParaRPr lang="ko-KR" altLang="en-US" sz="1200" b="1" dirty="0"/>
          </a:p>
        </p:txBody>
      </p:sp>
      <p:sp>
        <p:nvSpPr>
          <p:cNvPr id="34" name="직사각형 33"/>
          <p:cNvSpPr/>
          <p:nvPr/>
        </p:nvSpPr>
        <p:spPr>
          <a:xfrm>
            <a:off x="7376988" y="2859876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7663024" y="2862631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7956376" y="2852936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74992" y="3539541"/>
            <a:ext cx="1008112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b="1" dirty="0"/>
              <a:t>IT_ OP_1</a:t>
            </a:r>
            <a:endParaRPr lang="ko-KR" altLang="en-US" sz="1200" b="1" dirty="0"/>
          </a:p>
        </p:txBody>
      </p:sp>
      <p:sp>
        <p:nvSpPr>
          <p:cNvPr id="38" name="직사각형 37"/>
          <p:cNvSpPr/>
          <p:nvPr/>
        </p:nvSpPr>
        <p:spPr>
          <a:xfrm>
            <a:off x="7380312" y="3501008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668344" y="3501008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7956376" y="3501008"/>
            <a:ext cx="216024" cy="43204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2529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2123728" y="5843678"/>
            <a:ext cx="175506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</a:t>
            </a:r>
            <a:r>
              <a:rPr lang="en-US" altLang="ko-KR" sz="900" b="1" dirty="0" err="1"/>
              <a:t>OneGuide</a:t>
            </a:r>
            <a:r>
              <a:rPr lang="en-US" altLang="ko-KR" sz="900" b="1" dirty="0"/>
              <a:t> –</a:t>
            </a:r>
            <a:r>
              <a:rPr lang="ko-KR" altLang="en-US" sz="900" b="1" dirty="0"/>
              <a:t>기능리스트 일부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1259632" y="2344410"/>
            <a:ext cx="7776864" cy="58053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100" b="1" dirty="0"/>
              <a:t>2) Depth</a:t>
            </a:r>
          </a:p>
          <a:p>
            <a:r>
              <a:rPr lang="en-US" altLang="ko-KR" sz="1100" dirty="0"/>
              <a:t>    - </a:t>
            </a:r>
            <a:r>
              <a:rPr lang="ko-KR" altLang="en-US" sz="1100" b="1" dirty="0"/>
              <a:t>기본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기능리스트</a:t>
            </a:r>
            <a:r>
              <a:rPr lang="ko-KR" altLang="en-US" sz="1100" dirty="0">
                <a:latin typeface="+mn-ea"/>
              </a:rPr>
              <a:t> 기준에 맞게 </a:t>
            </a:r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TC Depth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작성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dirty="0">
                <a:latin typeface="+mn-ea"/>
              </a:rPr>
              <a:t>(Depth 1,2 </a:t>
            </a:r>
            <a:r>
              <a:rPr lang="en-US" altLang="ko-KR" sz="11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latin typeface="+mn-ea"/>
                <a:sym typeface="Wingdings" panose="05000000000000000000" pitchFamily="2" charset="2"/>
              </a:rPr>
              <a:t>기능리스트와 </a:t>
            </a:r>
            <a:r>
              <a:rPr lang="ko-KR" altLang="en-US" sz="1100" dirty="0" err="1">
                <a:latin typeface="+mn-ea"/>
                <a:sym typeface="Wingdings" panose="05000000000000000000" pitchFamily="2" charset="2"/>
              </a:rPr>
              <a:t>매핑</a:t>
            </a:r>
            <a:r>
              <a:rPr lang="ko-KR" altLang="en-US" sz="1100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latin typeface="+mn-ea"/>
                <a:sym typeface="Wingdings" panose="05000000000000000000" pitchFamily="2" charset="2"/>
              </a:rPr>
              <a:t>/ </a:t>
            </a:r>
            <a:r>
              <a:rPr lang="en-US" altLang="ko-KR" sz="1100" dirty="0">
                <a:latin typeface="+mn-ea"/>
              </a:rPr>
              <a:t>Depth 3 </a:t>
            </a:r>
            <a:r>
              <a:rPr lang="ko-KR" altLang="en-US" sz="1100" dirty="0">
                <a:latin typeface="+mn-ea"/>
              </a:rPr>
              <a:t>필요에 따라 상이</a:t>
            </a:r>
            <a:r>
              <a:rPr lang="en-US" altLang="ko-KR" sz="1100" dirty="0">
                <a:latin typeface="+mn-ea"/>
              </a:rPr>
              <a:t>) </a:t>
            </a:r>
            <a:r>
              <a:rPr lang="ko-KR" altLang="en-US" sz="1100" dirty="0">
                <a:latin typeface="+mn-ea"/>
              </a:rPr>
              <a:t>   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4168" y="5949279"/>
            <a:ext cx="209567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[OneGuide </a:t>
            </a:r>
            <a:r>
              <a:rPr lang="ko-KR" altLang="en-US" sz="900" b="1" dirty="0"/>
              <a:t>통합테스트케이스 사례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sp>
        <p:nvSpPr>
          <p:cNvPr id="12" name="줄무늬가 있는 오른쪽 화살표 11"/>
          <p:cNvSpPr/>
          <p:nvPr/>
        </p:nvSpPr>
        <p:spPr>
          <a:xfrm>
            <a:off x="5076056" y="4196178"/>
            <a:ext cx="701982" cy="504056"/>
          </a:xfrm>
          <a:prstGeom prst="stripedRightArrow">
            <a:avLst/>
          </a:prstGeom>
          <a:solidFill>
            <a:schemeClr val="bg1">
              <a:lumMod val="65000"/>
            </a:schemeClr>
          </a:solidFill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91880" y="1844824"/>
            <a:ext cx="220537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[SW </a:t>
            </a:r>
            <a:r>
              <a:rPr lang="ko-KR" altLang="en-US" sz="900" b="1" dirty="0"/>
              <a:t>품질평가실 </a:t>
            </a:r>
            <a:r>
              <a:rPr lang="en-US" altLang="ko-KR" sz="900" b="1" dirty="0"/>
              <a:t>-</a:t>
            </a:r>
            <a:r>
              <a:rPr lang="ko-KR" altLang="en-US" sz="900" b="1" dirty="0"/>
              <a:t> 테스트케이스 템플릿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714638"/>
              </p:ext>
            </p:extLst>
          </p:nvPr>
        </p:nvGraphicFramePr>
        <p:xfrm>
          <a:off x="971600" y="1153892"/>
          <a:ext cx="7886702" cy="659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3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0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1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67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0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TestCase 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직사각형 27"/>
          <p:cNvSpPr/>
          <p:nvPr/>
        </p:nvSpPr>
        <p:spPr>
          <a:xfrm>
            <a:off x="1594810" y="1139278"/>
            <a:ext cx="2113094" cy="653397"/>
          </a:xfrm>
          <a:prstGeom prst="rect">
            <a:avLst/>
          </a:prstGeom>
          <a:solidFill>
            <a:srgbClr val="E1F618">
              <a:alpha val="30000"/>
            </a:srgbClr>
          </a:solidFill>
          <a:ln w="19050">
            <a:noFill/>
            <a:prstDash val="dash"/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  <p:sp>
        <p:nvSpPr>
          <p:cNvPr id="15" name="텍스트 개체 틀 4"/>
          <p:cNvSpPr txBox="1">
            <a:spLocks/>
          </p:cNvSpPr>
          <p:nvPr/>
        </p:nvSpPr>
        <p:spPr>
          <a:xfrm>
            <a:off x="755576" y="692696"/>
            <a:ext cx="4753472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작성 기준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(2/5)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357950"/>
              </p:ext>
            </p:extLst>
          </p:nvPr>
        </p:nvGraphicFramePr>
        <p:xfrm>
          <a:off x="5752266" y="2924944"/>
          <a:ext cx="3047509" cy="3070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7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Case ID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소프트웨어 실행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OneGuide </a:t>
                      </a:r>
                      <a:r>
                        <a:rPr lang="ko-KR" altLang="en-US" sz="700" u="none" strike="noStrike">
                          <a:effectLst/>
                        </a:rPr>
                        <a:t>실행하기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소프트웨어 실행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 err="1">
                          <a:effectLst/>
                        </a:rPr>
                        <a:t>OneGuide</a:t>
                      </a:r>
                      <a:r>
                        <a:rPr lang="en-US" sz="700" u="none" strike="noStrike" dirty="0">
                          <a:effectLst/>
                        </a:rPr>
                        <a:t> </a:t>
                      </a:r>
                      <a:r>
                        <a:rPr lang="ko-KR" altLang="en-US" sz="700" u="none" strike="noStrike" dirty="0">
                          <a:effectLst/>
                        </a:rPr>
                        <a:t>실행하기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소프트웨어 실행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OneGuide </a:t>
                      </a:r>
                      <a:r>
                        <a:rPr lang="ko-KR" altLang="en-US" sz="700" u="none" strike="noStrike">
                          <a:effectLst/>
                        </a:rPr>
                        <a:t>실행하기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소프트웨어 실행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로그인하기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5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소프트웨어 실행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로그인하기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5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소프트웨어 실행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OneClick </a:t>
                      </a:r>
                      <a:r>
                        <a:rPr lang="ko-KR" altLang="en-US" sz="700" u="none" strike="noStrike">
                          <a:effectLst/>
                        </a:rPr>
                        <a:t>연동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5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IT_OG1_10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환자 선택하기 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환자 검색하기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1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환자 선택하기 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환자 검색하기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환자 선택하기 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환자 검색하기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IT_OG1_13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환자 선택하기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환자 확인하기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54" marR="7854" marT="7854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823143"/>
              </p:ext>
            </p:extLst>
          </p:nvPr>
        </p:nvGraphicFramePr>
        <p:xfrm>
          <a:off x="899592" y="2916396"/>
          <a:ext cx="4032450" cy="2916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0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5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항목 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Level 1)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기능 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level 2)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사용자 행위 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level 3)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800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800" u="none" strike="noStrike">
                          <a:effectLst/>
                        </a:rPr>
                        <a:t>OGS-P-01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 rowSpan="4"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소프트웨어 실행하기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OneGuide </a:t>
                      </a:r>
                      <a:r>
                        <a:rPr lang="ko-KR" altLang="en-US" sz="800" u="none" strike="noStrike">
                          <a:effectLst/>
                        </a:rPr>
                        <a:t>실행하기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 err="1">
                          <a:effectLst/>
                        </a:rPr>
                        <a:t>OneGuide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바로가기</a:t>
                      </a:r>
                      <a:r>
                        <a:rPr lang="ko-KR" altLang="en-US" sz="800" u="none" strike="noStrike" dirty="0">
                          <a:effectLst/>
                        </a:rPr>
                        <a:t> 아이콘 클릭하기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로그인하기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사용자 정보 입력하기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 err="1">
                          <a:effectLst/>
                        </a:rPr>
                        <a:t>OneClick</a:t>
                      </a:r>
                      <a:r>
                        <a:rPr 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 err="1">
                          <a:effectLst/>
                        </a:rPr>
                        <a:t>OneClick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바로가기</a:t>
                      </a:r>
                      <a:r>
                        <a:rPr lang="ko-KR" altLang="en-US" sz="800" u="none" strike="noStrike" dirty="0">
                          <a:effectLst/>
                        </a:rPr>
                        <a:t> 아이콘 클릭하기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 err="1">
                          <a:effectLst/>
                        </a:rPr>
                        <a:t>OneGuide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바로가기</a:t>
                      </a:r>
                      <a:r>
                        <a:rPr lang="ko-KR" altLang="en-US" sz="800" u="none" strike="noStrike" dirty="0">
                          <a:effectLst/>
                        </a:rPr>
                        <a:t> 아이콘 클릭하기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528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800" u="none" strike="noStrike">
                          <a:effectLst/>
                        </a:rPr>
                        <a:t>OGS-P-02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 rowSpan="4">
                  <a:txBody>
                    <a:bodyPr/>
                    <a:lstStyle/>
                    <a:p>
                      <a:pPr algn="ctr" fontAlgn="t"/>
                      <a:r>
                        <a:rPr lang="ko-KR" altLang="en-US" sz="800" u="none" strike="noStrike">
                          <a:effectLst/>
                        </a:rPr>
                        <a:t>환자 선택하기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환자 검색하기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환자 이름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차트번호 검색하기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>
                          <a:effectLst/>
                        </a:rPr>
                        <a:t>환자 확인하기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작업상태 별 환자리스트 확인하기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전체 환자리스트 확인하기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환자 확인하기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323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59632" y="2348880"/>
            <a:ext cx="7776864" cy="58053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100" b="1" dirty="0"/>
              <a:t>2) Depth</a:t>
            </a:r>
          </a:p>
          <a:p>
            <a:r>
              <a:rPr lang="en-US" altLang="ko-KR" sz="1100" dirty="0"/>
              <a:t> </a:t>
            </a:r>
            <a:r>
              <a:rPr lang="en-US" altLang="ko-KR" sz="1100" dirty="0">
                <a:latin typeface="+mn-ea"/>
              </a:rPr>
              <a:t>   - </a:t>
            </a:r>
            <a:r>
              <a:rPr lang="ko-KR" altLang="en-US" sz="1100" b="1" dirty="0">
                <a:latin typeface="+mn-ea"/>
              </a:rPr>
              <a:t>기능리스트 문서가 없을 때 </a:t>
            </a:r>
            <a:r>
              <a:rPr lang="en-US" altLang="ko-KR" sz="1100" b="1" dirty="0">
                <a:latin typeface="+mn-ea"/>
              </a:rPr>
              <a:t>or </a:t>
            </a:r>
            <a:r>
              <a:rPr lang="ko-KR" altLang="en-US" sz="1100" dirty="0">
                <a:latin typeface="+mn-ea"/>
              </a:rPr>
              <a:t>기능리스트에 </a:t>
            </a:r>
            <a:r>
              <a:rPr lang="ko-KR" altLang="en-US" sz="1100" b="1" dirty="0">
                <a:latin typeface="+mn-ea"/>
              </a:rPr>
              <a:t>매핑 할 항목이 없을 때</a:t>
            </a:r>
            <a:r>
              <a:rPr lang="ko-KR" altLang="en-US" sz="1100" dirty="0">
                <a:latin typeface="+mn-ea"/>
              </a:rPr>
              <a:t> 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  <a:sym typeface="Wingdings" panose="05000000000000000000" pitchFamily="2" charset="2"/>
              </a:rPr>
              <a:t>        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화면설계서 </a:t>
            </a:r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or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개발산출물</a:t>
            </a:r>
            <a:r>
              <a:rPr lang="ko-KR" altLang="en-US" sz="1100" dirty="0">
                <a:latin typeface="+mn-ea"/>
              </a:rPr>
              <a:t> 기준으로 </a:t>
            </a:r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TC Depth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 조절</a:t>
            </a:r>
            <a:r>
              <a:rPr lang="ko-KR" altLang="en-US" sz="1100" dirty="0">
                <a:latin typeface="+mn-ea"/>
              </a:rPr>
              <a:t>가능</a:t>
            </a:r>
            <a:endParaRPr lang="en-US" altLang="ko-KR" sz="11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91880" y="1844824"/>
            <a:ext cx="220537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[SW </a:t>
            </a:r>
            <a:r>
              <a:rPr lang="ko-KR" altLang="en-US" sz="900" b="1" dirty="0"/>
              <a:t>품질평가실 </a:t>
            </a:r>
            <a:r>
              <a:rPr lang="en-US" altLang="ko-KR" sz="900" b="1" dirty="0"/>
              <a:t>-</a:t>
            </a:r>
            <a:r>
              <a:rPr lang="ko-KR" altLang="en-US" sz="900" b="1" dirty="0"/>
              <a:t> 테스트케이스 템플릿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322953"/>
              </p:ext>
            </p:extLst>
          </p:nvPr>
        </p:nvGraphicFramePr>
        <p:xfrm>
          <a:off x="971600" y="1153892"/>
          <a:ext cx="7886702" cy="659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3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0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1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67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0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TestCase 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1594810" y="1139278"/>
            <a:ext cx="2113094" cy="653397"/>
          </a:xfrm>
          <a:prstGeom prst="rect">
            <a:avLst/>
          </a:prstGeom>
          <a:solidFill>
            <a:srgbClr val="E1F618">
              <a:alpha val="30000"/>
            </a:srgbClr>
          </a:solidFill>
          <a:ln w="19050">
            <a:noFill/>
            <a:prstDash val="dash"/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  <p:sp>
        <p:nvSpPr>
          <p:cNvPr id="19" name="텍스트 개체 틀 4"/>
          <p:cNvSpPr txBox="1">
            <a:spLocks/>
          </p:cNvSpPr>
          <p:nvPr/>
        </p:nvSpPr>
        <p:spPr>
          <a:xfrm>
            <a:off x="755576" y="692696"/>
            <a:ext cx="4753472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작성 기준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(3/5)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10" y="3717032"/>
            <a:ext cx="4155108" cy="23664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5" name="직사각형 24"/>
          <p:cNvSpPr/>
          <p:nvPr/>
        </p:nvSpPr>
        <p:spPr>
          <a:xfrm>
            <a:off x="2321966" y="5451724"/>
            <a:ext cx="2178026" cy="641572"/>
          </a:xfrm>
          <a:prstGeom prst="rect">
            <a:avLst/>
          </a:prstGeom>
          <a:solidFill>
            <a:srgbClr val="E1F618">
              <a:alpha val="20000"/>
            </a:srgbClr>
          </a:solidFill>
          <a:ln w="19050">
            <a:noFill/>
            <a:prstDash val="dash"/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5004048" y="2996952"/>
            <a:ext cx="3960440" cy="3312368"/>
            <a:chOff x="5004048" y="2996952"/>
            <a:chExt cx="3960440" cy="3312368"/>
          </a:xfrm>
        </p:grpSpPr>
        <p:sp>
          <p:nvSpPr>
            <p:cNvPr id="37" name="TextBox 36"/>
            <p:cNvSpPr txBox="1"/>
            <p:nvPr/>
          </p:nvSpPr>
          <p:spPr>
            <a:xfrm>
              <a:off x="6233426" y="6111599"/>
              <a:ext cx="1794958" cy="19772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900" b="1" dirty="0"/>
                <a:t>[One2 </a:t>
              </a:r>
              <a:r>
                <a:rPr lang="ko-KR" altLang="en-US" sz="900" b="1" dirty="0"/>
                <a:t>기획서</a:t>
              </a:r>
              <a:r>
                <a:rPr lang="en-US" altLang="ko-KR" sz="900" b="1" dirty="0"/>
                <a:t>-V1.1.4] </a:t>
              </a:r>
              <a:r>
                <a:rPr lang="ko-KR" altLang="en-US" sz="900" b="1" dirty="0"/>
                <a:t>예시 </a:t>
              </a:r>
              <a:endParaRPr lang="ko-KR" altLang="en-US" sz="900" dirty="0"/>
            </a:p>
          </p:txBody>
        </p:sp>
        <p:pic>
          <p:nvPicPr>
            <p:cNvPr id="38" name="그림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4048" y="2996952"/>
              <a:ext cx="3960440" cy="372859"/>
            </a:xfrm>
            <a:prstGeom prst="rect">
              <a:avLst/>
            </a:prstGeom>
          </p:spPr>
        </p:pic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4535" y="3477740"/>
              <a:ext cx="3857945" cy="2615556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</p:grpSp>
      <p:sp>
        <p:nvSpPr>
          <p:cNvPr id="41" name="TextBox 40"/>
          <p:cNvSpPr txBox="1"/>
          <p:nvPr/>
        </p:nvSpPr>
        <p:spPr>
          <a:xfrm>
            <a:off x="1737208" y="6077326"/>
            <a:ext cx="197069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[One2 P/G Patient Module -</a:t>
            </a:r>
            <a:r>
              <a:rPr lang="ko-KR" altLang="en-US" sz="900" b="1" dirty="0"/>
              <a:t>화면</a:t>
            </a:r>
            <a:endParaRPr lang="ko-KR" altLang="en-US" sz="900" dirty="0"/>
          </a:p>
        </p:txBody>
      </p:sp>
      <p:sp>
        <p:nvSpPr>
          <p:cNvPr id="7" name="줄무늬가 있는 오른쪽 화살표 6"/>
          <p:cNvSpPr/>
          <p:nvPr/>
        </p:nvSpPr>
        <p:spPr>
          <a:xfrm>
            <a:off x="4633921" y="4636901"/>
            <a:ext cx="329553" cy="287451"/>
          </a:xfrm>
          <a:prstGeom prst="stripedRightArrow">
            <a:avLst/>
          </a:prstGeom>
          <a:solidFill>
            <a:schemeClr val="bg1">
              <a:lumMod val="65000"/>
            </a:schemeClr>
          </a:solidFill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 err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961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59632" y="2348880"/>
            <a:ext cx="7776864" cy="58053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100" b="1" dirty="0"/>
              <a:t>2) Depth</a:t>
            </a:r>
          </a:p>
          <a:p>
            <a:r>
              <a:rPr lang="en-US" altLang="ko-KR" sz="1100" dirty="0"/>
              <a:t> </a:t>
            </a:r>
            <a:r>
              <a:rPr lang="en-US" altLang="ko-KR" sz="1100" dirty="0">
                <a:latin typeface="+mn-ea"/>
              </a:rPr>
              <a:t>   - </a:t>
            </a:r>
            <a:r>
              <a:rPr lang="ko-KR" altLang="en-US" sz="1100" b="1" dirty="0">
                <a:latin typeface="+mn-ea"/>
              </a:rPr>
              <a:t>기능리스트 문서가 없을 때 </a:t>
            </a:r>
            <a:r>
              <a:rPr lang="en-US" altLang="ko-KR" sz="1100" b="1" dirty="0">
                <a:latin typeface="+mn-ea"/>
              </a:rPr>
              <a:t>or </a:t>
            </a:r>
            <a:r>
              <a:rPr lang="ko-KR" altLang="en-US" sz="1100" dirty="0">
                <a:latin typeface="+mn-ea"/>
              </a:rPr>
              <a:t>기능리스트에 </a:t>
            </a:r>
            <a:r>
              <a:rPr lang="ko-KR" altLang="en-US" sz="1100" b="1" dirty="0">
                <a:latin typeface="+mn-ea"/>
              </a:rPr>
              <a:t>매핑 할 항목이 없을 때</a:t>
            </a:r>
            <a:r>
              <a:rPr lang="ko-KR" altLang="en-US" sz="1100" dirty="0">
                <a:latin typeface="+mn-ea"/>
              </a:rPr>
              <a:t> 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  <a:sym typeface="Wingdings" panose="05000000000000000000" pitchFamily="2" charset="2"/>
              </a:rPr>
              <a:t>        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화면설계서 </a:t>
            </a:r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or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개발산출물</a:t>
            </a:r>
            <a:r>
              <a:rPr lang="ko-KR" altLang="en-US" sz="1100" dirty="0">
                <a:latin typeface="+mn-ea"/>
              </a:rPr>
              <a:t> 기준으로 </a:t>
            </a:r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TC Depth</a:t>
            </a:r>
            <a:r>
              <a:rPr lang="ko-KR" altLang="en-US" sz="1100" b="1">
                <a:solidFill>
                  <a:srgbClr val="0070C0"/>
                </a:solidFill>
                <a:latin typeface="+mn-ea"/>
              </a:rPr>
              <a:t> 조절</a:t>
            </a:r>
            <a:r>
              <a:rPr lang="ko-KR" altLang="en-US" sz="1100">
                <a:latin typeface="+mn-ea"/>
              </a:rPr>
              <a:t>가능</a:t>
            </a:r>
            <a:endParaRPr lang="en-US" altLang="ko-KR" sz="11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91880" y="1844824"/>
            <a:ext cx="220537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[SW </a:t>
            </a:r>
            <a:r>
              <a:rPr lang="ko-KR" altLang="en-US" sz="900" b="1" dirty="0"/>
              <a:t>품질평가실 </a:t>
            </a:r>
            <a:r>
              <a:rPr lang="en-US" altLang="ko-KR" sz="900" b="1" dirty="0"/>
              <a:t>-</a:t>
            </a:r>
            <a:r>
              <a:rPr lang="ko-KR" altLang="en-US" sz="900" b="1" dirty="0"/>
              <a:t> 테스트케이스 템플릿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322953"/>
              </p:ext>
            </p:extLst>
          </p:nvPr>
        </p:nvGraphicFramePr>
        <p:xfrm>
          <a:off x="971600" y="1153892"/>
          <a:ext cx="7886702" cy="659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3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0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1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67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0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TestCase 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1594810" y="1139278"/>
            <a:ext cx="2113094" cy="653397"/>
          </a:xfrm>
          <a:prstGeom prst="rect">
            <a:avLst/>
          </a:prstGeom>
          <a:solidFill>
            <a:srgbClr val="E1F618">
              <a:alpha val="30000"/>
            </a:srgbClr>
          </a:solidFill>
          <a:ln w="19050">
            <a:noFill/>
            <a:prstDash val="dash"/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  <p:sp>
        <p:nvSpPr>
          <p:cNvPr id="19" name="텍스트 개체 틀 4"/>
          <p:cNvSpPr txBox="1">
            <a:spLocks/>
          </p:cNvSpPr>
          <p:nvPr/>
        </p:nvSpPr>
        <p:spPr>
          <a:xfrm>
            <a:off x="755576" y="692696"/>
            <a:ext cx="4753472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작성 기준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(3/5)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20" name="줄무늬가 있는 오른쪽 화살표 19"/>
          <p:cNvSpPr/>
          <p:nvPr/>
        </p:nvSpPr>
        <p:spPr>
          <a:xfrm>
            <a:off x="4801252" y="4509120"/>
            <a:ext cx="864096" cy="504056"/>
          </a:xfrm>
          <a:prstGeom prst="stripedRightArrow">
            <a:avLst/>
          </a:prstGeom>
          <a:solidFill>
            <a:schemeClr val="bg1">
              <a:lumMod val="65000"/>
            </a:schemeClr>
          </a:solidFill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899592" y="3089836"/>
            <a:ext cx="4392488" cy="3491205"/>
            <a:chOff x="899592" y="3089836"/>
            <a:chExt cx="4392488" cy="3491205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5345" y="3527081"/>
              <a:ext cx="3641679" cy="332035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grpSp>
          <p:nvGrpSpPr>
            <p:cNvPr id="13" name="그룹 12"/>
            <p:cNvGrpSpPr/>
            <p:nvPr/>
          </p:nvGrpSpPr>
          <p:grpSpPr>
            <a:xfrm>
              <a:off x="899592" y="3089836"/>
              <a:ext cx="4392488" cy="3491205"/>
              <a:chOff x="899592" y="3089836"/>
              <a:chExt cx="4392488" cy="3491205"/>
            </a:xfrm>
          </p:grpSpPr>
          <p:grpSp>
            <p:nvGrpSpPr>
              <p:cNvPr id="8" name="그룹 7"/>
              <p:cNvGrpSpPr/>
              <p:nvPr/>
            </p:nvGrpSpPr>
            <p:grpSpPr>
              <a:xfrm>
                <a:off x="899592" y="3089836"/>
                <a:ext cx="4392488" cy="3491205"/>
                <a:chOff x="827584" y="3130620"/>
                <a:chExt cx="4248472" cy="3355370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2081231" y="6294047"/>
                  <a:ext cx="1925500" cy="19194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r>
                    <a:rPr lang="en-US" altLang="ko-KR" sz="900" b="1" dirty="0"/>
                    <a:t>[One2 </a:t>
                  </a:r>
                  <a:r>
                    <a:rPr lang="ko-KR" altLang="en-US" sz="900" b="1" dirty="0"/>
                    <a:t>기획서</a:t>
                  </a:r>
                  <a:r>
                    <a:rPr lang="en-US" altLang="ko-KR" sz="900" b="1" dirty="0"/>
                    <a:t>-V1.1.4] </a:t>
                  </a:r>
                  <a:r>
                    <a:rPr lang="ko-KR" altLang="en-US" sz="900" b="1" dirty="0"/>
                    <a:t>예시 </a:t>
                  </a:r>
                  <a:endParaRPr lang="ko-KR" altLang="en-US" sz="900" dirty="0"/>
                </a:p>
              </p:txBody>
            </p:sp>
            <p:pic>
              <p:nvPicPr>
                <p:cNvPr id="3" name="그림 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7584" y="3130620"/>
                  <a:ext cx="4248472" cy="361962"/>
                </a:xfrm>
                <a:prstGeom prst="rect">
                  <a:avLst/>
                </a:prstGeom>
              </p:spPr>
            </p:pic>
          </p:grpSp>
          <p:sp>
            <p:nvSpPr>
              <p:cNvPr id="27" name="직사각형 26"/>
              <p:cNvSpPr/>
              <p:nvPr/>
            </p:nvSpPr>
            <p:spPr>
              <a:xfrm>
                <a:off x="1195345" y="3485338"/>
                <a:ext cx="3641679" cy="377750"/>
              </a:xfrm>
              <a:prstGeom prst="rect">
                <a:avLst/>
              </a:prstGeom>
              <a:solidFill>
                <a:srgbClr val="E1F618">
                  <a:alpha val="10000"/>
                </a:srgbClr>
              </a:solidFill>
              <a:ln w="19050">
                <a:noFill/>
                <a:prstDash val="dash"/>
              </a:ln>
            </p:spPr>
            <p:txBody>
              <a:bodyPr wrap="non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endPara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3" name="순서도: 병합 22"/>
            <p:cNvSpPr/>
            <p:nvPr/>
          </p:nvSpPr>
          <p:spPr>
            <a:xfrm>
              <a:off x="1691680" y="3871152"/>
              <a:ext cx="2520280" cy="202069"/>
            </a:xfrm>
            <a:prstGeom prst="flowChartMerge">
              <a:avLst/>
            </a:prstGeom>
            <a:solidFill>
              <a:schemeClr val="bg1">
                <a:lumMod val="65000"/>
                <a:alpha val="30000"/>
              </a:schemeClr>
            </a:solidFill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397653" y="6309320"/>
            <a:ext cx="2206795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[One2 </a:t>
            </a:r>
            <a:r>
              <a:rPr lang="ko-KR" altLang="en-US" sz="900" b="1" dirty="0"/>
              <a:t>테스트케이스</a:t>
            </a:r>
            <a:r>
              <a:rPr lang="en-US" altLang="ko-KR" sz="900" b="1" dirty="0"/>
              <a:t>] Depth </a:t>
            </a:r>
            <a:r>
              <a:rPr lang="ko-KR" altLang="en-US" sz="900" b="1" dirty="0"/>
              <a:t>구성 예시 </a:t>
            </a:r>
            <a:endParaRPr lang="ko-KR" altLang="en-US" sz="9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259" y="4137303"/>
            <a:ext cx="3359487" cy="227761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865683"/>
              </p:ext>
            </p:extLst>
          </p:nvPr>
        </p:nvGraphicFramePr>
        <p:xfrm>
          <a:off x="5868144" y="3937992"/>
          <a:ext cx="2971800" cy="237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2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Patient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All Patient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Thumbnail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Modality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Patient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All Patient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Thumbnail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Modality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Patient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All Patient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Thumbnail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Modality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Patient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All Patient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Thumbnail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Modality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Patient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All Patient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Thumbnail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Modality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61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59632" y="2132856"/>
            <a:ext cx="5256584" cy="244258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100" b="1" dirty="0"/>
              <a:t>3) Title</a:t>
            </a:r>
          </a:p>
          <a:p>
            <a:r>
              <a:rPr lang="en-US" altLang="ko-KR" sz="1100" dirty="0"/>
              <a:t>    </a:t>
            </a:r>
            <a:r>
              <a:rPr lang="ko-KR" altLang="en-US" sz="1100" dirty="0"/>
              <a:t>테스트 </a:t>
            </a:r>
            <a:r>
              <a:rPr lang="ko-KR" altLang="en-US" sz="1100" b="1" dirty="0">
                <a:solidFill>
                  <a:srgbClr val="0070C0"/>
                </a:solidFill>
              </a:rPr>
              <a:t>핵심</a:t>
            </a:r>
            <a:r>
              <a:rPr lang="ko-KR" altLang="en-US" sz="1100" dirty="0"/>
              <a:t> 내용을 </a:t>
            </a:r>
            <a:r>
              <a:rPr lang="en-US" altLang="ko-KR" sz="1100" dirty="0"/>
              <a:t>(Keyword)</a:t>
            </a:r>
            <a:r>
              <a:rPr lang="ko-KR" altLang="en-US" sz="1100" dirty="0"/>
              <a:t> </a:t>
            </a:r>
            <a:r>
              <a:rPr lang="ko-KR" altLang="en-US" sz="1100" b="1" dirty="0">
                <a:solidFill>
                  <a:srgbClr val="0070C0"/>
                </a:solidFill>
              </a:rPr>
              <a:t>간단 명료히 </a:t>
            </a:r>
            <a:r>
              <a:rPr lang="ko-KR" altLang="en-US" sz="1100" dirty="0"/>
              <a:t>작성 </a:t>
            </a:r>
            <a:r>
              <a:rPr lang="en-US" altLang="ko-KR" sz="1100" dirty="0"/>
              <a:t>(N</a:t>
            </a:r>
            <a:r>
              <a:rPr lang="ko-KR" altLang="en-US" sz="1100" dirty="0"/>
              <a:t>형</a:t>
            </a:r>
            <a:r>
              <a:rPr lang="en-US" altLang="ko-KR" sz="1100" dirty="0"/>
              <a:t>) </a:t>
            </a:r>
          </a:p>
          <a:p>
            <a:r>
              <a:rPr lang="en-US" altLang="ko-KR" sz="1100" b="1" dirty="0">
                <a:latin typeface="+mn-ea"/>
              </a:rPr>
              <a:t>4) Pre-Condition</a:t>
            </a:r>
          </a:p>
          <a:p>
            <a:r>
              <a:rPr lang="en-US" altLang="ko-KR" sz="1100" dirty="0">
                <a:latin typeface="+mn-ea"/>
              </a:rPr>
              <a:t>    - </a:t>
            </a:r>
            <a:r>
              <a:rPr lang="ko-KR" altLang="en-US" sz="1100" dirty="0">
                <a:latin typeface="+mn-ea"/>
              </a:rPr>
              <a:t>테스트 수행에 필요한 사전조건에 대한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     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정보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구동환경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테스트 데이터</a:t>
            </a:r>
            <a:r>
              <a:rPr lang="ko-KR" altLang="en-US" sz="1100" dirty="0">
                <a:latin typeface="+mn-ea"/>
              </a:rPr>
              <a:t>에 대해 정의 작성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    - </a:t>
            </a:r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Pre-condition or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 입력 값에 </a:t>
            </a:r>
            <a:r>
              <a:rPr lang="ko-KR" altLang="en-US" sz="1100" dirty="0">
                <a:latin typeface="+mn-ea"/>
              </a:rPr>
              <a:t>따라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기대결과가 달라지는 경우는 </a:t>
            </a:r>
            <a:endParaRPr lang="en-US" altLang="ko-KR" sz="1100" b="1" dirty="0">
              <a:solidFill>
                <a:srgbClr val="0070C0"/>
              </a:solidFill>
              <a:latin typeface="+mn-ea"/>
            </a:endParaRPr>
          </a:p>
          <a:p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     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케이스 별 </a:t>
            </a:r>
            <a:r>
              <a:rPr lang="ko-KR" altLang="en-US" sz="1100" dirty="0">
                <a:latin typeface="+mn-ea"/>
              </a:rPr>
              <a:t>작성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b="1" dirty="0">
                <a:latin typeface="+mn-ea"/>
              </a:rPr>
              <a:t>5) Test Step </a:t>
            </a:r>
          </a:p>
          <a:p>
            <a:r>
              <a:rPr lang="en-US" altLang="ko-KR" sz="1100" dirty="0">
                <a:latin typeface="+mn-ea"/>
              </a:rPr>
              <a:t>    -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구체적인 테스트 단계</a:t>
            </a:r>
            <a:r>
              <a:rPr lang="ko-KR" altLang="en-US" sz="1100" dirty="0">
                <a:latin typeface="+mn-ea"/>
              </a:rPr>
              <a:t>를 작성 하도록 함  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최대 </a:t>
            </a:r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7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단계 이내</a:t>
            </a:r>
            <a:r>
              <a:rPr lang="ko-KR" altLang="en-US" sz="1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권고</a:t>
            </a:r>
            <a:r>
              <a:rPr lang="en-US" altLang="ko-KR" sz="1100" dirty="0">
                <a:latin typeface="+mn-ea"/>
              </a:rPr>
              <a:t>)  </a:t>
            </a:r>
          </a:p>
          <a:p>
            <a:r>
              <a:rPr lang="en-US" altLang="ko-KR" sz="1100" dirty="0">
                <a:latin typeface="+mn-ea"/>
              </a:rPr>
              <a:t>    -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테스트 목적 </a:t>
            </a:r>
            <a:r>
              <a:rPr lang="en-US" altLang="ko-KR" sz="1100" dirty="0">
                <a:latin typeface="+mn-ea"/>
              </a:rPr>
              <a:t>or 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TC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설계 기법 에 맞게 작성</a:t>
            </a:r>
            <a:endParaRPr lang="en-US" altLang="ko-KR" sz="1100" b="1" dirty="0">
              <a:solidFill>
                <a:srgbClr val="0070C0"/>
              </a:solidFill>
              <a:latin typeface="+mn-ea"/>
            </a:endParaRPr>
          </a:p>
          <a:p>
            <a:r>
              <a:rPr lang="en-US" altLang="ko-KR" sz="1100" b="1" dirty="0">
                <a:latin typeface="+mn-ea"/>
              </a:rPr>
              <a:t>6) Expected Result (</a:t>
            </a:r>
            <a:r>
              <a:rPr lang="ko-KR" altLang="en-US" sz="1100" b="1" dirty="0">
                <a:latin typeface="+mn-ea"/>
              </a:rPr>
              <a:t>必</a:t>
            </a:r>
            <a:r>
              <a:rPr lang="en-US" altLang="ko-KR" sz="1100" b="1" dirty="0">
                <a:latin typeface="+mn-ea"/>
              </a:rPr>
              <a:t>)</a:t>
            </a:r>
          </a:p>
          <a:p>
            <a:r>
              <a:rPr lang="en-US" altLang="ko-KR" sz="1100" b="1" dirty="0">
                <a:latin typeface="+mn-ea"/>
              </a:rPr>
              <a:t>   -</a:t>
            </a:r>
            <a:r>
              <a:rPr lang="ko-KR" altLang="en-US" sz="1100" dirty="0">
                <a:latin typeface="+mn-ea"/>
              </a:rPr>
              <a:t>의도한 대로 동작하는지 판단하는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기대결과 명확</a:t>
            </a:r>
            <a:r>
              <a:rPr lang="ko-KR" altLang="en-US" sz="1100" dirty="0">
                <a:latin typeface="+mn-ea"/>
              </a:rPr>
              <a:t>히 작성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   -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서로 다른 여러 결과가 </a:t>
            </a:r>
            <a:r>
              <a:rPr lang="ko-KR" altLang="en-US" sz="1100" dirty="0">
                <a:latin typeface="+mn-ea"/>
              </a:rPr>
              <a:t>발생하면 분할하여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 케이스 별 작성</a:t>
            </a:r>
            <a:endParaRPr lang="en-US" altLang="ko-KR" sz="1100" b="1" dirty="0">
              <a:solidFill>
                <a:srgbClr val="0070C0"/>
              </a:solidFill>
              <a:latin typeface="+mn-ea"/>
            </a:endParaRPr>
          </a:p>
          <a:p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 </a:t>
            </a:r>
            <a:endParaRPr lang="en-US" altLang="ko-KR" sz="11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91880" y="1844824"/>
            <a:ext cx="220537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[SW </a:t>
            </a:r>
            <a:r>
              <a:rPr lang="ko-KR" altLang="en-US" sz="900" b="1" dirty="0"/>
              <a:t>품질평가실 </a:t>
            </a:r>
            <a:r>
              <a:rPr lang="en-US" altLang="ko-KR" sz="900" b="1" dirty="0"/>
              <a:t>-</a:t>
            </a:r>
            <a:r>
              <a:rPr lang="ko-KR" altLang="en-US" sz="900" b="1" dirty="0"/>
              <a:t> 테스트케이스 템플릿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98840"/>
              </p:ext>
            </p:extLst>
          </p:nvPr>
        </p:nvGraphicFramePr>
        <p:xfrm>
          <a:off x="971600" y="1153892"/>
          <a:ext cx="7886702" cy="659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3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0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1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67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0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TestCase 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851920" y="6458157"/>
            <a:ext cx="220537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[One2 </a:t>
            </a:r>
            <a:r>
              <a:rPr lang="ko-KR" altLang="en-US" sz="900" b="1" dirty="0"/>
              <a:t>통합테스트케이스 </a:t>
            </a:r>
            <a:r>
              <a:rPr lang="en-US" altLang="ko-KR" sz="900" b="1" dirty="0"/>
              <a:t>–</a:t>
            </a:r>
            <a:r>
              <a:rPr lang="ko-KR" altLang="en-US" sz="900" b="1" dirty="0"/>
              <a:t>사례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sp>
        <p:nvSpPr>
          <p:cNvPr id="21" name="직사각형 20"/>
          <p:cNvSpPr/>
          <p:nvPr/>
        </p:nvSpPr>
        <p:spPr>
          <a:xfrm>
            <a:off x="3707904" y="1119419"/>
            <a:ext cx="4104456" cy="653397"/>
          </a:xfrm>
          <a:prstGeom prst="rect">
            <a:avLst/>
          </a:prstGeom>
          <a:solidFill>
            <a:srgbClr val="E1F618">
              <a:alpha val="30000"/>
            </a:srgbClr>
          </a:solidFill>
          <a:ln w="19050">
            <a:noFill/>
            <a:prstDash val="dash"/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  <p:sp>
        <p:nvSpPr>
          <p:cNvPr id="29" name="텍스트 개체 틀 4"/>
          <p:cNvSpPr txBox="1">
            <a:spLocks/>
          </p:cNvSpPr>
          <p:nvPr/>
        </p:nvSpPr>
        <p:spPr>
          <a:xfrm>
            <a:off x="755576" y="692696"/>
            <a:ext cx="4753472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작성 기준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(4/5)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809293"/>
              </p:ext>
            </p:extLst>
          </p:nvPr>
        </p:nvGraphicFramePr>
        <p:xfrm>
          <a:off x="899592" y="4438228"/>
          <a:ext cx="7848872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6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9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7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121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132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93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Case ID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0089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Thumbnail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 dirty="0">
                          <a:effectLst/>
                        </a:rPr>
                        <a:t>모두 선택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선택되지 않은  </a:t>
                      </a:r>
                      <a:r>
                        <a:rPr lang="en-US" altLang="ko-KR" sz="750" u="none" strike="noStrike" dirty="0">
                          <a:effectLst/>
                        </a:rPr>
                        <a:t>Modality</a:t>
                      </a:r>
                      <a:r>
                        <a:rPr lang="ko-KR" altLang="en-US" sz="750" u="none" strike="noStrike" dirty="0">
                          <a:effectLst/>
                        </a:rPr>
                        <a:t>가 </a:t>
                      </a:r>
                      <a:r>
                        <a:rPr lang="en-US" altLang="ko-KR" sz="750" u="none" strike="noStrike" dirty="0">
                          <a:effectLst/>
                        </a:rPr>
                        <a:t>1</a:t>
                      </a:r>
                      <a:r>
                        <a:rPr lang="ko-KR" altLang="en-US" sz="750" u="none" strike="noStrike" dirty="0">
                          <a:effectLst/>
                        </a:rPr>
                        <a:t>개 이상 있음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1. </a:t>
                      </a:r>
                      <a:r>
                        <a:rPr lang="ko-KR" altLang="en-US" sz="750" u="none" strike="noStrike">
                          <a:effectLst/>
                        </a:rPr>
                        <a:t>환자 선택 </a:t>
                      </a:r>
                      <a:r>
                        <a:rPr lang="en-US" altLang="ko-KR" sz="750" u="none" strike="noStrike">
                          <a:effectLst/>
                        </a:rPr>
                        <a:t>&gt; </a:t>
                      </a:r>
                      <a:r>
                        <a:rPr lang="ko-KR" altLang="en-US" sz="750" u="none" strike="noStrike">
                          <a:effectLst/>
                        </a:rPr>
                        <a:t>썸네일 영역</a:t>
                      </a:r>
                      <a:br>
                        <a:rPr lang="ko-KR" altLang="en-US" sz="750" u="none" strike="noStrike">
                          <a:effectLst/>
                        </a:rPr>
                      </a:br>
                      <a:r>
                        <a:rPr lang="en-US" altLang="ko-KR" sz="750" u="none" strike="noStrike">
                          <a:effectLst/>
                        </a:rPr>
                        <a:t>2. </a:t>
                      </a:r>
                      <a:r>
                        <a:rPr lang="ko-KR" altLang="en-US" sz="750" u="none" strike="noStrike">
                          <a:effectLst/>
                        </a:rPr>
                        <a:t>영상 분류 옵션 좌측에 체크 박스 활성화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모든 </a:t>
                      </a:r>
                      <a:r>
                        <a:rPr lang="en-US" altLang="ko-KR" sz="750" u="none" strike="noStrike">
                          <a:effectLst/>
                        </a:rPr>
                        <a:t>Modality</a:t>
                      </a:r>
                      <a:r>
                        <a:rPr lang="ko-KR" altLang="en-US" sz="750" u="none" strike="noStrike">
                          <a:effectLst/>
                        </a:rPr>
                        <a:t>가 선택됨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>
                          <a:effectLst/>
                        </a:rPr>
                        <a:t>One2 V1.1.4 </a:t>
                      </a:r>
                      <a:r>
                        <a:rPr lang="ko-KR" altLang="en-US" sz="750" u="none" strike="noStrike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>
                          <a:effectLst/>
                        </a:rPr>
                        <a:t>20P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0090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All Patient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Thumbnail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 dirty="0">
                          <a:effectLst/>
                        </a:rPr>
                        <a:t>선택 해제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Modality</a:t>
                      </a:r>
                      <a:r>
                        <a:rPr lang="ko-KR" altLang="en-US" sz="750" u="none" strike="noStrike" dirty="0">
                          <a:effectLst/>
                        </a:rPr>
                        <a:t>가 모두 선택되어 있음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 좌측에 체크 박스 비활성화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선택된 모든 </a:t>
                      </a:r>
                      <a:r>
                        <a:rPr lang="en-US" altLang="ko-KR" sz="750" u="none" strike="noStrike">
                          <a:effectLst/>
                        </a:rPr>
                        <a:t>Modality</a:t>
                      </a:r>
                      <a:r>
                        <a:rPr lang="ko-KR" altLang="en-US" sz="750" u="none" strike="noStrike">
                          <a:effectLst/>
                        </a:rPr>
                        <a:t>가 해제됨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>
                          <a:effectLst/>
                        </a:rPr>
                        <a:t>One2 V1.1.4 </a:t>
                      </a:r>
                      <a:r>
                        <a:rPr lang="ko-KR" altLang="en-US" sz="750" u="none" strike="noStrike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>
                          <a:effectLst/>
                        </a:rPr>
                        <a:t>20P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0091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Thumbnail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Modality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 dirty="0">
                          <a:effectLst/>
                        </a:rPr>
                        <a:t>파노라마 보기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　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옵션에서 파노라마 보기 버튼 클릭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파노라마 영상이 영상 목록에 표시됨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>
                          <a:effectLst/>
                        </a:rPr>
                        <a:t>One2 V1.1.4 </a:t>
                      </a:r>
                      <a:r>
                        <a:rPr lang="ko-KR" altLang="en-US" sz="750" u="none" strike="noStrike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>
                          <a:effectLst/>
                        </a:rPr>
                        <a:t>20P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0092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Thumbnail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CT </a:t>
                      </a:r>
                      <a:r>
                        <a:rPr lang="ko-KR" altLang="en-US" sz="750" u="none" strike="noStrike" dirty="0">
                          <a:effectLst/>
                        </a:rPr>
                        <a:t>보기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　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옵션에서 </a:t>
                      </a:r>
                      <a:r>
                        <a:rPr lang="en-US" altLang="ko-KR" sz="750" u="none" strike="noStrike" dirty="0">
                          <a:effectLst/>
                        </a:rPr>
                        <a:t>CT </a:t>
                      </a:r>
                      <a:r>
                        <a:rPr lang="ko-KR" altLang="en-US" sz="750" u="none" strike="noStrike" dirty="0">
                          <a:effectLst/>
                        </a:rPr>
                        <a:t>보기 버튼 클릭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# CT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영상이 영상 목록에 표시됨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>
                          <a:effectLst/>
                        </a:rPr>
                        <a:t>One2 V1.1.4 </a:t>
                      </a:r>
                      <a:r>
                        <a:rPr lang="ko-KR" altLang="en-US" sz="750" u="none" strike="noStrike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>
                          <a:effectLst/>
                        </a:rPr>
                        <a:t>20P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0093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Thumbnail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Modality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 dirty="0" err="1">
                          <a:effectLst/>
                        </a:rPr>
                        <a:t>세팔로</a:t>
                      </a:r>
                      <a:r>
                        <a:rPr lang="ko-KR" altLang="en-US" sz="750" u="none" strike="noStrike" dirty="0">
                          <a:effectLst/>
                        </a:rPr>
                        <a:t> 보기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　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1. </a:t>
                      </a:r>
                      <a:r>
                        <a:rPr lang="ko-KR" altLang="en-US" sz="750" u="none" strike="noStrike">
                          <a:effectLst/>
                        </a:rPr>
                        <a:t>환자 선택 </a:t>
                      </a:r>
                      <a:r>
                        <a:rPr lang="en-US" altLang="ko-KR" sz="750" u="none" strike="noStrike">
                          <a:effectLst/>
                        </a:rPr>
                        <a:t>&gt; </a:t>
                      </a:r>
                      <a:r>
                        <a:rPr lang="ko-KR" altLang="en-US" sz="750" u="none" strike="noStrike">
                          <a:effectLst/>
                        </a:rPr>
                        <a:t>썸네일 영역</a:t>
                      </a:r>
                      <a:br>
                        <a:rPr lang="ko-KR" altLang="en-US" sz="750" u="none" strike="noStrike">
                          <a:effectLst/>
                        </a:rPr>
                      </a:br>
                      <a:r>
                        <a:rPr lang="en-US" altLang="ko-KR" sz="750" u="none" strike="noStrike">
                          <a:effectLst/>
                        </a:rPr>
                        <a:t>2. </a:t>
                      </a:r>
                      <a:r>
                        <a:rPr lang="ko-KR" altLang="en-US" sz="750" u="none" strike="noStrike">
                          <a:effectLst/>
                        </a:rPr>
                        <a:t>영상 분류 옵션에서 세팔로 보기 버튼 클릭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세팔로 영상이 영상 목록에 표시됨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5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 dirty="0">
                          <a:effectLst/>
                        </a:rPr>
                        <a:t>20P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2060848"/>
            <a:ext cx="2751956" cy="186573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grpSp>
        <p:nvGrpSpPr>
          <p:cNvPr id="4" name="그룹 3"/>
          <p:cNvGrpSpPr/>
          <p:nvPr/>
        </p:nvGrpSpPr>
        <p:grpSpPr>
          <a:xfrm>
            <a:off x="6660232" y="3487589"/>
            <a:ext cx="2483768" cy="923555"/>
            <a:chOff x="6685685" y="3487589"/>
            <a:chExt cx="2366104" cy="923555"/>
          </a:xfrm>
        </p:grpSpPr>
        <p:sp>
          <p:nvSpPr>
            <p:cNvPr id="20" name="TextBox 19"/>
            <p:cNvSpPr txBox="1"/>
            <p:nvPr/>
          </p:nvSpPr>
          <p:spPr>
            <a:xfrm>
              <a:off x="6685685" y="3949367"/>
              <a:ext cx="1990771" cy="19971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900" b="1" dirty="0"/>
                <a:t>[One2 </a:t>
              </a:r>
              <a:r>
                <a:rPr lang="ko-KR" altLang="en-US" sz="900" b="1" dirty="0"/>
                <a:t>기획서</a:t>
              </a:r>
              <a:r>
                <a:rPr lang="en-US" altLang="ko-KR" sz="900" b="1" dirty="0"/>
                <a:t>-V1.1.4] </a:t>
              </a:r>
              <a:r>
                <a:rPr lang="ko-KR" altLang="en-US" sz="900" b="1" dirty="0"/>
                <a:t>예시 </a:t>
              </a:r>
              <a:endParaRPr lang="ko-KR" altLang="en-US" sz="900" dirty="0"/>
            </a:p>
          </p:txBody>
        </p:sp>
        <p:sp>
          <p:nvSpPr>
            <p:cNvPr id="22" name="왼쪽으로 구부러진 화살표 21"/>
            <p:cNvSpPr/>
            <p:nvPr/>
          </p:nvSpPr>
          <p:spPr>
            <a:xfrm>
              <a:off x="8730136" y="3487589"/>
              <a:ext cx="321653" cy="923555"/>
            </a:xfrm>
            <a:prstGeom prst="curvedLeftArrow">
              <a:avLst/>
            </a:prstGeom>
            <a:solidFill>
              <a:schemeClr val="bg1">
                <a:lumMod val="65000"/>
                <a:alpha val="50000"/>
              </a:schemeClr>
            </a:solidFill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357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59632" y="2132856"/>
            <a:ext cx="7704856" cy="74981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100" b="1" dirty="0">
                <a:latin typeface="+mn-ea"/>
              </a:rPr>
              <a:t>7) Reference </a:t>
            </a:r>
          </a:p>
          <a:p>
            <a:r>
              <a:rPr lang="en-US" altLang="ko-KR" sz="1100" dirty="0">
                <a:latin typeface="+mn-ea"/>
              </a:rPr>
              <a:t>   </a:t>
            </a:r>
            <a:r>
              <a:rPr lang="ko-KR" altLang="en-US" sz="1100" dirty="0">
                <a:latin typeface="+mn-ea"/>
              </a:rPr>
              <a:t>테스트케이스와 관련된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요구사항 및 출처 </a:t>
            </a:r>
            <a:r>
              <a:rPr lang="ko-KR" altLang="en-US" sz="1100" dirty="0">
                <a:latin typeface="+mn-ea"/>
              </a:rPr>
              <a:t>작성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b="1" dirty="0">
                <a:latin typeface="+mn-ea"/>
              </a:rPr>
              <a:t>8) Test Result </a:t>
            </a:r>
          </a:p>
          <a:p>
            <a:r>
              <a:rPr lang="en-US" altLang="ko-KR" sz="1100" dirty="0">
                <a:latin typeface="+mn-ea"/>
              </a:rPr>
              <a:t>   </a:t>
            </a:r>
            <a:r>
              <a:rPr lang="ko-KR" altLang="en-US" sz="1100" dirty="0">
                <a:latin typeface="+mn-ea"/>
              </a:rPr>
              <a:t>테스트케이스 </a:t>
            </a:r>
            <a:r>
              <a:rPr lang="ko-KR" altLang="en-US" sz="1100" b="1" dirty="0">
                <a:solidFill>
                  <a:srgbClr val="0070C0"/>
                </a:solidFill>
                <a:latin typeface="+mn-ea"/>
              </a:rPr>
              <a:t>수행결과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dirty="0">
                <a:latin typeface="+mn-ea"/>
              </a:rPr>
              <a:t>(Pass,Fail,NT,NA)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7624" y="5815602"/>
            <a:ext cx="7272808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b="1" dirty="0">
                <a:sym typeface="Wingdings" panose="05000000000000000000" pitchFamily="2" charset="2"/>
              </a:rPr>
              <a:t></a:t>
            </a:r>
            <a:r>
              <a:rPr lang="ko-KR" altLang="en-US" b="1" dirty="0"/>
              <a:t>제 </a:t>
            </a:r>
            <a:r>
              <a:rPr lang="en-US" altLang="ko-KR" b="1" dirty="0"/>
              <a:t>3</a:t>
            </a:r>
            <a:r>
              <a:rPr lang="ko-KR" altLang="en-US" b="1" dirty="0"/>
              <a:t>자가 테스트케이스 </a:t>
            </a:r>
            <a:r>
              <a:rPr lang="en-US" altLang="ko-KR" b="1" dirty="0"/>
              <a:t>or </a:t>
            </a:r>
            <a:r>
              <a:rPr lang="ko-KR" altLang="en-US" b="1" dirty="0"/>
              <a:t>산출물을 봤을 때  이해할 수 있게 작성 </a:t>
            </a:r>
            <a:r>
              <a:rPr lang="en-US" altLang="ko-KR" b="1" dirty="0"/>
              <a:t>!!</a:t>
            </a:r>
            <a:r>
              <a:rPr lang="ko-KR" altLang="en-US" b="1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1880" y="1844824"/>
            <a:ext cx="220537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[SW </a:t>
            </a:r>
            <a:r>
              <a:rPr lang="ko-KR" altLang="en-US" sz="900" b="1" dirty="0"/>
              <a:t>품질평가실 </a:t>
            </a:r>
            <a:r>
              <a:rPr lang="en-US" altLang="ko-KR" sz="900" b="1" dirty="0"/>
              <a:t>-</a:t>
            </a:r>
            <a:r>
              <a:rPr lang="ko-KR" altLang="en-US" sz="900" b="1" dirty="0"/>
              <a:t> 테스트케이스 템플릿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473777"/>
              </p:ext>
            </p:extLst>
          </p:nvPr>
        </p:nvGraphicFramePr>
        <p:xfrm>
          <a:off x="971600" y="1153892"/>
          <a:ext cx="7886702" cy="659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3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0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1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67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9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10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TestCase 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57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7884368" y="1105726"/>
            <a:ext cx="936104" cy="739098"/>
          </a:xfrm>
          <a:prstGeom prst="rect">
            <a:avLst/>
          </a:prstGeom>
          <a:solidFill>
            <a:srgbClr val="E1F618">
              <a:alpha val="30000"/>
            </a:srgbClr>
          </a:solidFill>
          <a:ln w="19050">
            <a:noFill/>
            <a:prstDash val="dash"/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  <p:sp>
        <p:nvSpPr>
          <p:cNvPr id="13" name="텍스트 개체 틀 4"/>
          <p:cNvSpPr txBox="1">
            <a:spLocks/>
          </p:cNvSpPr>
          <p:nvPr/>
        </p:nvSpPr>
        <p:spPr>
          <a:xfrm>
            <a:off x="755576" y="692696"/>
            <a:ext cx="4753472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작성 기준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(4/5)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026084"/>
              </p:ext>
            </p:extLst>
          </p:nvPr>
        </p:nvGraphicFramePr>
        <p:xfrm>
          <a:off x="839000" y="3049488"/>
          <a:ext cx="8053479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51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45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72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59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77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111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60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063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819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Case ID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7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7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7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7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Defect Severity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Comments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Issue</a:t>
                      </a:r>
                      <a:r>
                        <a:rPr lang="en-US" sz="75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>
                          <a:effectLst/>
                        </a:rPr>
                        <a:t>IT_O2_0089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Patient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Thumbnail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 dirty="0">
                          <a:effectLst/>
                        </a:rPr>
                        <a:t>모두 선택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선택되지 않은  </a:t>
                      </a:r>
                      <a:r>
                        <a:rPr lang="en-US" altLang="ko-KR" sz="750" u="none" strike="noStrike" dirty="0">
                          <a:effectLst/>
                        </a:rPr>
                        <a:t>Modality</a:t>
                      </a:r>
                      <a:r>
                        <a:rPr lang="ko-KR" altLang="en-US" sz="750" u="none" strike="noStrike" dirty="0">
                          <a:effectLst/>
                        </a:rPr>
                        <a:t>가 </a:t>
                      </a:r>
                      <a:r>
                        <a:rPr lang="en-US" altLang="ko-KR" sz="750" u="none" strike="noStrike" dirty="0">
                          <a:effectLst/>
                        </a:rPr>
                        <a:t>1</a:t>
                      </a:r>
                      <a:r>
                        <a:rPr lang="ko-KR" altLang="en-US" sz="750" u="none" strike="noStrike" dirty="0">
                          <a:effectLst/>
                        </a:rPr>
                        <a:t>개 이상 있음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 좌측에 체크 박스 활성화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# </a:t>
                      </a:r>
                      <a:r>
                        <a:rPr lang="ko-KR" altLang="en-US" sz="750" u="none" strike="noStrike" dirty="0">
                          <a:effectLst/>
                        </a:rPr>
                        <a:t>모든 </a:t>
                      </a:r>
                      <a:r>
                        <a:rPr lang="en-US" altLang="ko-KR" sz="750" u="none" strike="noStrike" dirty="0">
                          <a:effectLst/>
                        </a:rPr>
                        <a:t>Modality</a:t>
                      </a:r>
                      <a:r>
                        <a:rPr lang="ko-KR" altLang="en-US" sz="750" u="none" strike="noStrike" dirty="0">
                          <a:effectLst/>
                        </a:rPr>
                        <a:t>가 선택됨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0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00" u="none" strike="noStrike" dirty="0">
                          <a:effectLst/>
                        </a:rPr>
                        <a:t>20P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solidFill>
                            <a:srgbClr val="0070C0"/>
                          </a:solidFill>
                          <a:effectLst/>
                        </a:rPr>
                        <a:t>Pass</a:t>
                      </a:r>
                      <a:endParaRPr lang="en-US" sz="75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　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　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　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>
                          <a:effectLst/>
                        </a:rPr>
                        <a:t>IT_O2_0090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Thumbnail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</a:rPr>
                        <a:t>선택 해제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Modality</a:t>
                      </a:r>
                      <a:r>
                        <a:rPr lang="ko-KR" altLang="en-US" sz="750" u="none" strike="noStrike">
                          <a:effectLst/>
                        </a:rPr>
                        <a:t>가 모두 선택되어 있음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 좌측에 체크 박스 비활성화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선택된 모든 </a:t>
                      </a:r>
                      <a:r>
                        <a:rPr lang="en-US" altLang="ko-KR" sz="750" u="none" strike="noStrike">
                          <a:effectLst/>
                        </a:rPr>
                        <a:t>Modality</a:t>
                      </a:r>
                      <a:r>
                        <a:rPr lang="ko-KR" altLang="en-US" sz="750" u="none" strike="noStrike">
                          <a:effectLst/>
                        </a:rPr>
                        <a:t>가 해제됨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0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00" u="none" strike="noStrike" dirty="0">
                          <a:effectLst/>
                        </a:rPr>
                        <a:t>20P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>
                          <a:solidFill>
                            <a:srgbClr val="0070C0"/>
                          </a:solidFill>
                          <a:effectLst/>
                        </a:rPr>
                        <a:t>Pass</a:t>
                      </a:r>
                      <a:endParaRPr lang="en-US" sz="750" b="0" i="0" u="none" strike="noStrike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　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　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　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0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>
                          <a:effectLst/>
                        </a:rPr>
                        <a:t>IT_O2_0091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Patient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Thumbnail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</a:rPr>
                        <a:t>파노라마 보기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　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옵션에서 파노라마 보기 버튼 클릭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파노라마 영상이 영상 목록에 표시됨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0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00" u="none" strike="noStrike" dirty="0">
                          <a:effectLst/>
                        </a:rPr>
                        <a:t>20P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solidFill>
                            <a:srgbClr val="0070C0"/>
                          </a:solidFill>
                          <a:effectLst/>
                        </a:rPr>
                        <a:t>Pass</a:t>
                      </a:r>
                      <a:endParaRPr lang="en-US" sz="75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　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　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　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5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>
                          <a:effectLst/>
                        </a:rPr>
                        <a:t>IT_O2_0092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Thumbnail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CT </a:t>
                      </a:r>
                      <a:r>
                        <a:rPr lang="ko-KR" altLang="en-US" sz="750" u="none" strike="noStrike" dirty="0">
                          <a:effectLst/>
                        </a:rPr>
                        <a:t>보기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　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옵션에서 </a:t>
                      </a:r>
                      <a:r>
                        <a:rPr lang="en-US" altLang="ko-KR" sz="750" u="none" strike="noStrike" dirty="0">
                          <a:effectLst/>
                        </a:rPr>
                        <a:t>CT </a:t>
                      </a:r>
                      <a:r>
                        <a:rPr lang="ko-KR" altLang="en-US" sz="750" u="none" strike="noStrike" dirty="0">
                          <a:effectLst/>
                        </a:rPr>
                        <a:t>보기 버튼 클릭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CT </a:t>
                      </a:r>
                      <a:r>
                        <a:rPr lang="ko-KR" altLang="en-US" sz="750" u="none" strike="noStrike">
                          <a:effectLst/>
                        </a:rPr>
                        <a:t>영상이 영상 목록에 표시됨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0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00" u="none" strike="noStrike" dirty="0">
                          <a:effectLst/>
                        </a:rPr>
                        <a:t>20P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solidFill>
                            <a:srgbClr val="FF0000"/>
                          </a:solidFill>
                          <a:effectLst/>
                        </a:rPr>
                        <a:t>FAIL</a:t>
                      </a:r>
                      <a:endParaRPr lang="en-US" sz="75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u="none" strike="noStrike">
                          <a:effectLst/>
                        </a:rPr>
                        <a:t>Normal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환자 모듈에서 저장한 영상 썸네일이 표시되지 않음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#28273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5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>
                          <a:effectLst/>
                        </a:rPr>
                        <a:t>IT_O2_0093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Thumbnail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 dirty="0" err="1">
                          <a:effectLst/>
                        </a:rPr>
                        <a:t>세팔로</a:t>
                      </a:r>
                      <a:r>
                        <a:rPr lang="ko-KR" altLang="en-US" sz="750" u="none" strike="noStrike" dirty="0">
                          <a:effectLst/>
                        </a:rPr>
                        <a:t> </a:t>
                      </a:r>
                      <a:endParaRPr lang="en-US" altLang="ko-KR" sz="750" u="none" strike="noStrike" dirty="0">
                        <a:effectLst/>
                      </a:endParaRPr>
                    </a:p>
                    <a:p>
                      <a:pPr algn="l" rtl="0" fontAlgn="ctr"/>
                      <a:r>
                        <a:rPr lang="ko-KR" altLang="en-US" sz="750" u="none" strike="noStrike" dirty="0">
                          <a:effectLst/>
                        </a:rPr>
                        <a:t>보기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　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옵션에서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세팔로</a:t>
                      </a:r>
                      <a:r>
                        <a:rPr lang="ko-KR" altLang="en-US" sz="750" u="none" strike="noStrike" dirty="0">
                          <a:effectLst/>
                        </a:rPr>
                        <a:t> 보기 버튼 클릭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세팔로 영상이 영상 목록에 표시됨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21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0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00" u="none" strike="noStrike" dirty="0">
                          <a:effectLst/>
                        </a:rPr>
                        <a:t>20P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solidFill>
                            <a:srgbClr val="FF0000"/>
                          </a:solidFill>
                          <a:effectLst/>
                        </a:rPr>
                        <a:t>FAIL</a:t>
                      </a:r>
                      <a:endParaRPr lang="en-US" sz="75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u="none" strike="noStrike">
                          <a:effectLst/>
                        </a:rPr>
                        <a:t>Normal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환자 모듈에서 저장한 영상 썸네일이 표시되지 않음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#28273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060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4294967295"/>
          </p:nvPr>
        </p:nvSpPr>
        <p:spPr>
          <a:xfrm>
            <a:off x="755576" y="692696"/>
            <a:ext cx="3663430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테스트케이스 사례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6176" y="4221088"/>
            <a:ext cx="230425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b="1" dirty="0"/>
              <a:t>* 출처</a:t>
            </a:r>
            <a:r>
              <a:rPr lang="en-US" altLang="ko-KR" sz="900" b="1" dirty="0"/>
              <a:t>) 2020.10 PMS </a:t>
            </a:r>
            <a:r>
              <a:rPr lang="ko-KR" altLang="en-US" sz="900" b="1" dirty="0"/>
              <a:t>개발자 </a:t>
            </a:r>
            <a:r>
              <a:rPr lang="en-US" altLang="ko-KR" sz="900" b="1" dirty="0"/>
              <a:t>TC </a:t>
            </a:r>
            <a:r>
              <a:rPr lang="ko-KR" altLang="en-US" sz="900" b="1" dirty="0"/>
              <a:t>발췌</a:t>
            </a:r>
            <a:endParaRPr lang="ko-KR" altLang="en-US" sz="900" dirty="0"/>
          </a:p>
        </p:txBody>
      </p:sp>
      <p:sp>
        <p:nvSpPr>
          <p:cNvPr id="15" name="TextBox 14"/>
          <p:cNvSpPr txBox="1"/>
          <p:nvPr/>
        </p:nvSpPr>
        <p:spPr>
          <a:xfrm>
            <a:off x="6732240" y="6309320"/>
            <a:ext cx="2088232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b="1" dirty="0"/>
              <a:t>* 출처</a:t>
            </a:r>
            <a:r>
              <a:rPr lang="en-US" altLang="ko-KR" sz="900" b="1" dirty="0"/>
              <a:t>) 2020.10 SW</a:t>
            </a:r>
            <a:r>
              <a:rPr lang="ko-KR" altLang="en-US" sz="900" b="1" dirty="0"/>
              <a:t>평가실</a:t>
            </a:r>
            <a:r>
              <a:rPr lang="en-US" altLang="ko-KR" sz="900" b="1" dirty="0"/>
              <a:t> TC </a:t>
            </a:r>
            <a:r>
              <a:rPr lang="ko-KR" altLang="en-US" sz="900" b="1" dirty="0"/>
              <a:t>발췌</a:t>
            </a:r>
            <a:endParaRPr lang="ko-KR" altLang="en-US" sz="900" dirty="0"/>
          </a:p>
        </p:txBody>
      </p:sp>
      <p:sp>
        <p:nvSpPr>
          <p:cNvPr id="16" name="TextBox 15"/>
          <p:cNvSpPr txBox="1"/>
          <p:nvPr/>
        </p:nvSpPr>
        <p:spPr>
          <a:xfrm>
            <a:off x="1115616" y="1124744"/>
            <a:ext cx="3014214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400" b="1" dirty="0"/>
              <a:t> ‘PMS’ </a:t>
            </a:r>
            <a:r>
              <a:rPr lang="ko-KR" altLang="en-US" sz="1400" b="1" dirty="0"/>
              <a:t>테스트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– Sample </a:t>
            </a:r>
            <a:r>
              <a:rPr lang="ko-KR" altLang="en-US" sz="1400" b="1" dirty="0"/>
              <a:t>예시 </a:t>
            </a:r>
            <a:r>
              <a:rPr lang="en-US" altLang="ko-KR" sz="1400" b="1" dirty="0"/>
              <a:t>1)</a:t>
            </a:r>
            <a:r>
              <a:rPr lang="ko-KR" altLang="en-US" sz="1400" b="1" dirty="0"/>
              <a:t> </a:t>
            </a:r>
            <a:endParaRPr lang="en-US" altLang="ko-KR" sz="1400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065475"/>
              </p:ext>
            </p:extLst>
          </p:nvPr>
        </p:nvGraphicFramePr>
        <p:xfrm>
          <a:off x="755577" y="4653135"/>
          <a:ext cx="8064893" cy="1656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89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20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20</a:t>
                      </a:r>
                      <a:r>
                        <a:rPr lang="ko-KR" altLang="en-US" sz="800" u="none" strike="noStrike" dirty="0">
                          <a:effectLst/>
                        </a:rPr>
                        <a:t>년 </a:t>
                      </a:r>
                      <a:r>
                        <a:rPr lang="en-US" altLang="ko-KR" sz="800" u="none" strike="noStrike" dirty="0">
                          <a:effectLst/>
                        </a:rPr>
                        <a:t>10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정기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 생성 </a:t>
                      </a:r>
                      <a:r>
                        <a:rPr lang="en-US" altLang="ko-KR" sz="800" u="none" strike="noStrike" dirty="0">
                          <a:effectLst/>
                        </a:rPr>
                        <a:t>(#26022)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처치버튼 표시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</a:t>
                      </a:r>
                      <a:r>
                        <a:rPr lang="en-US" altLang="ko-KR" sz="800" u="none" strike="noStrike" dirty="0">
                          <a:effectLst/>
                        </a:rPr>
                        <a:t>] &gt; 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]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중그룹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r>
                        <a:rPr lang="ko-KR" altLang="en-US" sz="800" u="none" strike="noStrike" dirty="0">
                          <a:effectLst/>
                        </a:rPr>
                        <a:t>에 생성된 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처치버튼을 모두 삭제 </a:t>
                      </a:r>
                      <a:endParaRPr lang="ko-KR" altLang="en-US" sz="8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800" u="none" strike="noStrike" baseline="0" dirty="0">
                          <a:effectLst/>
                        </a:rPr>
                        <a:t>1. New </a:t>
                      </a:r>
                      <a:r>
                        <a:rPr lang="ko-KR" altLang="en-US" sz="800" u="none" strike="noStrike" baseline="0" dirty="0">
                          <a:effectLst/>
                        </a:rPr>
                        <a:t>자주하는 치료 버튼 대그룹 영역 </a:t>
                      </a:r>
                      <a:endParaRPr lang="en-US" altLang="ko-KR" sz="800" u="none" strike="noStrike" baseline="0" dirty="0">
                        <a:effectLst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en-US" sz="800" u="none" strike="noStrike" baseline="0" dirty="0">
                          <a:effectLst/>
                        </a:rPr>
                        <a:t>우클릭 후 </a:t>
                      </a:r>
                      <a:r>
                        <a:rPr lang="en-US" altLang="ko-KR" sz="800" u="none" strike="noStrike" baseline="0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baseline="0" dirty="0">
                          <a:effectLst/>
                        </a:rPr>
                        <a:t>자주하는 치료 삭제 시도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대그룹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 버튼 </a:t>
                      </a:r>
                      <a:r>
                        <a:rPr lang="ko-KR" altLang="en-US" sz="800" u="none" strike="noStrike" baseline="0" dirty="0">
                          <a:effectLst/>
                        </a:rPr>
                        <a:t>클릭하여 다시 생성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[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r>
                        <a:rPr lang="ko-KR" altLang="en-US" sz="800" u="none" strike="noStrike" dirty="0">
                          <a:effectLst/>
                        </a:rPr>
                        <a:t>의 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원외처방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전체가 </a:t>
                      </a: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[New </a:t>
                      </a:r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자주하는 치료</a:t>
                      </a:r>
                      <a:r>
                        <a:rPr lang="en-US" altLang="ko-KR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] &gt;</a:t>
                      </a:r>
                      <a:r>
                        <a:rPr lang="ko-KR" alt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]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영역에 처치버튼 표시됨 </a:t>
                      </a:r>
                      <a:endParaRPr lang="ko-KR" altLang="en-US" sz="8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60" marR="6017" marT="601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20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20</a:t>
                      </a:r>
                      <a:r>
                        <a:rPr lang="ko-KR" altLang="en-US" sz="800" u="none" strike="noStrike" dirty="0">
                          <a:effectLst/>
                        </a:rPr>
                        <a:t>년 </a:t>
                      </a:r>
                      <a:r>
                        <a:rPr lang="en-US" altLang="ko-KR" sz="800" u="none" strike="noStrike" dirty="0">
                          <a:effectLst/>
                        </a:rPr>
                        <a:t>10</a:t>
                      </a:r>
                      <a:r>
                        <a:rPr lang="ko-KR" altLang="en-US" sz="800" u="none" strike="noStrike" dirty="0">
                          <a:effectLst/>
                        </a:rPr>
                        <a:t>월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정기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 생성 </a:t>
                      </a:r>
                      <a:r>
                        <a:rPr lang="en-US" altLang="ko-KR" sz="800" u="none" strike="noStrike" dirty="0">
                          <a:effectLst/>
                        </a:rPr>
                        <a:t>(#26022)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처치버튼 표시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[NEW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</a:t>
                      </a:r>
                      <a:r>
                        <a:rPr lang="en-US" altLang="ko-KR" sz="800" u="none" strike="noStrike" dirty="0">
                          <a:effectLst/>
                        </a:rPr>
                        <a:t>] &gt; 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]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중그룹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r>
                        <a:rPr lang="ko-KR" altLang="en-US" sz="800" u="none" strike="noStrike" dirty="0">
                          <a:effectLst/>
                        </a:rPr>
                        <a:t>에 생성된 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처치버튼을 일부 처치 삭제 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(ex: A)</a:t>
                      </a:r>
                      <a:endParaRPr lang="ko-KR" altLang="en-US" sz="8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baseline="0" dirty="0">
                          <a:effectLst/>
                        </a:rPr>
                        <a:t>1. New </a:t>
                      </a:r>
                      <a:r>
                        <a:rPr lang="ko-KR" altLang="en-US" sz="800" u="none" strike="noStrike" baseline="0" dirty="0">
                          <a:effectLst/>
                        </a:rPr>
                        <a:t>자주하는 치료 버튼 대그룹 영역 </a:t>
                      </a:r>
                      <a:endParaRPr lang="en-US" altLang="ko-KR" sz="800" u="none" strike="noStrike" baseline="0" dirty="0">
                        <a:effectLst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baseline="0" dirty="0">
                          <a:effectLst/>
                        </a:rPr>
                        <a:t>우클릭 후 </a:t>
                      </a:r>
                      <a:r>
                        <a:rPr lang="en-US" altLang="ko-KR" sz="800" u="none" strike="noStrike" baseline="0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baseline="0" dirty="0">
                          <a:effectLst/>
                        </a:rPr>
                        <a:t>자주하는 치료 삭제 시도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대그룹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 버튼 </a:t>
                      </a:r>
                      <a:r>
                        <a:rPr lang="ko-KR" altLang="en-US" sz="800" u="none" strike="noStrike" baseline="0" dirty="0">
                          <a:effectLst/>
                        </a:rPr>
                        <a:t>클릭하여 다시 생성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삭제한 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일부 처치버튼 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(ex: A 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처치버튼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) 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제외한 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[New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</a:t>
                      </a:r>
                      <a:r>
                        <a:rPr lang="en-US" altLang="ko-KR" sz="800" u="none" strike="noStrike" dirty="0">
                          <a:effectLst/>
                        </a:rPr>
                        <a:t>] &gt;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]</a:t>
                      </a:r>
                      <a:r>
                        <a:rPr lang="ko-KR" altLang="en-US" sz="8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영역에 처치버튼 표시됨 </a:t>
                      </a:r>
                      <a:endParaRPr lang="ko-KR" altLang="en-US" sz="800" b="0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60" marR="6017" marT="601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49637"/>
              </p:ext>
            </p:extLst>
          </p:nvPr>
        </p:nvGraphicFramePr>
        <p:xfrm>
          <a:off x="929126" y="1860629"/>
          <a:ext cx="7351216" cy="2360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4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8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3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기능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시나리오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예상결과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시나리오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178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4 &gt; </a:t>
                      </a:r>
                      <a:r>
                        <a:rPr lang="ko-KR" altLang="en-US" sz="800" u="none" strike="noStrike" dirty="0">
                          <a:effectLst/>
                        </a:rPr>
                        <a:t>하나로</a:t>
                      </a:r>
                      <a:r>
                        <a:rPr lang="en-US" altLang="ko-KR" sz="800" u="none" strike="noStrike" dirty="0">
                          <a:effectLst/>
                        </a:rPr>
                        <a:t>_New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자주하는치료</a:t>
                      </a:r>
                      <a:r>
                        <a:rPr lang="en-US" altLang="ko-KR" sz="800" u="none" strike="noStrike" dirty="0">
                          <a:effectLst/>
                        </a:rPr>
                        <a:t>_20200713_V1.02.pptx &gt; 9p-1 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중그룹</a:t>
                      </a:r>
                      <a:r>
                        <a:rPr lang="en-US" altLang="ko-KR" sz="800" u="none" strike="noStrike" dirty="0">
                          <a:effectLst/>
                        </a:rPr>
                        <a:t>) 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처방 </a:t>
                      </a:r>
                      <a:r>
                        <a:rPr lang="en-US" altLang="ko-KR" sz="800" u="none" strike="noStrike" dirty="0">
                          <a:effectLst/>
                        </a:rPr>
                        <a:t>-&gt; A,B,C,D,E</a:t>
                      </a:r>
                      <a:r>
                        <a:rPr lang="ko-KR" altLang="en-US" sz="800" u="none" strike="noStrike" dirty="0">
                          <a:effectLst/>
                        </a:rPr>
                        <a:t>에는 </a:t>
                      </a:r>
                      <a:r>
                        <a:rPr lang="en-US" altLang="ko-KR" sz="800" u="none" strike="noStrike" dirty="0">
                          <a:effectLst/>
                        </a:rPr>
                        <a:t>"New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 설정</a:t>
                      </a:r>
                      <a:r>
                        <a:rPr lang="en-US" altLang="ko-KR" sz="800" u="none" strike="noStrike" dirty="0">
                          <a:effectLst/>
                        </a:rPr>
                        <a:t>"</a:t>
                      </a:r>
                      <a:r>
                        <a:rPr lang="ko-KR" altLang="en-US" sz="800" u="none" strike="noStrike" dirty="0">
                          <a:effectLst/>
                        </a:rPr>
                        <a:t>시 기존 </a:t>
                      </a:r>
                      <a:r>
                        <a:rPr lang="en-US" altLang="ko-KR" sz="800" u="none" strike="noStrike" dirty="0">
                          <a:effectLst/>
                        </a:rPr>
                        <a:t>"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</a:t>
                      </a:r>
                      <a:r>
                        <a:rPr lang="en-US" altLang="ko-KR" sz="800" u="none" strike="noStrike" dirty="0">
                          <a:effectLst/>
                        </a:rPr>
                        <a:t>"</a:t>
                      </a:r>
                      <a:r>
                        <a:rPr lang="ko-KR" altLang="en-US" sz="800" u="none" strike="noStrike" dirty="0">
                          <a:effectLst/>
                        </a:rPr>
                        <a:t>의 원외처방묶음 전체를 설정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치료를 설정한적 없거나 설정한적 있고 지금은 화면에 않나오고 있을때 설정한적 있으면 처방 중그룹이 없거나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처방에 속한 버튼이 없거나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버튼에 내용이 없는 경우에만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자주하는치료에서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new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자주하는치료로 버튼들이 옮겨진다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사전조건 </a:t>
                      </a:r>
                      <a:r>
                        <a:rPr lang="en-US" altLang="ko-KR" sz="800" u="none" strike="noStrike" dirty="0">
                          <a:effectLst/>
                        </a:rPr>
                        <a:t>#1 : 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치료가 없는 상태</a:t>
                      </a:r>
                      <a:r>
                        <a:rPr lang="en-US" altLang="ko-KR" sz="800" u="none" strike="noStrike" dirty="0">
                          <a:effectLst/>
                        </a:rPr>
                        <a:t>(ok)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사전조건 </a:t>
                      </a:r>
                      <a:r>
                        <a:rPr lang="en-US" altLang="ko-KR" sz="800" u="none" strike="noStrike" dirty="0">
                          <a:effectLst/>
                        </a:rPr>
                        <a:t>#2-1 : </a:t>
                      </a:r>
                      <a:r>
                        <a:rPr lang="ko-KR" altLang="en-US" sz="800" u="none" strike="noStrike" dirty="0">
                          <a:effectLst/>
                        </a:rPr>
                        <a:t>사전에 </a:t>
                      </a:r>
                      <a:r>
                        <a:rPr lang="en-US" altLang="ko-KR" sz="800" u="none" strike="noStrike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치료를 활성화한 경우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사전조건 </a:t>
                      </a:r>
                      <a:r>
                        <a:rPr lang="en-US" altLang="ko-KR" sz="800" u="none" strike="noStrike" dirty="0">
                          <a:effectLst/>
                        </a:rPr>
                        <a:t>#2-1-1 : "</a:t>
                      </a:r>
                      <a:r>
                        <a:rPr lang="ko-KR" altLang="en-US" sz="800" u="none" strike="noStrike" dirty="0"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effectLst/>
                        </a:rPr>
                        <a:t>" </a:t>
                      </a:r>
                      <a:r>
                        <a:rPr lang="ko-KR" altLang="en-US" sz="800" u="none" strike="noStrike" dirty="0">
                          <a:effectLst/>
                        </a:rPr>
                        <a:t>중그룹이 있는경우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사전조건 </a:t>
                      </a:r>
                      <a:r>
                        <a:rPr lang="en-US" altLang="ko-KR" sz="800" u="none" strike="noStrike" dirty="0">
                          <a:effectLst/>
                        </a:rPr>
                        <a:t>#2-1-1-1 : </a:t>
                      </a:r>
                      <a:r>
                        <a:rPr lang="ko-KR" altLang="en-US" sz="800" u="none" strike="noStrike" dirty="0">
                          <a:effectLst/>
                        </a:rPr>
                        <a:t>중그룹에 속한 버튼이 있는경우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사전조건 </a:t>
                      </a:r>
                      <a:r>
                        <a:rPr lang="en-US" altLang="ko-KR" sz="800" u="none" strike="noStrike" dirty="0">
                          <a:effectLst/>
                        </a:rPr>
                        <a:t>#2-1-1-1-1 : </a:t>
                      </a:r>
                      <a:r>
                        <a:rPr lang="ko-KR" altLang="en-US" sz="800" u="none" strike="noStrike" dirty="0">
                          <a:effectLst/>
                        </a:rPr>
                        <a:t>등록한 처치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재료가 없는 상태</a:t>
                      </a:r>
                      <a:r>
                        <a:rPr lang="en-US" altLang="ko-KR" sz="800" u="none" strike="noStrike" dirty="0">
                          <a:effectLst/>
                        </a:rPr>
                        <a:t>(ok)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사전조건 </a:t>
                      </a:r>
                      <a:r>
                        <a:rPr lang="en-US" altLang="ko-KR" sz="800" u="none" strike="noStrike" dirty="0">
                          <a:effectLst/>
                        </a:rPr>
                        <a:t>#2-1-1-2 : </a:t>
                      </a:r>
                      <a:r>
                        <a:rPr lang="ko-KR" altLang="en-US" sz="800" u="none" strike="noStrike" dirty="0">
                          <a:effectLst/>
                        </a:rPr>
                        <a:t>중그룹에 속한 버튼이 없는경우</a:t>
                      </a:r>
                      <a:r>
                        <a:rPr lang="en-US" altLang="ko-KR" sz="800" u="none" strike="noStrike" dirty="0">
                          <a:effectLst/>
                        </a:rPr>
                        <a:t>(ok)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사전조건 </a:t>
                      </a:r>
                      <a:r>
                        <a:rPr lang="en-US" altLang="ko-KR" sz="800" u="none" strike="noStrike" dirty="0">
                          <a:effectLst/>
                        </a:rPr>
                        <a:t>#2-1-2 : "</a:t>
                      </a:r>
                      <a:r>
                        <a:rPr lang="ko-KR" altLang="en-US" sz="800" u="none" strike="noStrike" dirty="0"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effectLst/>
                        </a:rPr>
                        <a:t>" </a:t>
                      </a:r>
                      <a:r>
                        <a:rPr lang="ko-KR" altLang="en-US" sz="800" u="none" strike="noStrike" dirty="0">
                          <a:effectLst/>
                        </a:rPr>
                        <a:t>중그룹이 없는경우</a:t>
                      </a:r>
                      <a:r>
                        <a:rPr lang="en-US" altLang="ko-KR" sz="800" u="none" strike="noStrike" dirty="0">
                          <a:effectLst/>
                        </a:rPr>
                        <a:t>(ok)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사전조건 </a:t>
                      </a:r>
                      <a:r>
                        <a:rPr lang="en-US" altLang="ko-KR" sz="800" u="none" strike="noStrike" dirty="0">
                          <a:effectLst/>
                        </a:rPr>
                        <a:t>#2-2 : </a:t>
                      </a:r>
                      <a:r>
                        <a:rPr lang="ko-KR" altLang="en-US" sz="800" u="none" strike="noStrike" dirty="0">
                          <a:effectLst/>
                        </a:rPr>
                        <a:t>사전에 </a:t>
                      </a:r>
                      <a:r>
                        <a:rPr lang="en-US" altLang="ko-KR" sz="800" u="none" strike="noStrike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치료를 활성화한적이 없는경우</a:t>
                      </a:r>
                      <a:r>
                        <a:rPr lang="en-US" altLang="ko-KR" sz="800" u="none" strike="noStrike" dirty="0">
                          <a:effectLst/>
                        </a:rPr>
                        <a:t>(ok)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기존 </a:t>
                      </a:r>
                      <a:r>
                        <a:rPr lang="en-US" altLang="ko-KR" sz="800" u="none" strike="noStrike" dirty="0">
                          <a:effectLst/>
                        </a:rPr>
                        <a:t>"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</a:t>
                      </a:r>
                      <a:r>
                        <a:rPr lang="en-US" altLang="ko-KR" sz="800" u="none" strike="noStrike" dirty="0">
                          <a:effectLst/>
                        </a:rPr>
                        <a:t>" </a:t>
                      </a:r>
                      <a:r>
                        <a:rPr lang="ko-KR" altLang="en-US" sz="800" u="none" strike="noStrike" dirty="0">
                          <a:effectLst/>
                        </a:rPr>
                        <a:t>선택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"</a:t>
                      </a:r>
                      <a:r>
                        <a:rPr lang="ko-KR" altLang="en-US" sz="800" u="none" strike="noStrike" dirty="0">
                          <a:effectLst/>
                        </a:rPr>
                        <a:t>원외처방</a:t>
                      </a:r>
                      <a:r>
                        <a:rPr lang="en-US" altLang="ko-KR" sz="800" u="none" strike="noStrike" dirty="0">
                          <a:effectLst/>
                        </a:rPr>
                        <a:t>" </a:t>
                      </a:r>
                      <a:r>
                        <a:rPr lang="ko-KR" altLang="en-US" sz="800" u="none" strike="noStrike" dirty="0">
                          <a:effectLst/>
                        </a:rPr>
                        <a:t>중그룹내에 임의의 버튼 생성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가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가나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가나다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생성된 버튼들에 임의의 처치 추가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4. </a:t>
                      </a:r>
                      <a:r>
                        <a:rPr lang="ko-KR" altLang="en-US" sz="800" u="none" strike="noStrike" dirty="0">
                          <a:effectLst/>
                        </a:rPr>
                        <a:t>대그룹</a:t>
                      </a:r>
                      <a:r>
                        <a:rPr lang="en-US" altLang="ko-KR" sz="800" u="none" strike="noStrike" dirty="0">
                          <a:effectLst/>
                        </a:rPr>
                        <a:t>-&gt;</a:t>
                      </a:r>
                      <a:r>
                        <a:rPr lang="ko-KR" altLang="en-US" sz="800" u="none" strike="noStrike" dirty="0">
                          <a:effectLst/>
                        </a:rPr>
                        <a:t>우클릭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5. </a:t>
                      </a:r>
                      <a:r>
                        <a:rPr lang="ko-KR" altLang="en-US" sz="800" u="none" strike="noStrike" dirty="0">
                          <a:effectLst/>
                        </a:rPr>
                        <a:t>메뉴에서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"New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 치료 설정</a:t>
                      </a:r>
                      <a:r>
                        <a:rPr lang="en-US" altLang="ko-KR" sz="800" u="none" strike="noStrike" dirty="0">
                          <a:effectLst/>
                        </a:rPr>
                        <a:t>" </a:t>
                      </a:r>
                      <a:r>
                        <a:rPr lang="ko-KR" altLang="en-US" sz="800" u="none" strike="noStrike" dirty="0">
                          <a:effectLst/>
                        </a:rPr>
                        <a:t>선택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원외처방에 생성한 버튼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가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가나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가나다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r>
                        <a:rPr lang="ko-KR" altLang="en-US" sz="800" u="none" strike="noStrike" dirty="0">
                          <a:effectLst/>
                        </a:rPr>
                        <a:t>이 </a:t>
                      </a:r>
                      <a:r>
                        <a:rPr lang="en-US" altLang="ko-KR" sz="800" u="none" strike="noStrike" dirty="0">
                          <a:effectLst/>
                        </a:rPr>
                        <a:t>"New </a:t>
                      </a:r>
                      <a:r>
                        <a:rPr lang="ko-KR" altLang="en-US" sz="800" u="none" strike="noStrike" dirty="0">
                          <a:effectLst/>
                        </a:rPr>
                        <a:t>자주하는치료</a:t>
                      </a:r>
                      <a:r>
                        <a:rPr lang="en-US" altLang="ko-KR" sz="800" u="none" strike="noStrike" dirty="0">
                          <a:effectLst/>
                        </a:rPr>
                        <a:t>"</a:t>
                      </a:r>
                      <a:r>
                        <a:rPr lang="ko-KR" altLang="en-US" sz="800" u="none" strike="noStrike" dirty="0">
                          <a:effectLst/>
                        </a:rPr>
                        <a:t>의 </a:t>
                      </a:r>
                      <a:r>
                        <a:rPr lang="en-US" altLang="ko-KR" sz="800" u="none" strike="noStrike" dirty="0">
                          <a:effectLst/>
                        </a:rPr>
                        <a:t>"</a:t>
                      </a:r>
                      <a:r>
                        <a:rPr lang="ko-KR" altLang="en-US" sz="800" u="none" strike="noStrike" dirty="0">
                          <a:effectLst/>
                        </a:rPr>
                        <a:t>처방</a:t>
                      </a:r>
                      <a:r>
                        <a:rPr lang="en-US" altLang="ko-KR" sz="800" u="none" strike="noStrike" dirty="0">
                          <a:effectLst/>
                        </a:rPr>
                        <a:t>"</a:t>
                      </a:r>
                      <a:r>
                        <a:rPr lang="ko-KR" altLang="en-US" sz="800" u="none" strike="noStrike" dirty="0">
                          <a:effectLst/>
                        </a:rPr>
                        <a:t>에 생성됨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원외처방에 생성된 버튼내에 추가한 임의의 처치가 생성된 버튼에 입력됨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62604" y="4334212"/>
            <a:ext cx="2060742" cy="3189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600" dirty="0"/>
              <a:t>SW</a:t>
            </a:r>
            <a:r>
              <a:rPr lang="ko-KR" altLang="en-US" sz="1600" dirty="0"/>
              <a:t>평가실</a:t>
            </a:r>
            <a:r>
              <a:rPr lang="en-US" altLang="ko-KR" sz="1600" dirty="0"/>
              <a:t>TC-Sample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118212" y="1525900"/>
            <a:ext cx="1858304" cy="3189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600" dirty="0"/>
              <a:t>개발실</a:t>
            </a:r>
            <a:r>
              <a:rPr lang="en-US" altLang="ko-KR" sz="1600" dirty="0"/>
              <a:t>TC-Sample</a:t>
            </a:r>
            <a:endParaRPr lang="ko-KR" alt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4932040" y="1589196"/>
            <a:ext cx="3744416" cy="90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lIns="36000" tIns="36000" rIns="36000" bIns="36000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사전조건</a:t>
            </a:r>
            <a:r>
              <a:rPr lang="en-US" altLang="ko-KR" dirty="0"/>
              <a:t>(Pre-Condition)</a:t>
            </a:r>
            <a:r>
              <a:rPr lang="ko-KR" altLang="en-US" dirty="0"/>
              <a:t> 다수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어떤 테스트를 하지는 파악하기 힘듦 </a:t>
            </a:r>
            <a:endParaRPr lang="en-US" altLang="ko-KR" dirty="0"/>
          </a:p>
        </p:txBody>
      </p:sp>
      <p:sp>
        <p:nvSpPr>
          <p:cNvPr id="13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</p:spTree>
    <p:extLst>
      <p:ext uri="{BB962C8B-B14F-4D97-AF65-F5344CB8AC3E}">
        <p14:creationId xmlns:p14="http://schemas.microsoft.com/office/powerpoint/2010/main" val="101819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580112" y="3353670"/>
            <a:ext cx="2066808" cy="20837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b="1" dirty="0"/>
              <a:t>* 출처</a:t>
            </a:r>
            <a:r>
              <a:rPr lang="en-US" altLang="ko-KR" sz="900" b="1" dirty="0"/>
              <a:t>) One2 </a:t>
            </a:r>
            <a:r>
              <a:rPr lang="ko-KR" altLang="en-US" sz="900" b="1" dirty="0"/>
              <a:t>개발자 테스트내역</a:t>
            </a:r>
            <a:r>
              <a:rPr lang="en-US" altLang="ko-KR" sz="900" b="1" dirty="0"/>
              <a:t> </a:t>
            </a:r>
            <a:r>
              <a:rPr lang="ko-KR" altLang="en-US" sz="900" b="1" dirty="0"/>
              <a:t>발췌</a:t>
            </a:r>
            <a:endParaRPr lang="ko-KR" altLang="en-US" sz="900" dirty="0"/>
          </a:p>
        </p:txBody>
      </p:sp>
      <p:sp>
        <p:nvSpPr>
          <p:cNvPr id="15" name="TextBox 14"/>
          <p:cNvSpPr txBox="1"/>
          <p:nvPr/>
        </p:nvSpPr>
        <p:spPr>
          <a:xfrm>
            <a:off x="6444208" y="6453336"/>
            <a:ext cx="2088232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b="1" dirty="0"/>
              <a:t>* 출처</a:t>
            </a:r>
            <a:r>
              <a:rPr lang="en-US" altLang="ko-KR" sz="900" b="1" dirty="0"/>
              <a:t>) 2020.10 SW</a:t>
            </a:r>
            <a:r>
              <a:rPr lang="ko-KR" altLang="en-US" sz="900" b="1" dirty="0"/>
              <a:t>평가실</a:t>
            </a:r>
            <a:r>
              <a:rPr lang="en-US" altLang="ko-KR" sz="900" b="1" dirty="0"/>
              <a:t> TC </a:t>
            </a:r>
            <a:r>
              <a:rPr lang="ko-KR" altLang="en-US" sz="900" b="1" dirty="0"/>
              <a:t>발췌</a:t>
            </a:r>
            <a:endParaRPr lang="ko-KR" altLang="en-US" sz="900" dirty="0"/>
          </a:p>
        </p:txBody>
      </p:sp>
      <p:sp>
        <p:nvSpPr>
          <p:cNvPr id="19" name="TextBox 18"/>
          <p:cNvSpPr txBox="1"/>
          <p:nvPr/>
        </p:nvSpPr>
        <p:spPr>
          <a:xfrm>
            <a:off x="467544" y="1484784"/>
            <a:ext cx="1740750" cy="3035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500" dirty="0"/>
              <a:t>개발실 </a:t>
            </a:r>
            <a:r>
              <a:rPr lang="en-US" altLang="ko-KR" sz="1500" dirty="0"/>
              <a:t>TC</a:t>
            </a:r>
            <a:r>
              <a:rPr lang="ko-KR" altLang="en-US" sz="1500" dirty="0"/>
              <a:t> </a:t>
            </a:r>
            <a:r>
              <a:rPr lang="en-US" altLang="ko-KR" sz="1500" dirty="0"/>
              <a:t>-Sample</a:t>
            </a:r>
            <a:endParaRPr lang="ko-KR" altLang="en-US" sz="1500" dirty="0"/>
          </a:p>
        </p:txBody>
      </p:sp>
      <p:sp>
        <p:nvSpPr>
          <p:cNvPr id="17" name="TextBox 16"/>
          <p:cNvSpPr txBox="1"/>
          <p:nvPr/>
        </p:nvSpPr>
        <p:spPr>
          <a:xfrm>
            <a:off x="1115616" y="1124744"/>
            <a:ext cx="3014214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400" b="1" dirty="0"/>
              <a:t> ‘PMS’ </a:t>
            </a:r>
            <a:r>
              <a:rPr lang="ko-KR" altLang="en-US" sz="1400" b="1" dirty="0"/>
              <a:t>테스트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– Sample </a:t>
            </a:r>
            <a:r>
              <a:rPr lang="ko-KR" altLang="en-US" sz="1400" b="1" dirty="0"/>
              <a:t>예시 </a:t>
            </a:r>
            <a:r>
              <a:rPr lang="en-US" altLang="ko-KR" sz="1400" b="1" dirty="0"/>
              <a:t>2)</a:t>
            </a:r>
            <a:r>
              <a:rPr lang="ko-KR" altLang="en-US" sz="1400" b="1" dirty="0"/>
              <a:t> </a:t>
            </a:r>
            <a:endParaRPr lang="en-US" altLang="ko-KR" sz="1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28399" y="4509120"/>
            <a:ext cx="2016224" cy="3035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500" dirty="0"/>
              <a:t>SW</a:t>
            </a:r>
            <a:r>
              <a:rPr lang="ko-KR" altLang="en-US" sz="1500" dirty="0"/>
              <a:t>평가실 </a:t>
            </a:r>
            <a:r>
              <a:rPr lang="en-US" altLang="ko-KR" sz="1500" dirty="0"/>
              <a:t>TC</a:t>
            </a:r>
            <a:r>
              <a:rPr lang="ko-KR" altLang="en-US" sz="1500" dirty="0"/>
              <a:t> </a:t>
            </a:r>
            <a:r>
              <a:rPr lang="en-US" altLang="ko-KR" sz="1500" dirty="0"/>
              <a:t>-Sample</a:t>
            </a:r>
            <a:endParaRPr lang="ko-KR" altLang="en-US" sz="15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515442"/>
              </p:ext>
            </p:extLst>
          </p:nvPr>
        </p:nvGraphicFramePr>
        <p:xfrm>
          <a:off x="827584" y="1788320"/>
          <a:ext cx="7759699" cy="2648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5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7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7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7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Function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Case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40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퇴장방지의약품 사용 시 사용장려금을 공단부담으로 변경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ex) </a:t>
                      </a:r>
                      <a:r>
                        <a:rPr lang="ko-KR" altLang="en-US" sz="800" u="none" strike="noStrike" dirty="0">
                          <a:effectLst/>
                        </a:rPr>
                        <a:t>퇴장방지의약품 </a:t>
                      </a:r>
                      <a:r>
                        <a:rPr lang="en-US" altLang="ko-KR" sz="800" u="none" strike="noStrike" dirty="0">
                          <a:effectLst/>
                        </a:rPr>
                        <a:t>(642102570, 642600320, 647800740)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     </a:t>
                      </a:r>
                      <a:r>
                        <a:rPr lang="ko-KR" altLang="en-US" sz="800" u="none" strike="noStrike" dirty="0">
                          <a:effectLst/>
                        </a:rPr>
                        <a:t>퇴장방지의약품 </a:t>
                      </a:r>
                      <a:r>
                        <a:rPr lang="en-US" altLang="ko-KR" sz="800" u="none" strike="noStrike" dirty="0">
                          <a:effectLst/>
                        </a:rPr>
                        <a:t>X (642102300)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1. 2020.03.01 </a:t>
                      </a:r>
                      <a:r>
                        <a:rPr lang="ko-KR" altLang="en-US" sz="800" u="none" strike="noStrike" dirty="0">
                          <a:effectLst/>
                        </a:rPr>
                        <a:t>이전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의원급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원내처방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>
                          <a:effectLst/>
                        </a:rPr>
                        <a:t>1. 2020.03.01 </a:t>
                      </a:r>
                      <a:r>
                        <a:rPr lang="ko-KR" altLang="en-US" sz="800" u="none" strike="noStrike" dirty="0">
                          <a:effectLst/>
                        </a:rPr>
                        <a:t>이전 날짜 선택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기본진료 입력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퇴장방지의약품 입력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처치버튼 입력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수가추가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수가변경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4. </a:t>
                      </a:r>
                      <a:r>
                        <a:rPr lang="ko-KR" altLang="en-US" sz="800" u="none" strike="noStrike" dirty="0">
                          <a:effectLst/>
                        </a:rPr>
                        <a:t>예외란에 </a:t>
                      </a:r>
                      <a:r>
                        <a:rPr lang="en-US" altLang="ko-KR" sz="800" u="none" strike="noStrike" dirty="0">
                          <a:effectLst/>
                        </a:rPr>
                        <a:t>99 </a:t>
                      </a:r>
                      <a:r>
                        <a:rPr lang="ko-KR" altLang="en-US" sz="800" u="none" strike="noStrike" dirty="0">
                          <a:effectLst/>
                        </a:rPr>
                        <a:t>표시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5. </a:t>
                      </a:r>
                      <a:r>
                        <a:rPr lang="ko-KR" altLang="en-US" sz="800" u="none" strike="noStrike" dirty="0">
                          <a:effectLst/>
                        </a:rPr>
                        <a:t>총진료비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6. </a:t>
                      </a:r>
                      <a:r>
                        <a:rPr lang="ko-KR" altLang="en-US" sz="800" u="none" strike="noStrike" dirty="0">
                          <a:effectLst/>
                        </a:rPr>
                        <a:t>본인부담금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7.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청구조회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8.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청구에서 총진료비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9.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청구에서 본인부담금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10.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청구에서 사용장려금 분리 표시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11.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12. </a:t>
                      </a:r>
                      <a:r>
                        <a:rPr lang="ko-KR" altLang="en-US" sz="800" u="none" strike="noStrike" dirty="0">
                          <a:effectLst/>
                        </a:rPr>
                        <a:t>명세서에서 사용장려금 분리 표시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13. </a:t>
                      </a:r>
                      <a:r>
                        <a:rPr lang="ko-KR" altLang="en-US" sz="800" u="none" strike="noStrike" dirty="0">
                          <a:effectLst/>
                        </a:rPr>
                        <a:t>명세서에서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JS002</a:t>
                      </a:r>
                      <a:r>
                        <a:rPr lang="ko-KR" altLang="en-US" sz="800" u="none" strike="noStrike" dirty="0">
                          <a:effectLst/>
                        </a:rPr>
                        <a:t>에 </a:t>
                      </a:r>
                      <a:r>
                        <a:rPr lang="en-US" altLang="ko-KR" sz="800" u="none" strike="noStrike" dirty="0">
                          <a:effectLst/>
                        </a:rPr>
                        <a:t>99</a:t>
                      </a:r>
                      <a:r>
                        <a:rPr lang="ko-KR" altLang="en-US" sz="800" u="none" strike="noStrike" dirty="0">
                          <a:effectLst/>
                        </a:rPr>
                        <a:t>기재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14. </a:t>
                      </a:r>
                      <a:r>
                        <a:rPr lang="ko-KR" altLang="en-US" sz="800" u="none" strike="noStrike" dirty="0">
                          <a:effectLst/>
                        </a:rPr>
                        <a:t>영수증에서 총진료비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15. </a:t>
                      </a:r>
                      <a:r>
                        <a:rPr lang="ko-KR" altLang="en-US" sz="800" u="none" strike="noStrike" dirty="0">
                          <a:effectLst/>
                        </a:rPr>
                        <a:t>영수증에서 본인부담금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16. </a:t>
                      </a:r>
                      <a:r>
                        <a:rPr lang="ko-KR" altLang="en-US" sz="800" u="none" strike="noStrike" dirty="0">
                          <a:effectLst/>
                        </a:rPr>
                        <a:t>영수증에서 공단부담금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17.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진료비세부산정내역서에서 총진료비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18.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진료비세부산정내역서에서 본인부담금 확인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19.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진료비세부산정내역서에서 공단부담금 확인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>
                          <a:effectLst/>
                        </a:rPr>
                        <a:t>4. </a:t>
                      </a:r>
                      <a:r>
                        <a:rPr lang="ko-KR" altLang="en-US" sz="800" u="none" strike="noStrike" dirty="0">
                          <a:effectLst/>
                        </a:rPr>
                        <a:t>예외란에 </a:t>
                      </a:r>
                      <a:r>
                        <a:rPr lang="en-US" altLang="ko-KR" sz="800" u="none" strike="noStrike" dirty="0">
                          <a:effectLst/>
                        </a:rPr>
                        <a:t>99</a:t>
                      </a:r>
                      <a:r>
                        <a:rPr lang="ko-KR" altLang="en-US" sz="800" u="none" strike="noStrike" dirty="0">
                          <a:effectLst/>
                        </a:rPr>
                        <a:t>가 표시되지 않는다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355976" y="1573378"/>
            <a:ext cx="4392488" cy="6267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lIns="36000" tIns="36000" rIns="36000" bIns="36000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긴</a:t>
            </a:r>
            <a:r>
              <a:rPr lang="en-US" altLang="ko-KR" dirty="0"/>
              <a:t> </a:t>
            </a:r>
            <a:r>
              <a:rPr lang="ko-KR" altLang="en-US" dirty="0"/>
              <a:t>테스트 경로</a:t>
            </a:r>
            <a:r>
              <a:rPr lang="en-US" altLang="ko-KR" dirty="0"/>
              <a:t>(Test Step)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테스트 경로와 기대결과가 맞지 않음</a:t>
            </a:r>
            <a:endParaRPr lang="en-US" altLang="ko-KR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261847"/>
              </p:ext>
            </p:extLst>
          </p:nvPr>
        </p:nvGraphicFramePr>
        <p:xfrm>
          <a:off x="755576" y="4805265"/>
          <a:ext cx="7886698" cy="1604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5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82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75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2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의원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보험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원외처방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퇴장방지</a:t>
                      </a:r>
                      <a:r>
                        <a:rPr lang="en-US" altLang="ko-KR" sz="800" u="none" strike="noStrike" dirty="0">
                          <a:effectLst/>
                        </a:rPr>
                        <a:t>: O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청구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시점</a:t>
                      </a:r>
                      <a:r>
                        <a:rPr lang="en-US" altLang="ko-KR" sz="8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</a:t>
                      </a:r>
                      <a:r>
                        <a:rPr lang="ko-KR" altLang="en-US" sz="800" u="none" strike="noStrike" dirty="0">
                          <a:effectLst/>
                        </a:rPr>
                        <a:t>퇴장방지코드</a:t>
                      </a:r>
                      <a:r>
                        <a:rPr lang="en-US" altLang="ko-KR" sz="8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8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(ex: </a:t>
                      </a:r>
                      <a:r>
                        <a:rPr lang="ko-KR" altLang="en-US" sz="8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즉</a:t>
                      </a:r>
                      <a:r>
                        <a:rPr lang="en-US" altLang="ko-KR" sz="800" u="none" strike="noStrike" dirty="0">
                          <a:effectLst/>
                        </a:rPr>
                        <a:t>1)  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800" u="none" strike="noStrike" dirty="0">
                          <a:effectLst/>
                        </a:rPr>
                        <a:t>: 10~1000)  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4.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청구조회 후 진료비 확인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720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800" u="none" strike="noStrike" dirty="0">
                          <a:effectLst/>
                        </a:rPr>
                        <a:t>= </a:t>
                      </a:r>
                      <a:r>
                        <a:rPr lang="ko-KR" altLang="en-US" sz="8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8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8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800" u="none" strike="noStrike" dirty="0">
                          <a:effectLst/>
                        </a:rPr>
                        <a:t>= (</a:t>
                      </a:r>
                      <a:r>
                        <a:rPr lang="ko-KR" altLang="en-US" sz="8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>
                          <a:effectLst/>
                        </a:rPr>
                        <a:t>사용장려금</a:t>
                      </a:r>
                      <a:r>
                        <a:rPr lang="en-US" altLang="ko-KR" sz="800" u="none" strike="noStrike" dirty="0">
                          <a:effectLst/>
                        </a:rPr>
                        <a:t>) * 0.3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7207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2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의원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보험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원외처방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퇴장방지</a:t>
                      </a:r>
                      <a:r>
                        <a:rPr lang="en-US" altLang="ko-KR" sz="800" u="none" strike="noStrike" dirty="0">
                          <a:effectLst/>
                        </a:rPr>
                        <a:t>: O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청구 명세서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시점</a:t>
                      </a:r>
                      <a:r>
                        <a:rPr lang="en-US" altLang="ko-KR" sz="8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</a:t>
                      </a:r>
                      <a:r>
                        <a:rPr lang="ko-KR" altLang="en-US" sz="800" u="none" strike="noStrike" dirty="0">
                          <a:effectLst/>
                        </a:rPr>
                        <a:t>퇴장방지코드</a:t>
                      </a:r>
                      <a:r>
                        <a:rPr lang="en-US" altLang="ko-KR" sz="8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8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(ex: </a:t>
                      </a:r>
                      <a:r>
                        <a:rPr lang="ko-KR" altLang="en-US" sz="8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즉</a:t>
                      </a:r>
                      <a:r>
                        <a:rPr lang="en-US" altLang="ko-KR" sz="800" u="none" strike="noStrike" dirty="0">
                          <a:effectLst/>
                        </a:rPr>
                        <a:t>1)  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800" u="none" strike="noStrike" dirty="0">
                          <a:effectLst/>
                        </a:rPr>
                        <a:t>: 10~1000)  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4.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청구조회 후 청구 명세서 확인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720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청구명세서 특정내역  </a:t>
                      </a:r>
                      <a:r>
                        <a:rPr lang="en-US" altLang="ko-KR" sz="800" u="none" strike="noStrike" dirty="0">
                          <a:effectLst/>
                        </a:rPr>
                        <a:t>JS002</a:t>
                      </a:r>
                      <a:r>
                        <a:rPr lang="ko-KR" altLang="en-US" sz="800" u="none" strike="noStrike" dirty="0">
                          <a:effectLst/>
                        </a:rPr>
                        <a:t>에 </a:t>
                      </a:r>
                      <a:r>
                        <a:rPr lang="en-US" altLang="ko-KR" sz="800" u="none" strike="noStrike" dirty="0">
                          <a:effectLst/>
                        </a:rPr>
                        <a:t>99 </a:t>
                      </a:r>
                      <a:r>
                        <a:rPr lang="ko-KR" altLang="en-US" sz="800" u="none" strike="noStrike" dirty="0">
                          <a:effectLst/>
                        </a:rPr>
                        <a:t>기재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7207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텍스트 개체 틀 4"/>
          <p:cNvSpPr txBox="1">
            <a:spLocks/>
          </p:cNvSpPr>
          <p:nvPr/>
        </p:nvSpPr>
        <p:spPr>
          <a:xfrm>
            <a:off x="755576" y="692696"/>
            <a:ext cx="3663430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테스트케이스 사례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비교</a:t>
            </a:r>
          </a:p>
        </p:txBody>
      </p:sp>
      <p:sp>
        <p:nvSpPr>
          <p:cNvPr id="24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</p:spTree>
    <p:extLst>
      <p:ext uri="{BB962C8B-B14F-4D97-AF65-F5344CB8AC3E}">
        <p14:creationId xmlns:p14="http://schemas.microsoft.com/office/powerpoint/2010/main" val="61259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115616" y="1124744"/>
            <a:ext cx="3360463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400" b="1" dirty="0"/>
              <a:t> ‘</a:t>
            </a:r>
            <a:r>
              <a:rPr lang="ko-KR" altLang="en-US" sz="1400" b="1" dirty="0"/>
              <a:t>영상 </a:t>
            </a:r>
            <a:r>
              <a:rPr lang="en-US" altLang="ko-KR" sz="1400" b="1" dirty="0"/>
              <a:t>SW’ </a:t>
            </a:r>
            <a:r>
              <a:rPr lang="ko-KR" altLang="en-US" sz="1400" b="1" dirty="0"/>
              <a:t>테스트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– Sample </a:t>
            </a:r>
            <a:r>
              <a:rPr lang="ko-KR" altLang="en-US" sz="1400" b="1" dirty="0"/>
              <a:t>예시 </a:t>
            </a:r>
            <a:r>
              <a:rPr lang="en-US" altLang="ko-KR" sz="1400" b="1" dirty="0"/>
              <a:t>1)</a:t>
            </a:r>
            <a:r>
              <a:rPr lang="ko-KR" altLang="en-US" sz="1400" b="1" dirty="0"/>
              <a:t> </a:t>
            </a:r>
            <a:endParaRPr lang="en-US" altLang="ko-KR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8212" y="1453892"/>
            <a:ext cx="1858304" cy="3189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600" dirty="0"/>
              <a:t>개발실</a:t>
            </a:r>
            <a:r>
              <a:rPr lang="en-US" altLang="ko-KR" sz="1600" dirty="0"/>
              <a:t>TC-Sample</a:t>
            </a:r>
            <a:endParaRPr lang="ko-KR" altLang="en-US" sz="16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356792"/>
              </p:ext>
            </p:extLst>
          </p:nvPr>
        </p:nvGraphicFramePr>
        <p:xfrm>
          <a:off x="896489" y="1772816"/>
          <a:ext cx="6697513" cy="1803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7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9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Issue#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Type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Summary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sng" strike="noStrike" dirty="0">
                          <a:effectLst/>
                          <a:hlinkClick r:id="rId2"/>
                        </a:rPr>
                        <a:t>28323</a:t>
                      </a:r>
                      <a:endParaRPr lang="ko-KR" alt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결함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촬영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다른 서버에 연결시 </a:t>
                      </a:r>
                      <a:r>
                        <a:rPr lang="en-US" altLang="ko-KR" sz="800" u="none" strike="noStrike" dirty="0">
                          <a:effectLst/>
                        </a:rPr>
                        <a:t>(OneClick, One2) IO Sensor </a:t>
                      </a:r>
                      <a:r>
                        <a:rPr lang="ko-KR" altLang="en-US" sz="800" u="none" strike="noStrike" dirty="0">
                          <a:effectLst/>
                        </a:rPr>
                        <a:t>영상 이동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삭제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회전 및 대칭 수행 시 </a:t>
                      </a:r>
                      <a:r>
                        <a:rPr lang="en-US" altLang="ko-KR" sz="800" u="none" strike="noStrike" dirty="0">
                          <a:effectLst/>
                        </a:rPr>
                        <a:t>One2 P/G </a:t>
                      </a:r>
                      <a:r>
                        <a:rPr lang="ko-KR" altLang="en-US" sz="800" u="none" strike="noStrike" dirty="0">
                          <a:effectLst/>
                        </a:rPr>
                        <a:t>종료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Pass</a:t>
                      </a:r>
                      <a:endParaRPr lang="en-US" sz="800" b="0" i="0" u="none" strike="noStrike" dirty="0">
                        <a:solidFill>
                          <a:srgbClr val="0061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sng" strike="noStrike" dirty="0">
                          <a:effectLst/>
                          <a:hlinkClick r:id="rId3"/>
                        </a:rPr>
                        <a:t>28339</a:t>
                      </a:r>
                      <a:endParaRPr lang="ko-KR" alt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결함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영상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촬영한 영상 정보 확인 시 치식 정보 표시 오류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Pass</a:t>
                      </a:r>
                      <a:endParaRPr lang="en-US" sz="800" b="0" i="0" u="none" strike="noStrike" dirty="0">
                        <a:solidFill>
                          <a:srgbClr val="0061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sng" strike="noStrike" dirty="0">
                          <a:effectLst/>
                          <a:hlinkClick r:id="rId4"/>
                        </a:rPr>
                        <a:t>28332</a:t>
                      </a:r>
                      <a:endParaRPr lang="ko-KR" alt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개선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영상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길이보정 팝업에서 소수점 자리수 조정 필요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Pass</a:t>
                      </a:r>
                      <a:endParaRPr lang="en-US" sz="800" b="0" i="0" u="none" strike="noStrike" dirty="0">
                        <a:solidFill>
                          <a:srgbClr val="0061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sng" strike="noStrike" dirty="0">
                          <a:effectLst/>
                          <a:hlinkClick r:id="rId5"/>
                        </a:rPr>
                        <a:t>28331</a:t>
                      </a:r>
                      <a:endParaRPr lang="ko-KR" alt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결함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영상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구강센서 뷰어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치식 표시 상태에서 길이보정 동작 오류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Pass</a:t>
                      </a:r>
                      <a:endParaRPr lang="en-US" sz="800" b="0" i="0" u="none" strike="noStrike" dirty="0">
                        <a:solidFill>
                          <a:srgbClr val="0061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sng" strike="noStrike" dirty="0">
                          <a:effectLst/>
                          <a:hlinkClick r:id="rId6"/>
                        </a:rPr>
                        <a:t>28329</a:t>
                      </a:r>
                      <a:endParaRPr lang="ko-KR" alt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결함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OneClick </a:t>
                      </a:r>
                      <a:r>
                        <a:rPr lang="ko-KR" altLang="en-US" sz="800" u="none" strike="noStrike" dirty="0">
                          <a:effectLst/>
                        </a:rPr>
                        <a:t>연동</a:t>
                      </a:r>
                      <a:r>
                        <a:rPr lang="en-US" altLang="ko-KR" sz="800" u="none" strike="noStrike" dirty="0">
                          <a:effectLst/>
                        </a:rPr>
                        <a:t>&gt; OneClick</a:t>
                      </a:r>
                      <a:r>
                        <a:rPr lang="ko-KR" altLang="en-US" sz="800" u="none" strike="noStrike" dirty="0">
                          <a:effectLst/>
                        </a:rPr>
                        <a:t>에서 </a:t>
                      </a:r>
                      <a:r>
                        <a:rPr lang="en-US" altLang="ko-KR" sz="800" u="none" strike="noStrike" dirty="0">
                          <a:effectLst/>
                        </a:rPr>
                        <a:t>One2 </a:t>
                      </a:r>
                      <a:r>
                        <a:rPr lang="ko-KR" altLang="en-US" sz="800" u="none" strike="noStrike" dirty="0">
                          <a:effectLst/>
                        </a:rPr>
                        <a:t>촬영장비 연동 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선택한 장비로 연동안됨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N/T</a:t>
                      </a:r>
                      <a:endParaRPr lang="en-US" sz="800" b="0" i="0" u="none" strike="noStrike" dirty="0">
                        <a:solidFill>
                          <a:srgbClr val="9C65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84" marR="6684" marT="6684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87614"/>
              </p:ext>
            </p:extLst>
          </p:nvPr>
        </p:nvGraphicFramePr>
        <p:xfrm>
          <a:off x="827583" y="3933057"/>
          <a:ext cx="7992890" cy="2520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2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5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774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756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4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Case ID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1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IT_O2_0001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OneClick </a:t>
                      </a:r>
                      <a:r>
                        <a:rPr lang="ko-KR" altLang="en-US" sz="700" u="none" strike="noStrike" dirty="0">
                          <a:effectLst/>
                        </a:rPr>
                        <a:t>연동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전자차트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소장비 촬영 실행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구강 카메라 실행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u="none" strike="noStrike" dirty="0">
                          <a:effectLst/>
                        </a:rPr>
                        <a:t>1. OneClick &gt; </a:t>
                      </a:r>
                      <a:r>
                        <a:rPr lang="ko-KR" altLang="en-US" sz="700" u="none" strike="noStrike" dirty="0">
                          <a:effectLst/>
                        </a:rPr>
                        <a:t>전자차트 메뉴 진입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통합검색창 하단 촬영버튼 </a:t>
                      </a:r>
                      <a:r>
                        <a:rPr lang="en-US" altLang="ko-KR" sz="700" u="none" strike="noStrike" dirty="0">
                          <a:effectLst/>
                        </a:rPr>
                        <a:t>&gt; </a:t>
                      </a:r>
                      <a:r>
                        <a:rPr lang="ko-KR" altLang="en-US" sz="700" u="none" strike="noStrike" dirty="0">
                          <a:effectLst/>
                        </a:rPr>
                        <a:t>구강카메라 선택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구강 카메라 버튼 클릭</a:t>
                      </a:r>
                      <a:r>
                        <a:rPr lang="en-US" altLang="ko-KR" sz="700" u="none" strike="noStrike" dirty="0">
                          <a:effectLst/>
                        </a:rPr>
                        <a:t>(I/O)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004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u="none" strike="noStrike" dirty="0">
                          <a:effectLst/>
                        </a:rPr>
                        <a:t># One2</a:t>
                      </a:r>
                      <a:r>
                        <a:rPr lang="ko-KR" altLang="en-US" sz="700" u="none" strike="noStrike" dirty="0">
                          <a:effectLst/>
                        </a:rPr>
                        <a:t>촬영 모드 실행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004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1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IT_O2_0276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Acquisition </a:t>
                      </a:r>
                      <a:r>
                        <a:rPr lang="ko-KR" altLang="en-US" sz="700" u="none" strike="noStrike" dirty="0">
                          <a:effectLst/>
                        </a:rPr>
                        <a:t>모듈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촬영 모드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CT </a:t>
                      </a:r>
                      <a:r>
                        <a:rPr lang="ko-KR" altLang="en-US" sz="700" u="none" strike="noStrike" dirty="0">
                          <a:effectLst/>
                        </a:rPr>
                        <a:t>촬영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Capture </a:t>
                      </a:r>
                      <a:r>
                        <a:rPr lang="ko-KR" altLang="en-US" sz="700" u="none" strike="noStrike" dirty="0">
                          <a:effectLst/>
                        </a:rPr>
                        <a:t>버튼 클릭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설정 </a:t>
                      </a:r>
                      <a:r>
                        <a:rPr lang="en-US" altLang="ko-KR" sz="700" u="none" strike="noStrike" dirty="0">
                          <a:effectLst/>
                        </a:rPr>
                        <a:t>&gt; </a:t>
                      </a:r>
                      <a:r>
                        <a:rPr lang="en-US" sz="700" u="none" strike="noStrike" dirty="0">
                          <a:effectLst/>
                        </a:rPr>
                        <a:t>Acquisition &gt; Console &gt; CT </a:t>
                      </a:r>
                      <a:r>
                        <a:rPr lang="ko-KR" altLang="en-US" sz="700" u="none" strike="noStrike" dirty="0">
                          <a:effectLst/>
                        </a:rPr>
                        <a:t>모듈 연동된 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u="none" strike="noStrike" dirty="0">
                          <a:effectLst/>
                        </a:rPr>
                        <a:t>1. Acquisition </a:t>
                      </a:r>
                      <a:r>
                        <a:rPr lang="ko-KR" altLang="en-US" sz="700" u="none" strike="noStrike" dirty="0">
                          <a:effectLst/>
                        </a:rPr>
                        <a:t>모듈 진입 후 환자 조회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CT </a:t>
                      </a:r>
                      <a:r>
                        <a:rPr lang="ko-KR" altLang="en-US" sz="700" u="none" strike="noStrike" dirty="0">
                          <a:effectLst/>
                        </a:rPr>
                        <a:t>탭 진입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[Capture] </a:t>
                      </a:r>
                      <a:r>
                        <a:rPr lang="ko-KR" altLang="en-US" sz="700" u="none" strike="noStrike" dirty="0">
                          <a:effectLst/>
                        </a:rPr>
                        <a:t>버튼 클릭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004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CT </a:t>
                      </a:r>
                      <a:r>
                        <a:rPr lang="ko-KR" altLang="en-US" sz="700" u="none" strike="noStrike" dirty="0">
                          <a:effectLst/>
                        </a:rPr>
                        <a:t>장비 </a:t>
                      </a:r>
                      <a:r>
                        <a:rPr lang="en-US" altLang="ko-KR" sz="700" u="none" strike="noStrike" dirty="0">
                          <a:effectLst/>
                        </a:rPr>
                        <a:t>Console SW </a:t>
                      </a:r>
                      <a:r>
                        <a:rPr lang="ko-KR" altLang="en-US" sz="700" u="none" strike="noStrike" dirty="0">
                          <a:effectLst/>
                        </a:rPr>
                        <a:t>실행됨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Console SW</a:t>
                      </a:r>
                      <a:r>
                        <a:rPr lang="ko-KR" altLang="en-US" sz="700" u="none" strike="noStrike" dirty="0">
                          <a:effectLst/>
                        </a:rPr>
                        <a:t>에 선택 중인 환자 정보가 표시됨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004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2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IT_O2_0294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Acquisition </a:t>
                      </a:r>
                      <a:r>
                        <a:rPr lang="ko-KR" altLang="en-US" sz="700" u="none" strike="noStrike" dirty="0">
                          <a:effectLst/>
                        </a:rPr>
                        <a:t>모듈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촬영 모드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Panorama </a:t>
                      </a:r>
                      <a:r>
                        <a:rPr lang="ko-KR" altLang="en-US" sz="700" u="none" strike="noStrike" dirty="0">
                          <a:effectLst/>
                        </a:rPr>
                        <a:t>촬영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촬영 진행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설정 </a:t>
                      </a:r>
                      <a:r>
                        <a:rPr lang="en-US" altLang="ko-KR" sz="700" u="none" strike="noStrike" dirty="0">
                          <a:effectLst/>
                        </a:rPr>
                        <a:t>&gt; </a:t>
                      </a:r>
                      <a:r>
                        <a:rPr lang="en-US" sz="700" u="none" strike="noStrike" dirty="0">
                          <a:effectLst/>
                        </a:rPr>
                        <a:t>Acquisition &gt; Console &gt; Panorama </a:t>
                      </a:r>
                      <a:r>
                        <a:rPr lang="ko-KR" altLang="en-US" sz="700" u="none" strike="noStrike" dirty="0">
                          <a:effectLst/>
                        </a:rPr>
                        <a:t>모듈 연동된 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1. Acquisition </a:t>
                      </a:r>
                      <a:r>
                        <a:rPr lang="ko-KR" altLang="en-US" sz="700" u="none" strike="noStrike" dirty="0">
                          <a:effectLst/>
                        </a:rPr>
                        <a:t>모듈 진입 후 환자 조회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en-US" sz="700" u="none" strike="noStrike" dirty="0">
                          <a:effectLst/>
                        </a:rPr>
                        <a:t>Panorama </a:t>
                      </a:r>
                      <a:r>
                        <a:rPr lang="ko-KR" altLang="en-US" sz="700" u="none" strike="noStrike" dirty="0">
                          <a:effectLst/>
                        </a:rPr>
                        <a:t>탭 진입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[</a:t>
                      </a:r>
                      <a:r>
                        <a:rPr lang="en-US" sz="700" u="none" strike="noStrike" dirty="0">
                          <a:effectLst/>
                        </a:rPr>
                        <a:t>Capture] </a:t>
                      </a:r>
                      <a:r>
                        <a:rPr lang="ko-KR" altLang="en-US" sz="700" u="none" strike="noStrike" dirty="0">
                          <a:effectLst/>
                        </a:rPr>
                        <a:t>버튼 </a:t>
                      </a:r>
                      <a:r>
                        <a:rPr lang="en-US" altLang="ko-KR" sz="700" u="none" strike="noStrike" dirty="0">
                          <a:effectLst/>
                        </a:rPr>
                        <a:t>&gt; </a:t>
                      </a:r>
                      <a:r>
                        <a:rPr lang="en-US" sz="700" u="none" strike="noStrike" dirty="0">
                          <a:effectLst/>
                        </a:rPr>
                        <a:t>Panorama Console SW </a:t>
                      </a:r>
                      <a:r>
                        <a:rPr lang="ko-KR" altLang="en-US" sz="700" u="none" strike="noStrike" dirty="0">
                          <a:effectLst/>
                        </a:rPr>
                        <a:t>실행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촬영 진행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004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촬영한 영상이 저장됨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Preview </a:t>
                      </a:r>
                      <a:r>
                        <a:rPr lang="ko-KR" altLang="en-US" sz="700" u="none" strike="noStrike" dirty="0">
                          <a:effectLst/>
                        </a:rPr>
                        <a:t>영역에 촬영한 영상 표시됨 </a:t>
                      </a:r>
                      <a:r>
                        <a:rPr lang="en-US" altLang="ko-KR" sz="700" u="none" strike="noStrike" dirty="0">
                          <a:effectLst/>
                        </a:rPr>
                        <a:t>(1 X 1 Layout)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썸네일에 촬영한 영상 표시됨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004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03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</a:rPr>
                        <a:t>IT_O2_0350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Acquisition </a:t>
                      </a:r>
                      <a:r>
                        <a:rPr lang="ko-KR" altLang="en-US" sz="700" u="none" strike="noStrike" dirty="0">
                          <a:effectLst/>
                        </a:rPr>
                        <a:t>모듈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촬영 모드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IO Sensor </a:t>
                      </a:r>
                      <a:r>
                        <a:rPr lang="ko-KR" altLang="en-US" sz="700" u="none" strike="noStrike" dirty="0">
                          <a:effectLst/>
                        </a:rPr>
                        <a:t>촬영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14 FMX </a:t>
                      </a:r>
                    </a:p>
                    <a:p>
                      <a:pPr algn="l" rtl="0" fontAlgn="ctr"/>
                      <a:r>
                        <a:rPr lang="ko-KR" altLang="en-US" sz="700" u="none" strike="noStrike" dirty="0">
                          <a:effectLst/>
                        </a:rPr>
                        <a:t>연속 촬영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700" u="none" strike="noStrike" dirty="0">
                          <a:effectLst/>
                        </a:rPr>
                        <a:t>18 FMX </a:t>
                      </a:r>
                      <a:r>
                        <a:rPr lang="ko-KR" altLang="en-US" sz="700" u="none" strike="noStrike" dirty="0">
                          <a:effectLst/>
                        </a:rPr>
                        <a:t>연속 촬영 진행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설정 </a:t>
                      </a:r>
                      <a:r>
                        <a:rPr lang="en-US" altLang="ko-KR" sz="700" u="none" strike="noStrike" dirty="0">
                          <a:effectLst/>
                        </a:rPr>
                        <a:t>&gt; </a:t>
                      </a:r>
                      <a:r>
                        <a:rPr lang="en-US" sz="700" u="none" strike="noStrike" dirty="0">
                          <a:effectLst/>
                        </a:rPr>
                        <a:t>Acquisition &gt; IO Sensor </a:t>
                      </a:r>
                      <a:r>
                        <a:rPr lang="ko-KR" altLang="en-US" sz="700" u="none" strike="noStrike" dirty="0">
                          <a:effectLst/>
                        </a:rPr>
                        <a:t>모듈 연동된 상태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</a:rPr>
                        <a:t>1. Acquisition </a:t>
                      </a:r>
                      <a:r>
                        <a:rPr lang="ko-KR" altLang="en-US" sz="700" u="none" strike="noStrike" dirty="0">
                          <a:effectLst/>
                        </a:rPr>
                        <a:t>모듈 진입 후 환자 조회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en-US" sz="700" u="none" strike="noStrike" dirty="0">
                          <a:effectLst/>
                        </a:rPr>
                        <a:t>IO Sensor </a:t>
                      </a:r>
                      <a:r>
                        <a:rPr lang="ko-KR" altLang="en-US" sz="700" u="none" strike="noStrike" dirty="0">
                          <a:effectLst/>
                        </a:rPr>
                        <a:t>탭 </a:t>
                      </a:r>
                      <a:r>
                        <a:rPr lang="en-US" altLang="ko-KR" sz="700" u="none" strike="noStrike" dirty="0">
                          <a:effectLst/>
                        </a:rPr>
                        <a:t>&gt; </a:t>
                      </a:r>
                      <a:r>
                        <a:rPr lang="en-US" sz="700" u="none" strike="noStrike" dirty="0">
                          <a:effectLst/>
                        </a:rPr>
                        <a:t>Layout &gt; 18 FMX </a:t>
                      </a:r>
                      <a:r>
                        <a:rPr lang="ko-KR" altLang="en-US" sz="700" u="none" strike="noStrike" dirty="0">
                          <a:effectLst/>
                        </a:rPr>
                        <a:t>선택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en-US" sz="700" u="none" strike="noStrike" dirty="0">
                          <a:effectLst/>
                        </a:rPr>
                        <a:t>Sequence(</a:t>
                      </a:r>
                      <a:r>
                        <a:rPr lang="ko-KR" altLang="en-US" sz="700" u="none" strike="noStrike" dirty="0">
                          <a:effectLst/>
                        </a:rPr>
                        <a:t>촬영 순서</a:t>
                      </a:r>
                      <a:r>
                        <a:rPr lang="en-US" altLang="ko-KR" sz="700" u="none" strike="noStrike" dirty="0">
                          <a:effectLst/>
                        </a:rPr>
                        <a:t>) : </a:t>
                      </a:r>
                      <a:r>
                        <a:rPr lang="ko-KR" altLang="en-US" sz="700" u="none" strike="noStrike" dirty="0">
                          <a:effectLst/>
                        </a:rPr>
                        <a:t>체크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[</a:t>
                      </a:r>
                      <a:r>
                        <a:rPr lang="en-US" sz="700" u="none" strike="noStrike" dirty="0">
                          <a:effectLst/>
                        </a:rPr>
                        <a:t>Capture] </a:t>
                      </a:r>
                      <a:r>
                        <a:rPr lang="ko-KR" altLang="en-US" sz="700" u="none" strike="noStrike" dirty="0">
                          <a:effectLst/>
                        </a:rPr>
                        <a:t>버튼 </a:t>
                      </a:r>
                      <a:r>
                        <a:rPr lang="en-US" altLang="ko-KR" sz="700" u="none" strike="noStrike" dirty="0">
                          <a:effectLst/>
                        </a:rPr>
                        <a:t>&gt; </a:t>
                      </a:r>
                      <a:r>
                        <a:rPr lang="en-US" sz="700" u="none" strike="noStrike" dirty="0">
                          <a:effectLst/>
                        </a:rPr>
                        <a:t>IO Sensor Console SW </a:t>
                      </a:r>
                      <a:r>
                        <a:rPr lang="ko-KR" altLang="en-US" sz="700" u="none" strike="noStrike" dirty="0">
                          <a:effectLst/>
                        </a:rPr>
                        <a:t>실행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5. </a:t>
                      </a:r>
                      <a:r>
                        <a:rPr lang="ko-KR" altLang="en-US" sz="700" u="none" strike="noStrike" dirty="0">
                          <a:effectLst/>
                        </a:rPr>
                        <a:t>연속으로 촬영 진행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004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아래 순서대로 촬영한 영상이 치식에 입력됨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[08][07] [01][02][03] [11][12]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[18][17]               [15][16]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[10][09] [06][05][04] [13][14]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004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7280" y="3645024"/>
            <a:ext cx="1978456" cy="3035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500" dirty="0"/>
              <a:t>SW</a:t>
            </a:r>
            <a:r>
              <a:rPr lang="ko-KR" altLang="en-US" sz="1500" dirty="0"/>
              <a:t>평가실</a:t>
            </a:r>
            <a:r>
              <a:rPr lang="en-US" altLang="ko-KR" sz="1500" dirty="0"/>
              <a:t>TC-Sample</a:t>
            </a:r>
            <a:endParaRPr lang="ko-KR" altLang="en-US" sz="1500" dirty="0"/>
          </a:p>
        </p:txBody>
      </p:sp>
      <p:sp>
        <p:nvSpPr>
          <p:cNvPr id="9" name="TextBox 8"/>
          <p:cNvSpPr txBox="1"/>
          <p:nvPr/>
        </p:nvSpPr>
        <p:spPr>
          <a:xfrm>
            <a:off x="5076056" y="1484784"/>
            <a:ext cx="3744416" cy="6267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lIns="36000" tIns="36000" rIns="36000" bIns="36000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ALM VOC</a:t>
            </a:r>
            <a:r>
              <a:rPr lang="ko-KR" altLang="en-US" dirty="0"/>
              <a:t> 이슈 단순 나열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단순 결함 확인 테스팅 </a:t>
            </a:r>
            <a:r>
              <a:rPr lang="en-US" altLang="ko-KR" dirty="0"/>
              <a:t> </a:t>
            </a:r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755576" y="692696"/>
            <a:ext cx="3663430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테스트케이스 사례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비교</a:t>
            </a:r>
          </a:p>
        </p:txBody>
      </p:sp>
      <p:sp>
        <p:nvSpPr>
          <p:cNvPr id="13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</p:spTree>
    <p:extLst>
      <p:ext uri="{BB962C8B-B14F-4D97-AF65-F5344CB8AC3E}">
        <p14:creationId xmlns:p14="http://schemas.microsoft.com/office/powerpoint/2010/main" val="171084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115616" y="1124744"/>
            <a:ext cx="3333211" cy="288147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400" b="1" dirty="0"/>
              <a:t> ‘</a:t>
            </a:r>
            <a:r>
              <a:rPr lang="ko-KR" altLang="en-US" sz="1400" b="1" dirty="0"/>
              <a:t>영상 </a:t>
            </a:r>
            <a:r>
              <a:rPr lang="en-US" altLang="ko-KR" sz="1400" b="1" dirty="0"/>
              <a:t>SW’ </a:t>
            </a:r>
            <a:r>
              <a:rPr lang="ko-KR" altLang="en-US" sz="1400" b="1" dirty="0"/>
              <a:t>테스트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– Sample </a:t>
            </a:r>
            <a:r>
              <a:rPr lang="ko-KR" altLang="en-US" sz="1400" b="1" dirty="0"/>
              <a:t>예시 </a:t>
            </a:r>
            <a:r>
              <a:rPr lang="en-US" altLang="ko-KR" sz="1400" b="1" dirty="0"/>
              <a:t>2)</a:t>
            </a:r>
            <a:r>
              <a:rPr lang="ko-KR" altLang="en-US" sz="1400" b="1" dirty="0"/>
              <a:t> </a:t>
            </a:r>
            <a:endParaRPr lang="en-US" altLang="ko-KR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8212" y="1453892"/>
            <a:ext cx="1858304" cy="3189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600" dirty="0"/>
              <a:t>개발실</a:t>
            </a:r>
            <a:r>
              <a:rPr lang="en-US" altLang="ko-KR" sz="1600" dirty="0"/>
              <a:t>TC-Sample</a:t>
            </a:r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227747" y="3284984"/>
            <a:ext cx="1978456" cy="3035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500" dirty="0"/>
              <a:t>SW</a:t>
            </a:r>
            <a:r>
              <a:rPr lang="ko-KR" altLang="en-US" sz="1500" dirty="0"/>
              <a:t>평가실</a:t>
            </a:r>
            <a:r>
              <a:rPr lang="en-US" altLang="ko-KR" sz="1500" dirty="0"/>
              <a:t>TC-Sample</a:t>
            </a:r>
            <a:endParaRPr lang="ko-KR" altLang="en-US" sz="1500" dirty="0"/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755576" y="692696"/>
            <a:ext cx="3663430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테스트케이스 사례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비교 </a:t>
            </a:r>
          </a:p>
        </p:txBody>
      </p:sp>
      <p:sp>
        <p:nvSpPr>
          <p:cNvPr id="13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구조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09485"/>
              </p:ext>
            </p:extLst>
          </p:nvPr>
        </p:nvGraphicFramePr>
        <p:xfrm>
          <a:off x="861764" y="1817544"/>
          <a:ext cx="7886700" cy="1251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1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4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35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항목 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Level 1)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기능 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level 2)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사용자 행위 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level 3)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테스트 절차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기대 결과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8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OGS-P-02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환자 선택하기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환자 검색하기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환자 이름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차트번호 검색하기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</a:t>
                      </a:r>
                      <a:r>
                        <a:rPr lang="ko-KR" altLang="en-US" sz="800" u="none" strike="noStrike" dirty="0">
                          <a:effectLst/>
                        </a:rPr>
                        <a:t>검색하려는 환자이름을 입력한다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</a:t>
                      </a:r>
                      <a:r>
                        <a:rPr lang="ko-KR" altLang="en-US" sz="800" u="none" strike="noStrike" dirty="0">
                          <a:effectLst/>
                        </a:rPr>
                        <a:t>환자이름 입력 후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엔터</a:t>
                      </a:r>
                      <a:r>
                        <a:rPr lang="ko-KR" altLang="en-US" sz="800" u="none" strike="noStrike" dirty="0">
                          <a:effectLst/>
                        </a:rPr>
                        <a:t> 키 또는 상단 검색 버튼을 클릭한다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</a:t>
                      </a:r>
                      <a:r>
                        <a:rPr lang="ko-KR" altLang="en-US" sz="800" u="none" strike="noStrike" dirty="0">
                          <a:effectLst/>
                        </a:rPr>
                        <a:t>검색은 환자 이름 또는 차트 번호를 입력한다</a:t>
                      </a:r>
                      <a:r>
                        <a:rPr lang="en-US" altLang="ko-KR" sz="800" u="none" strike="noStrike" dirty="0">
                          <a:effectLst/>
                        </a:rPr>
                        <a:t>. (</a:t>
                      </a:r>
                      <a:r>
                        <a:rPr lang="ko-KR" altLang="en-US" sz="800" u="none" strike="noStrike" dirty="0">
                          <a:effectLst/>
                        </a:rPr>
                        <a:t>초성 검색 가능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</a:t>
                      </a:r>
                      <a:r>
                        <a:rPr lang="ko-KR" altLang="en-US" sz="800" u="none" strike="noStrike" dirty="0">
                          <a:effectLst/>
                        </a:rPr>
                        <a:t>입력한 환자의 데이터가 있는 경우 하단 환자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정보창에</a:t>
                      </a:r>
                      <a:r>
                        <a:rPr lang="ko-KR" altLang="en-US" sz="800" u="none" strike="noStrike" dirty="0">
                          <a:effectLst/>
                        </a:rPr>
                        <a:t> 출력된다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</a:t>
                      </a:r>
                      <a:r>
                        <a:rPr lang="ko-KR" altLang="en-US" sz="800" u="none" strike="noStrike" dirty="0">
                          <a:effectLst/>
                        </a:rPr>
                        <a:t>입력한 환자의 정보가 없는 경우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새로 환자를 생성하겠냐는 메시지 박스가 출력된다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3.Yes : </a:t>
                      </a:r>
                      <a:r>
                        <a:rPr lang="ko-KR" altLang="en-US" sz="800" u="none" strike="noStrike" dirty="0">
                          <a:effectLst/>
                        </a:rPr>
                        <a:t>환자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생성창으로</a:t>
                      </a:r>
                      <a:r>
                        <a:rPr lang="ko-KR" altLang="en-US" sz="800" u="none" strike="noStrike" dirty="0">
                          <a:effectLst/>
                        </a:rPr>
                        <a:t> 이동</a:t>
                      </a:r>
                      <a:r>
                        <a:rPr lang="en-US" altLang="ko-KR" sz="800" u="none" strike="noStrike" dirty="0">
                          <a:effectLst/>
                        </a:rPr>
                        <a:t>, No : </a:t>
                      </a:r>
                      <a:r>
                        <a:rPr lang="ko-KR" altLang="en-US" sz="800" u="none" strike="noStrike" dirty="0">
                          <a:effectLst/>
                        </a:rPr>
                        <a:t>취소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4.</a:t>
                      </a:r>
                      <a:r>
                        <a:rPr lang="ko-KR" altLang="en-US" sz="800" u="none" strike="noStrike" dirty="0">
                          <a:effectLst/>
                        </a:rPr>
                        <a:t>동일한 환자가 있는 경우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하단 리스트에 동일 환자 리스트가 출력된다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5.</a:t>
                      </a:r>
                      <a:r>
                        <a:rPr lang="ko-KR" altLang="en-US" sz="800" u="none" strike="noStrike" dirty="0">
                          <a:effectLst/>
                        </a:rPr>
                        <a:t>동일한 환자가 없는 경우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해당 환자의 정보가 환자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정보창에</a:t>
                      </a:r>
                      <a:r>
                        <a:rPr lang="ko-KR" altLang="en-US" sz="800" u="none" strike="noStrike" dirty="0">
                          <a:effectLst/>
                        </a:rPr>
                        <a:t> 출력된다</a:t>
                      </a:r>
                      <a:r>
                        <a:rPr lang="en-US" altLang="ko-KR" sz="800" u="none" strike="noStrike" dirty="0">
                          <a:effectLst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27984" y="1495122"/>
            <a:ext cx="4392488" cy="3497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dirty="0"/>
              <a:t>서로 다른 기대결과</a:t>
            </a:r>
            <a:r>
              <a:rPr lang="en-US" altLang="ko-KR" dirty="0"/>
              <a:t>(Expected Result) </a:t>
            </a:r>
            <a:r>
              <a:rPr lang="ko-KR" altLang="en-US" dirty="0"/>
              <a:t>다수</a:t>
            </a:r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390882"/>
              </p:ext>
            </p:extLst>
          </p:nvPr>
        </p:nvGraphicFramePr>
        <p:xfrm>
          <a:off x="899592" y="3573016"/>
          <a:ext cx="7920881" cy="30521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32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14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018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0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Case ID</a:t>
                      </a:r>
                      <a:endParaRPr lang="en-US" sz="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6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6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6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6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3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IT_OG1_11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환자 선택하기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환자 검색하기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환자검색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Manage </a:t>
                      </a:r>
                      <a:r>
                        <a:rPr lang="ko-KR" altLang="en-US" sz="800" u="none" strike="noStrike" dirty="0">
                          <a:effectLst/>
                        </a:rPr>
                        <a:t>화면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검색 입력란에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환자명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or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환자번호으로</a:t>
                      </a:r>
                      <a:r>
                        <a:rPr lang="ko-KR" altLang="en-US" sz="800" u="none" strike="noStrike" dirty="0">
                          <a:effectLst/>
                        </a:rPr>
                        <a:t> 환자  검색 </a:t>
                      </a:r>
                      <a:r>
                        <a:rPr lang="en-US" altLang="ko-KR" sz="800" u="none" strike="noStrike" dirty="0">
                          <a:effectLst/>
                        </a:rPr>
                        <a:t>(Enter or </a:t>
                      </a:r>
                      <a:r>
                        <a:rPr lang="ko-KR" altLang="en-US" sz="800" u="none" strike="noStrike" dirty="0">
                          <a:effectLst/>
                        </a:rPr>
                        <a:t>검색 버튼</a:t>
                      </a:r>
                      <a:r>
                        <a:rPr lang="en-US" altLang="ko-KR" sz="800" u="none" strike="noStrike" dirty="0">
                          <a:effectLst/>
                        </a:rPr>
                        <a:t>)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876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이름</a:t>
                      </a:r>
                      <a:r>
                        <a:rPr lang="en-US" altLang="ko-KR" sz="800" u="none" strike="noStrike" dirty="0">
                          <a:effectLst/>
                        </a:rPr>
                        <a:t>: </a:t>
                      </a:r>
                      <a:r>
                        <a:rPr lang="ko-KR" altLang="en-US" sz="800" u="none" strike="noStrike" dirty="0">
                          <a:effectLst/>
                        </a:rPr>
                        <a:t>한글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한글자</a:t>
                      </a:r>
                      <a:r>
                        <a:rPr lang="ko-KR" altLang="en-US" sz="800" u="none" strike="noStrike" dirty="0">
                          <a:effectLst/>
                        </a:rPr>
                        <a:t> 또는 영문 알파벳 하나 이상 일치할 경우 조회환 환자 검색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차트번호</a:t>
                      </a:r>
                      <a:r>
                        <a:rPr lang="en-US" altLang="ko-KR" sz="800" u="none" strike="noStrike" dirty="0">
                          <a:effectLst/>
                        </a:rPr>
                        <a:t>: </a:t>
                      </a:r>
                      <a:r>
                        <a:rPr lang="ko-KR" altLang="en-US" sz="800" u="none" strike="noStrike" dirty="0">
                          <a:effectLst/>
                        </a:rPr>
                        <a:t>연속된 숫자 </a:t>
                      </a:r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r>
                        <a:rPr lang="ko-KR" altLang="en-US" sz="800" u="none" strike="noStrike" dirty="0">
                          <a:effectLst/>
                        </a:rPr>
                        <a:t>개 이상 일치할 경우 환자 검색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876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IT_OG1_12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환자 선택하기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환자 검색하기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등록한 환자가 없을 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Manage </a:t>
                      </a:r>
                      <a:r>
                        <a:rPr lang="ko-KR" altLang="en-US" sz="800" u="none" strike="noStrike" dirty="0">
                          <a:effectLst/>
                        </a:rPr>
                        <a:t>화면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미등록된</a:t>
                      </a:r>
                      <a:r>
                        <a:rPr lang="ko-KR" altLang="en-US" sz="800" u="none" strike="noStrike" dirty="0">
                          <a:effectLst/>
                        </a:rPr>
                        <a:t> 환자검색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876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# </a:t>
                      </a:r>
                      <a:r>
                        <a:rPr lang="ko-KR" altLang="en-US" sz="800" u="none" strike="noStrike">
                          <a:effectLst/>
                        </a:rPr>
                        <a:t>검색 결과가 존재하지 않는 경우</a:t>
                      </a:r>
                      <a:r>
                        <a:rPr lang="en-US" altLang="ko-KR" sz="800" u="none" strike="noStrike">
                          <a:effectLst/>
                        </a:rPr>
                        <a:t>,  </a:t>
                      </a:r>
                      <a:r>
                        <a:rPr lang="ko-KR" altLang="en-US" sz="800" u="none" strike="noStrike">
                          <a:effectLst/>
                        </a:rPr>
                        <a:t>신규환자 등록확인 팝업 생성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- Yes : </a:t>
                      </a:r>
                      <a:r>
                        <a:rPr lang="ko-KR" altLang="en-US" sz="800" u="none" strike="noStrike">
                          <a:effectLst/>
                        </a:rPr>
                        <a:t>신규환자 등록확인 팝업 종료 </a:t>
                      </a:r>
                      <a:r>
                        <a:rPr lang="en-US" altLang="ko-KR" sz="800" u="none" strike="noStrike">
                          <a:effectLst/>
                        </a:rPr>
                        <a:t>&amp; </a:t>
                      </a:r>
                      <a:r>
                        <a:rPr lang="ko-KR" altLang="en-US" sz="800" u="none" strike="noStrike">
                          <a:effectLst/>
                        </a:rPr>
                        <a:t>신규환자 등록화면의 이름입력란에 검색 키워드 자동 입력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- No : </a:t>
                      </a:r>
                      <a:r>
                        <a:rPr lang="ko-KR" altLang="en-US" sz="800" u="none" strike="noStrike">
                          <a:effectLst/>
                        </a:rPr>
                        <a:t>신규환자 등록 팝업 종료 </a:t>
                      </a:r>
                      <a:r>
                        <a:rPr lang="en-US" altLang="ko-KR" sz="800" u="none" strike="noStrike">
                          <a:effectLst/>
                        </a:rPr>
                        <a:t>&amp; </a:t>
                      </a:r>
                      <a:r>
                        <a:rPr lang="ko-KR" altLang="en-US" sz="800" u="none" strike="noStrike">
                          <a:effectLst/>
                        </a:rPr>
                        <a:t>신규환자 등록안됨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876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8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IT_OG1_13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환자 선택하기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환자 확인하기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동명이인 검색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동일한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환자명이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명이상</a:t>
                      </a:r>
                      <a:r>
                        <a:rPr lang="ko-KR" altLang="en-US" sz="800" u="none" strike="noStrike" dirty="0">
                          <a:effectLst/>
                        </a:rPr>
                        <a:t> 저장되어 있음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Manage </a:t>
                      </a:r>
                      <a:r>
                        <a:rPr lang="ko-KR" altLang="en-US" sz="800" u="none" strike="noStrike" dirty="0">
                          <a:effectLst/>
                        </a:rPr>
                        <a:t>화면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검색 입력란 동명이인 환자 검색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876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검색 결과가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두개</a:t>
                      </a:r>
                      <a:r>
                        <a:rPr lang="ko-KR" altLang="en-US" sz="800" u="none" strike="noStrike" dirty="0">
                          <a:effectLst/>
                        </a:rPr>
                        <a:t> 이상인 경우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드롭다운</a:t>
                      </a:r>
                      <a:r>
                        <a:rPr lang="ko-KR" altLang="en-US" sz="800" u="none" strike="noStrike" dirty="0">
                          <a:effectLst/>
                        </a:rPr>
                        <a:t> 목록으로 제공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정렬기준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최근날짜</a:t>
                      </a:r>
                      <a:r>
                        <a:rPr lang="ko-KR" altLang="en-US" sz="800" u="none" strike="noStrike" dirty="0">
                          <a:effectLst/>
                        </a:rPr>
                        <a:t> 순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내림차순</a:t>
                      </a:r>
                      <a:r>
                        <a:rPr lang="en-US" altLang="ko-KR" sz="800" u="none" strike="noStrike" dirty="0">
                          <a:effectLst/>
                        </a:rPr>
                        <a:t>)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876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7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IT_OG1_14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환자 선택하기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환자 확인하기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초성검색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Manage </a:t>
                      </a:r>
                      <a:r>
                        <a:rPr lang="ko-KR" altLang="en-US" sz="800" u="none" strike="noStrike" dirty="0">
                          <a:effectLst/>
                        </a:rPr>
                        <a:t>화면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검색 입력란에  한글 </a:t>
                      </a:r>
                      <a:r>
                        <a:rPr lang="en-US" altLang="ko-KR" sz="800" u="none" strike="noStrike" dirty="0">
                          <a:effectLst/>
                        </a:rPr>
                        <a:t>or </a:t>
                      </a:r>
                      <a:r>
                        <a:rPr lang="ko-KR" altLang="en-US" sz="800" u="none" strike="noStrike" dirty="0">
                          <a:effectLst/>
                        </a:rPr>
                        <a:t>영문 </a:t>
                      </a:r>
                      <a:r>
                        <a:rPr lang="en-US" altLang="ko-KR" sz="800" u="none" strike="noStrike" dirty="0">
                          <a:effectLst/>
                        </a:rPr>
                        <a:t>or </a:t>
                      </a:r>
                      <a:r>
                        <a:rPr lang="ko-KR" altLang="en-US" sz="800" u="none" strike="noStrike" dirty="0">
                          <a:effectLst/>
                        </a:rPr>
                        <a:t>숫자로 초성 입력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원하는 환자 선택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876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초성 입력 시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검색란에</a:t>
                      </a:r>
                      <a:r>
                        <a:rPr lang="ko-KR" altLang="en-US" sz="800" u="none" strike="noStrike" dirty="0">
                          <a:effectLst/>
                        </a:rPr>
                        <a:t> 검색 결과가 표시됨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검색되어진 환자의 리스트는 환자 </a:t>
                      </a:r>
                      <a:r>
                        <a:rPr lang="en-US" altLang="ko-KR" sz="800" u="none" strike="noStrike" dirty="0">
                          <a:effectLst/>
                        </a:rPr>
                        <a:t>5</a:t>
                      </a:r>
                      <a:r>
                        <a:rPr lang="ko-KR" altLang="en-US" sz="800" u="none" strike="noStrike" dirty="0">
                          <a:effectLst/>
                        </a:rPr>
                        <a:t>명까지 표현하며</a:t>
                      </a:r>
                      <a:r>
                        <a:rPr lang="en-US" altLang="ko-KR" sz="800" u="none" strike="noStrike" dirty="0">
                          <a:effectLst/>
                        </a:rPr>
                        <a:t>, 5</a:t>
                      </a:r>
                      <a:r>
                        <a:rPr lang="ko-KR" altLang="en-US" sz="800" u="none" strike="noStrike" dirty="0">
                          <a:effectLst/>
                        </a:rPr>
                        <a:t>명 이상인 경우 스크롤 바 생성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검색결과 리스트에서 환자를 선택하여 환자정보를 확인할 수 있음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876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96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19"/>
          <p:cNvSpPr txBox="1">
            <a:spLocks/>
          </p:cNvSpPr>
          <p:nvPr/>
        </p:nvSpPr>
        <p:spPr>
          <a:xfrm>
            <a:off x="5796136" y="3356992"/>
            <a:ext cx="1855242" cy="1919363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03</a:t>
            </a:r>
            <a:endParaRPr kumimoji="0" lang="ko-KR" altLang="en-US" sz="1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4294967295"/>
          </p:nvPr>
        </p:nvSpPr>
        <p:spPr>
          <a:xfrm>
            <a:off x="827584" y="1988840"/>
            <a:ext cx="4320661" cy="565146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>
              <a:buNone/>
            </a:pPr>
            <a:r>
              <a:rPr lang="ko-KR" altLang="en-US" b="1" dirty="0"/>
              <a:t>통합테스트케이스 설계</a:t>
            </a:r>
          </a:p>
        </p:txBody>
      </p:sp>
    </p:spTree>
    <p:extLst>
      <p:ext uri="{BB962C8B-B14F-4D97-AF65-F5344CB8AC3E}">
        <p14:creationId xmlns:p14="http://schemas.microsoft.com/office/powerpoint/2010/main" val="206912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2180" y="6381328"/>
            <a:ext cx="23762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[One2 </a:t>
            </a:r>
            <a:r>
              <a:rPr lang="ko-KR" altLang="en-US" sz="900" b="1" dirty="0"/>
              <a:t>통합테스트케이스 설계 </a:t>
            </a:r>
            <a:r>
              <a:rPr lang="en-US" altLang="ko-KR" sz="900" b="1" dirty="0"/>
              <a:t>Sample</a:t>
            </a:r>
            <a:endParaRPr lang="ko-KR" altLang="en-US" sz="900" dirty="0"/>
          </a:p>
        </p:txBody>
      </p:sp>
      <p:sp>
        <p:nvSpPr>
          <p:cNvPr id="22" name="텍스트 개체 틀 4"/>
          <p:cNvSpPr txBox="1">
            <a:spLocks/>
          </p:cNvSpPr>
          <p:nvPr/>
        </p:nvSpPr>
        <p:spPr>
          <a:xfrm>
            <a:off x="771196" y="744264"/>
            <a:ext cx="3980824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절차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600" y="1279673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3-1-1. Case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요구사항 기반 테스트케이스 설계 </a:t>
            </a:r>
            <a:endParaRPr lang="en-US" altLang="ko-KR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419872" y="1794187"/>
            <a:ext cx="5400600" cy="62670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b="1" dirty="0"/>
              <a:t>적용대상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/>
              <a:t>테스트설계 기법 적용 없이 요구사항을 기반으로 테스트 항목을</a:t>
            </a:r>
            <a:endParaRPr lang="en-US" altLang="ko-KR" sz="1200" dirty="0"/>
          </a:p>
          <a:p>
            <a:r>
              <a:rPr lang="en-US" altLang="ko-KR" sz="1200" dirty="0"/>
              <a:t>            </a:t>
            </a:r>
            <a:r>
              <a:rPr lang="ko-KR" altLang="en-US" sz="1200" dirty="0"/>
              <a:t>     추출하여 테스트케이스화</a:t>
            </a:r>
            <a:endParaRPr lang="en-US" altLang="ko-KR" sz="1200" dirty="0"/>
          </a:p>
          <a:p>
            <a:r>
              <a:rPr lang="ko-KR" altLang="en-US" sz="1200" dirty="0">
                <a:sym typeface="Wingdings" panose="05000000000000000000" pitchFamily="2" charset="2"/>
              </a:rPr>
              <a:t>  </a:t>
            </a:r>
            <a:endParaRPr lang="ko-KR" alt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4067944" y="2282854"/>
            <a:ext cx="4248472" cy="6420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300" b="1" dirty="0">
                <a:sym typeface="Wingdings" panose="05000000000000000000" pitchFamily="2" charset="2"/>
              </a:rPr>
              <a:t>How can I do?  </a:t>
            </a:r>
            <a:r>
              <a:rPr lang="en-US" altLang="ko-KR" sz="1300" b="1" dirty="0"/>
              <a:t> </a:t>
            </a:r>
          </a:p>
          <a:p>
            <a:pPr marL="285750" indent="-285750">
              <a:buFont typeface="+mj-lt"/>
              <a:buAutoNum type="romanUcPeriod"/>
            </a:pPr>
            <a:r>
              <a:rPr lang="en-US" altLang="ko-KR" sz="1200" dirty="0"/>
              <a:t>[2-1. </a:t>
            </a:r>
            <a:r>
              <a:rPr lang="ko-KR" altLang="en-US" sz="1200" dirty="0"/>
              <a:t>통합테스트케이스 작성기준</a:t>
            </a:r>
            <a:r>
              <a:rPr lang="en-US" altLang="ko-KR" sz="1200" dirty="0"/>
              <a:t>]</a:t>
            </a:r>
            <a:r>
              <a:rPr lang="ko-KR" altLang="en-US" sz="1200" dirty="0"/>
              <a:t> 참고하여 설계 </a:t>
            </a:r>
            <a:endParaRPr lang="en-US" altLang="ko-KR" sz="1200" dirty="0"/>
          </a:p>
          <a:p>
            <a:pPr marL="285750" indent="-285750">
              <a:buFont typeface="+mj-lt"/>
              <a:buAutoNum type="romanUcPeriod"/>
            </a:pPr>
            <a:r>
              <a:rPr lang="en-US" altLang="ko-KR" sz="1200" dirty="0"/>
              <a:t>Classification Tree method </a:t>
            </a:r>
            <a:endParaRPr lang="ko-KR" altLang="en-US" sz="1200" dirty="0"/>
          </a:p>
        </p:txBody>
      </p:sp>
      <p:sp>
        <p:nvSpPr>
          <p:cNvPr id="26" name="위로 굽은 화살표 25"/>
          <p:cNvSpPr/>
          <p:nvPr/>
        </p:nvSpPr>
        <p:spPr>
          <a:xfrm rot="5400000">
            <a:off x="2006521" y="4696846"/>
            <a:ext cx="640914" cy="697513"/>
          </a:xfrm>
          <a:prstGeom prst="bentUpArrow">
            <a:avLst/>
          </a:prstGeom>
          <a:solidFill>
            <a:schemeClr val="bg1">
              <a:lumMod val="65000"/>
            </a:schemeClr>
          </a:solidFill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2968726"/>
            <a:ext cx="2949255" cy="65660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grpSp>
        <p:nvGrpSpPr>
          <p:cNvPr id="2" name="그룹 1"/>
          <p:cNvGrpSpPr/>
          <p:nvPr/>
        </p:nvGrpSpPr>
        <p:grpSpPr>
          <a:xfrm>
            <a:off x="611560" y="2026580"/>
            <a:ext cx="2952328" cy="2698564"/>
            <a:chOff x="899592" y="3089836"/>
            <a:chExt cx="4392488" cy="3686733"/>
          </a:xfrm>
        </p:grpSpPr>
        <p:grpSp>
          <p:nvGrpSpPr>
            <p:cNvPr id="23" name="그룹 22"/>
            <p:cNvGrpSpPr/>
            <p:nvPr/>
          </p:nvGrpSpPr>
          <p:grpSpPr>
            <a:xfrm>
              <a:off x="899592" y="3089836"/>
              <a:ext cx="4392488" cy="3686733"/>
              <a:chOff x="899592" y="3089836"/>
              <a:chExt cx="4392488" cy="3686733"/>
            </a:xfrm>
          </p:grpSpPr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5345" y="3527081"/>
                <a:ext cx="3641679" cy="332035"/>
              </a:xfrm>
              <a:prstGeom prst="rect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</p:pic>
          <p:grpSp>
            <p:nvGrpSpPr>
              <p:cNvPr id="29" name="그룹 28"/>
              <p:cNvGrpSpPr/>
              <p:nvPr/>
            </p:nvGrpSpPr>
            <p:grpSpPr>
              <a:xfrm>
                <a:off x="899592" y="3089836"/>
                <a:ext cx="4392488" cy="3686733"/>
                <a:chOff x="899592" y="3089836"/>
                <a:chExt cx="4392488" cy="3686733"/>
              </a:xfrm>
            </p:grpSpPr>
            <p:grpSp>
              <p:nvGrpSpPr>
                <p:cNvPr id="31" name="그룹 30"/>
                <p:cNvGrpSpPr/>
                <p:nvPr/>
              </p:nvGrpSpPr>
              <p:grpSpPr>
                <a:xfrm>
                  <a:off x="899592" y="3089836"/>
                  <a:ext cx="4392488" cy="3686733"/>
                  <a:chOff x="827584" y="3130620"/>
                  <a:chExt cx="4248472" cy="3543291"/>
                </a:xfrm>
              </p:grpSpPr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1760175" y="6398318"/>
                    <a:ext cx="2246555" cy="27559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r>
                      <a:rPr lang="en-US" altLang="ko-KR" sz="900" b="1" dirty="0"/>
                      <a:t>[One2 </a:t>
                    </a:r>
                    <a:r>
                      <a:rPr lang="ko-KR" altLang="en-US" sz="900" b="1" dirty="0"/>
                      <a:t>기획서</a:t>
                    </a:r>
                    <a:r>
                      <a:rPr lang="en-US" altLang="ko-KR" sz="900" b="1" dirty="0"/>
                      <a:t>-V1.1.4] </a:t>
                    </a:r>
                    <a:r>
                      <a:rPr lang="ko-KR" altLang="en-US" sz="900" b="1" dirty="0"/>
                      <a:t>예시 </a:t>
                    </a:r>
                    <a:endParaRPr lang="ko-KR" altLang="en-US" sz="900" dirty="0"/>
                  </a:p>
                </p:txBody>
              </p:sp>
              <p:pic>
                <p:nvPicPr>
                  <p:cNvPr id="34" name="그림 33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827584" y="3130620"/>
                    <a:ext cx="4248472" cy="36196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2" name="직사각형 31"/>
                <p:cNvSpPr/>
                <p:nvPr/>
              </p:nvSpPr>
              <p:spPr>
                <a:xfrm>
                  <a:off x="1195345" y="3485338"/>
                  <a:ext cx="3641679" cy="377750"/>
                </a:xfrm>
                <a:prstGeom prst="rect">
                  <a:avLst/>
                </a:prstGeom>
                <a:solidFill>
                  <a:srgbClr val="E1F618">
                    <a:alpha val="10000"/>
                  </a:srgbClr>
                </a:solidFill>
                <a:ln w="19050">
                  <a:noFill/>
                  <a:prstDash val="dash"/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endPara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30" name="순서도: 병합 29"/>
              <p:cNvSpPr/>
              <p:nvPr/>
            </p:nvSpPr>
            <p:spPr>
              <a:xfrm>
                <a:off x="1691680" y="3871152"/>
                <a:ext cx="2520280" cy="202069"/>
              </a:xfrm>
              <a:prstGeom prst="flowChartMerge">
                <a:avLst/>
              </a:prstGeom>
              <a:solidFill>
                <a:schemeClr val="bg1">
                  <a:lumMod val="65000"/>
                  <a:alpha val="30000"/>
                </a:schemeClr>
              </a:solidFill>
            </p:spPr>
            <p:txBody>
              <a:bodyPr wrap="non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endParaRPr lang="ko-KR" altLang="en-US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3259" y="4137303"/>
              <a:ext cx="3359487" cy="2277618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</p:grp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581035"/>
              </p:ext>
            </p:extLst>
          </p:nvPr>
        </p:nvGraphicFramePr>
        <p:xfrm>
          <a:off x="3203848" y="3861907"/>
          <a:ext cx="5706456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35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4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7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12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Case ID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7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0089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Thumbnail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</a:rPr>
                        <a:t>모두 선택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선택되지 않은  </a:t>
                      </a:r>
                      <a:r>
                        <a:rPr lang="en-US" altLang="ko-KR" sz="750" u="none" strike="noStrike" dirty="0">
                          <a:effectLst/>
                        </a:rPr>
                        <a:t>Modality</a:t>
                      </a:r>
                      <a:r>
                        <a:rPr lang="ko-KR" altLang="en-US" sz="750" u="none" strike="noStrike" dirty="0">
                          <a:effectLst/>
                        </a:rPr>
                        <a:t>가 </a:t>
                      </a:r>
                      <a:r>
                        <a:rPr lang="en-US" altLang="ko-KR" sz="750" u="none" strike="noStrike" dirty="0">
                          <a:effectLst/>
                        </a:rPr>
                        <a:t>1</a:t>
                      </a:r>
                      <a:r>
                        <a:rPr lang="ko-KR" altLang="en-US" sz="750" u="none" strike="noStrike" dirty="0">
                          <a:effectLst/>
                        </a:rPr>
                        <a:t>개 이상 있음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1. </a:t>
                      </a:r>
                      <a:r>
                        <a:rPr lang="ko-KR" altLang="en-US" sz="750" u="none" strike="noStrike">
                          <a:effectLst/>
                        </a:rPr>
                        <a:t>환자 선택 </a:t>
                      </a:r>
                      <a:r>
                        <a:rPr lang="en-US" altLang="ko-KR" sz="750" u="none" strike="noStrike">
                          <a:effectLst/>
                        </a:rPr>
                        <a:t>&gt; </a:t>
                      </a:r>
                      <a:r>
                        <a:rPr lang="ko-KR" altLang="en-US" sz="750" u="none" strike="noStrike">
                          <a:effectLst/>
                        </a:rPr>
                        <a:t>썸네일 영역</a:t>
                      </a:r>
                      <a:br>
                        <a:rPr lang="ko-KR" altLang="en-US" sz="750" u="none" strike="noStrike">
                          <a:effectLst/>
                        </a:rPr>
                      </a:br>
                      <a:r>
                        <a:rPr lang="en-US" altLang="ko-KR" sz="750" u="none" strike="noStrike">
                          <a:effectLst/>
                        </a:rPr>
                        <a:t>2. </a:t>
                      </a:r>
                      <a:r>
                        <a:rPr lang="ko-KR" altLang="en-US" sz="750" u="none" strike="noStrike">
                          <a:effectLst/>
                        </a:rPr>
                        <a:t>영상 분류 옵션 좌측에 체크 박스 활성화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모든 </a:t>
                      </a:r>
                      <a:r>
                        <a:rPr lang="en-US" altLang="ko-KR" sz="750" u="none" strike="noStrike">
                          <a:effectLst/>
                        </a:rPr>
                        <a:t>Modality</a:t>
                      </a:r>
                      <a:r>
                        <a:rPr lang="ko-KR" altLang="en-US" sz="750" u="none" strike="noStrike">
                          <a:effectLst/>
                        </a:rPr>
                        <a:t>가 선택됨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5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 dirty="0">
                          <a:effectLst/>
                        </a:rPr>
                        <a:t>20P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0090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All Patient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Thumbnail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 dirty="0">
                          <a:effectLst/>
                        </a:rPr>
                        <a:t>선택 해제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Modality</a:t>
                      </a:r>
                      <a:r>
                        <a:rPr lang="ko-KR" altLang="en-US" sz="750" u="none" strike="noStrike" dirty="0">
                          <a:effectLst/>
                        </a:rPr>
                        <a:t>가 모두 선택되어 있음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 좌측에 체크 박스 비활성화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선택된 모든 </a:t>
                      </a:r>
                      <a:r>
                        <a:rPr lang="en-US" altLang="ko-KR" sz="750" u="none" strike="noStrike">
                          <a:effectLst/>
                        </a:rPr>
                        <a:t>Modality</a:t>
                      </a:r>
                      <a:r>
                        <a:rPr lang="ko-KR" altLang="en-US" sz="750" u="none" strike="noStrike">
                          <a:effectLst/>
                        </a:rPr>
                        <a:t>가 해제됨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5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 dirty="0">
                          <a:effectLst/>
                        </a:rPr>
                        <a:t>20P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0091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Thumbnail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 dirty="0">
                          <a:effectLst/>
                        </a:rPr>
                        <a:t>Modality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 dirty="0">
                          <a:effectLst/>
                        </a:rPr>
                        <a:t>파노라마 보기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　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옵션에서 파노라마 보기 버튼 클릭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# </a:t>
                      </a:r>
                      <a:r>
                        <a:rPr lang="ko-KR" altLang="en-US" sz="750" u="none" strike="noStrike" dirty="0">
                          <a:effectLst/>
                        </a:rPr>
                        <a:t>파노라마 영상이 영상 목록에 표시됨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5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 dirty="0">
                          <a:effectLst/>
                        </a:rPr>
                        <a:t>20P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0092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Thumbnail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CT </a:t>
                      </a:r>
                      <a:r>
                        <a:rPr lang="ko-KR" altLang="en-US" sz="750" u="none" strike="noStrike">
                          <a:effectLst/>
                        </a:rPr>
                        <a:t>보기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>
                          <a:effectLst/>
                        </a:rPr>
                        <a:t>　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1. </a:t>
                      </a:r>
                      <a:r>
                        <a:rPr lang="ko-KR" altLang="en-US" sz="750" u="none" strike="noStrike" dirty="0">
                          <a:effectLst/>
                        </a:rPr>
                        <a:t>환자 선택 </a:t>
                      </a:r>
                      <a:r>
                        <a:rPr lang="en-US" altLang="ko-KR" sz="750" u="none" strike="noStrike" dirty="0">
                          <a:effectLst/>
                        </a:rPr>
                        <a:t>&gt; </a:t>
                      </a:r>
                      <a:r>
                        <a:rPr lang="ko-KR" altLang="en-US" sz="750" u="none" strike="noStrike" dirty="0" err="1">
                          <a:effectLst/>
                        </a:rPr>
                        <a:t>썸네일</a:t>
                      </a:r>
                      <a:r>
                        <a:rPr lang="ko-KR" altLang="en-US" sz="750" u="none" strike="noStrike" dirty="0">
                          <a:effectLst/>
                        </a:rPr>
                        <a:t> 영역</a:t>
                      </a:r>
                      <a:br>
                        <a:rPr lang="ko-KR" altLang="en-US" sz="750" u="none" strike="noStrike" dirty="0">
                          <a:effectLst/>
                        </a:rPr>
                      </a:br>
                      <a:r>
                        <a:rPr lang="en-US" altLang="ko-KR" sz="750" u="none" strike="noStrike" dirty="0">
                          <a:effectLst/>
                        </a:rPr>
                        <a:t>2.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 분류 옵션에서 </a:t>
                      </a:r>
                      <a:r>
                        <a:rPr lang="en-US" altLang="ko-KR" sz="750" u="none" strike="noStrike" dirty="0">
                          <a:effectLst/>
                        </a:rPr>
                        <a:t>CT </a:t>
                      </a:r>
                      <a:r>
                        <a:rPr lang="ko-KR" altLang="en-US" sz="750" u="none" strike="noStrike" dirty="0">
                          <a:effectLst/>
                        </a:rPr>
                        <a:t>보기 버튼 클릭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 dirty="0">
                          <a:effectLst/>
                        </a:rPr>
                        <a:t># CT </a:t>
                      </a:r>
                      <a:r>
                        <a:rPr lang="ko-KR" altLang="en-US" sz="750" u="none" strike="noStrike" dirty="0">
                          <a:effectLst/>
                        </a:rPr>
                        <a:t>영상이 영상 목록에 표시됨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5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 dirty="0">
                          <a:effectLst/>
                        </a:rPr>
                        <a:t>20P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8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IT_O2_</a:t>
                      </a:r>
                    </a:p>
                    <a:p>
                      <a:pPr algn="ctr" fontAlgn="ctr"/>
                      <a:r>
                        <a:rPr lang="en-US" sz="750" u="none" strike="noStrike" dirty="0">
                          <a:effectLst/>
                        </a:rPr>
                        <a:t>0093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Patient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All Patient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Thumbnail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50" u="none" strike="noStrike">
                          <a:effectLst/>
                        </a:rPr>
                        <a:t>Modality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</a:rPr>
                        <a:t>세팔로 보기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50" u="none" strike="noStrike" dirty="0">
                          <a:effectLst/>
                        </a:rPr>
                        <a:t>　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1. </a:t>
                      </a:r>
                      <a:r>
                        <a:rPr lang="ko-KR" altLang="en-US" sz="750" u="none" strike="noStrike">
                          <a:effectLst/>
                        </a:rPr>
                        <a:t>환자 선택 </a:t>
                      </a:r>
                      <a:r>
                        <a:rPr lang="en-US" altLang="ko-KR" sz="750" u="none" strike="noStrike">
                          <a:effectLst/>
                        </a:rPr>
                        <a:t>&gt; </a:t>
                      </a:r>
                      <a:r>
                        <a:rPr lang="ko-KR" altLang="en-US" sz="750" u="none" strike="noStrike">
                          <a:effectLst/>
                        </a:rPr>
                        <a:t>썸네일 영역</a:t>
                      </a:r>
                      <a:br>
                        <a:rPr lang="ko-KR" altLang="en-US" sz="750" u="none" strike="noStrike">
                          <a:effectLst/>
                        </a:rPr>
                      </a:br>
                      <a:r>
                        <a:rPr lang="en-US" altLang="ko-KR" sz="750" u="none" strike="noStrike">
                          <a:effectLst/>
                        </a:rPr>
                        <a:t>2. </a:t>
                      </a:r>
                      <a:r>
                        <a:rPr lang="ko-KR" altLang="en-US" sz="750" u="none" strike="noStrike">
                          <a:effectLst/>
                        </a:rPr>
                        <a:t>영상 분류 옵션에서 세팔로 보기 버튼 클릭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u="none" strike="noStrike">
                          <a:effectLst/>
                        </a:rPr>
                        <a:t># </a:t>
                      </a:r>
                      <a:r>
                        <a:rPr lang="ko-KR" altLang="en-US" sz="750" u="none" strike="noStrike">
                          <a:effectLst/>
                        </a:rPr>
                        <a:t>세팔로 영상이 영상 목록에 표시됨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2027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u="none" strike="noStrike" dirty="0">
                          <a:effectLst/>
                        </a:rPr>
                        <a:t>One2 V1.1.4 </a:t>
                      </a:r>
                      <a:r>
                        <a:rPr lang="ko-KR" altLang="en-US" sz="750" u="none" strike="noStrike" dirty="0">
                          <a:effectLst/>
                        </a:rPr>
                        <a:t>화면 정의서 </a:t>
                      </a:r>
                      <a:r>
                        <a:rPr lang="en-US" altLang="ko-KR" sz="750" u="none" strike="noStrike" dirty="0">
                          <a:effectLst/>
                        </a:rPr>
                        <a:t>20P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15616" y="5589240"/>
            <a:ext cx="2592288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[</a:t>
            </a:r>
            <a:r>
              <a:rPr lang="ko-KR" altLang="en-US" sz="1400" b="1" dirty="0"/>
              <a:t>화면설계서 만 있을 때</a:t>
            </a:r>
            <a:r>
              <a:rPr lang="en-US" altLang="ko-KR" sz="1400" b="1" dirty="0"/>
              <a:t>]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97940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192" y="6525344"/>
            <a:ext cx="23762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</a:t>
            </a:r>
            <a:r>
              <a:rPr lang="en-US" altLang="ko-KR" sz="900" b="1" dirty="0" err="1"/>
              <a:t>OneGuide</a:t>
            </a:r>
            <a:r>
              <a:rPr lang="en-US" altLang="ko-KR" sz="900" b="1" dirty="0"/>
              <a:t> </a:t>
            </a:r>
            <a:r>
              <a:rPr lang="ko-KR" altLang="en-US" sz="900" b="1" dirty="0"/>
              <a:t>통합테스트케이스 설계 </a:t>
            </a:r>
            <a:r>
              <a:rPr lang="en-US" altLang="ko-KR" sz="900" b="1" dirty="0"/>
              <a:t>Sample</a:t>
            </a:r>
            <a:endParaRPr lang="ko-KR" altLang="en-US" sz="900" dirty="0"/>
          </a:p>
        </p:txBody>
      </p:sp>
      <p:sp>
        <p:nvSpPr>
          <p:cNvPr id="22" name="텍스트 개체 틀 4"/>
          <p:cNvSpPr txBox="1">
            <a:spLocks/>
          </p:cNvSpPr>
          <p:nvPr/>
        </p:nvSpPr>
        <p:spPr>
          <a:xfrm>
            <a:off x="771196" y="744264"/>
            <a:ext cx="3980824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절차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600" y="1279673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3-1-1. Case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요구사항 기반 테스트케이스 설계 </a:t>
            </a:r>
            <a:endParaRPr lang="en-US" altLang="ko-KR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75656" y="1612371"/>
            <a:ext cx="741682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b="1" dirty="0"/>
              <a:t>적용대상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/>
              <a:t>테스트설계 기법 적용 없이 요구사항을 기반으로 테스트 항목을</a:t>
            </a:r>
            <a:r>
              <a:rPr lang="en-US" altLang="ko-KR" sz="1200" dirty="0"/>
              <a:t> </a:t>
            </a:r>
            <a:r>
              <a:rPr lang="ko-KR" altLang="en-US" sz="1200" dirty="0"/>
              <a:t>추출하여 테스트케이스화</a:t>
            </a:r>
            <a:endParaRPr lang="en-US" altLang="ko-KR" sz="1200" dirty="0"/>
          </a:p>
          <a:p>
            <a:r>
              <a:rPr lang="ko-KR" altLang="en-US" sz="1200" dirty="0">
                <a:sym typeface="Wingdings" panose="05000000000000000000" pitchFamily="2" charset="2"/>
              </a:rPr>
              <a:t>  </a:t>
            </a:r>
            <a:endParaRPr lang="ko-KR" altLang="en-US" sz="1200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785686"/>
              </p:ext>
            </p:extLst>
          </p:nvPr>
        </p:nvGraphicFramePr>
        <p:xfrm>
          <a:off x="1835695" y="1988840"/>
          <a:ext cx="3816425" cy="9014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3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91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항목 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Level 1)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기능 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level 2)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사용자 행위 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level 3)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829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800" u="none" strike="noStrike">
                          <a:effectLst/>
                        </a:rPr>
                        <a:t>OGS-P-01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 rowSpan="4"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소프트웨어 실행하기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OneGuide </a:t>
                      </a:r>
                      <a:r>
                        <a:rPr lang="ko-KR" altLang="en-US" sz="800" u="none" strike="noStrike">
                          <a:effectLst/>
                        </a:rPr>
                        <a:t>실행하기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 err="1">
                          <a:effectLst/>
                        </a:rPr>
                        <a:t>OneGuide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바로가기</a:t>
                      </a:r>
                      <a:r>
                        <a:rPr lang="ko-KR" altLang="en-US" sz="800" u="none" strike="noStrike" dirty="0">
                          <a:effectLst/>
                        </a:rPr>
                        <a:t> 아이콘 클릭하기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로그인하기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사용자 정보 입력하기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 err="1">
                          <a:effectLst/>
                        </a:rPr>
                        <a:t>OneClick</a:t>
                      </a:r>
                      <a:r>
                        <a:rPr 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 err="1">
                          <a:effectLst/>
                        </a:rPr>
                        <a:t>OneClick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바로가기</a:t>
                      </a:r>
                      <a:r>
                        <a:rPr lang="ko-KR" altLang="en-US" sz="800" u="none" strike="noStrike" dirty="0">
                          <a:effectLst/>
                        </a:rPr>
                        <a:t> 아이콘 클릭하기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 err="1">
                          <a:effectLst/>
                        </a:rPr>
                        <a:t>OneGuide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바로가기</a:t>
                      </a:r>
                      <a:r>
                        <a:rPr lang="ko-KR" altLang="en-US" sz="800" u="none" strike="noStrike" dirty="0">
                          <a:effectLst/>
                        </a:rPr>
                        <a:t> 아이콘 클릭하기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55" marR="8355" marT="835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83675" y="2929765"/>
            <a:ext cx="216024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</a:t>
            </a:r>
            <a:r>
              <a:rPr lang="en-US" altLang="ko-KR" sz="900" b="1" dirty="0" err="1"/>
              <a:t>OneGuide</a:t>
            </a:r>
            <a:r>
              <a:rPr lang="en-US" altLang="ko-KR" sz="900" b="1" dirty="0"/>
              <a:t> –</a:t>
            </a:r>
            <a:r>
              <a:rPr lang="ko-KR" altLang="en-US" sz="900" b="1" dirty="0"/>
              <a:t>기능리스트 </a:t>
            </a:r>
            <a:r>
              <a:rPr lang="en-US" altLang="ko-KR" sz="900" b="1" dirty="0"/>
              <a:t>Sample]</a:t>
            </a:r>
            <a:endParaRPr lang="ko-KR" altLang="en-US" sz="9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255" y="5178330"/>
            <a:ext cx="2808734" cy="457200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383457"/>
              </p:ext>
            </p:extLst>
          </p:nvPr>
        </p:nvGraphicFramePr>
        <p:xfrm>
          <a:off x="711044" y="4053620"/>
          <a:ext cx="8253444" cy="2471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4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13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199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7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889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Case ID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기능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Reference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IT_OG1_1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소프트웨어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OneGuide </a:t>
                      </a:r>
                      <a:r>
                        <a:rPr lang="ko-KR" altLang="en-US" sz="800" u="none" strike="noStrike">
                          <a:effectLst/>
                        </a:rPr>
                        <a:t>실행하기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로고 확인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OneGuide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실행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로그인 화면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Title bar </a:t>
                      </a:r>
                      <a:r>
                        <a:rPr lang="ko-KR" altLang="en-US" sz="800" u="none" strike="noStrike" dirty="0">
                          <a:effectLst/>
                        </a:rPr>
                        <a:t>영역 상단 로고 확인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OneGuide</a:t>
                      </a: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소프트웨어 로고 표시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OGS-P-01-01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OGS-10-016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5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IT_OG1_2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소프트웨어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OneGuide </a:t>
                      </a:r>
                      <a:r>
                        <a:rPr lang="ko-KR" altLang="en-US" sz="800" u="none" strike="noStrike">
                          <a:effectLst/>
                        </a:rPr>
                        <a:t>실행하기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프로그램 창 조절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1. OneGuide </a:t>
                      </a:r>
                      <a:r>
                        <a:rPr lang="ko-KR" altLang="en-US" sz="800" u="none" strike="noStrike">
                          <a:effectLst/>
                        </a:rPr>
                        <a:t>실행 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2. </a:t>
                      </a:r>
                      <a:r>
                        <a:rPr lang="ko-KR" altLang="en-US" sz="800" u="none" strike="noStrike">
                          <a:effectLst/>
                        </a:rPr>
                        <a:t>로그인 화면 </a:t>
                      </a:r>
                      <a:r>
                        <a:rPr lang="en-US" altLang="ko-KR" sz="800" u="none" strike="noStrike">
                          <a:effectLst/>
                        </a:rPr>
                        <a:t>&gt; Title bar </a:t>
                      </a:r>
                      <a:r>
                        <a:rPr lang="ko-KR" altLang="en-US" sz="800" u="none" strike="noStrike">
                          <a:effectLst/>
                        </a:rPr>
                        <a:t>영역 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3. </a:t>
                      </a:r>
                      <a:r>
                        <a:rPr lang="ko-KR" altLang="en-US" sz="800" u="none" strike="noStrike">
                          <a:effectLst/>
                        </a:rPr>
                        <a:t>프로그램 창 크기조절 및 종료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# </a:t>
                      </a:r>
                      <a:r>
                        <a:rPr lang="ko-KR" altLang="en-US" sz="800" u="none" strike="noStrike">
                          <a:effectLst/>
                        </a:rPr>
                        <a:t>프로그램 최소화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최대화</a:t>
                      </a:r>
                      <a:r>
                        <a:rPr lang="en-US" altLang="ko-KR" sz="800" u="none" strike="noStrike">
                          <a:effectLst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</a:rPr>
                        <a:t>종료 가능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OGS-P-01-01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OGS-10-016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5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IT_OG1_3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소프트웨어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OneGuide </a:t>
                      </a:r>
                      <a:r>
                        <a:rPr lang="ko-KR" altLang="en-US" sz="800" u="none" strike="noStrike">
                          <a:effectLst/>
                        </a:rPr>
                        <a:t>실행하기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소프트웨어 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1. OneGuide </a:t>
                      </a:r>
                      <a:r>
                        <a:rPr lang="ko-KR" altLang="en-US" sz="800" u="none" strike="noStrike">
                          <a:effectLst/>
                        </a:rPr>
                        <a:t>실행 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2. </a:t>
                      </a:r>
                      <a:r>
                        <a:rPr lang="ko-KR" altLang="en-US" sz="800" u="none" strike="noStrike">
                          <a:effectLst/>
                        </a:rPr>
                        <a:t>로그인 화면 </a:t>
                      </a:r>
                      <a:r>
                        <a:rPr lang="en-US" altLang="ko-KR" sz="800" u="none" strike="noStrike">
                          <a:effectLst/>
                        </a:rPr>
                        <a:t>&gt;SW </a:t>
                      </a:r>
                      <a:r>
                        <a:rPr lang="ko-KR" altLang="en-US" sz="800" u="none" strike="noStrike">
                          <a:effectLst/>
                        </a:rPr>
                        <a:t>로고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버전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저작권 정보확인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# OneGUide SW </a:t>
                      </a:r>
                      <a:r>
                        <a:rPr lang="ko-KR" altLang="en-US" sz="800" u="none" strike="noStrike">
                          <a:effectLst/>
                        </a:rPr>
                        <a:t>로고 및 해당 버전 표시 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# </a:t>
                      </a:r>
                      <a:r>
                        <a:rPr lang="ko-KR" altLang="en-US" sz="800" u="none" strike="noStrike">
                          <a:effectLst/>
                        </a:rPr>
                        <a:t>제품 저작권 정보 표시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OGS-P-01-01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OGS-10-016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7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IT_OG1_4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소프트웨어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로그인하기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로그인 성공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1. OneGuide </a:t>
                      </a:r>
                      <a:r>
                        <a:rPr lang="ko-KR" altLang="en-US" sz="800" u="none" strike="noStrike">
                          <a:effectLst/>
                        </a:rPr>
                        <a:t>실행 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2. </a:t>
                      </a:r>
                      <a:r>
                        <a:rPr lang="ko-KR" altLang="en-US" sz="800" u="none" strike="noStrike">
                          <a:effectLst/>
                        </a:rPr>
                        <a:t>올바른 </a:t>
                      </a:r>
                      <a:r>
                        <a:rPr lang="en-US" altLang="ko-KR" sz="800" u="none" strike="noStrike">
                          <a:effectLst/>
                        </a:rPr>
                        <a:t>PW </a:t>
                      </a:r>
                      <a:r>
                        <a:rPr lang="ko-KR" altLang="en-US" sz="800" u="none" strike="noStrike">
                          <a:effectLst/>
                        </a:rPr>
                        <a:t>입력 후 로그인 시도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# </a:t>
                      </a:r>
                      <a:r>
                        <a:rPr lang="ko-KR" altLang="en-US" sz="800" u="none" strike="noStrike">
                          <a:effectLst/>
                        </a:rPr>
                        <a:t>정상 로그인 되며 </a:t>
                      </a:r>
                      <a:r>
                        <a:rPr lang="en-US" altLang="ko-KR" sz="800" u="none" strike="noStrike">
                          <a:effectLst/>
                        </a:rPr>
                        <a:t>Management </a:t>
                      </a:r>
                      <a:r>
                        <a:rPr lang="ko-KR" altLang="en-US" sz="800" u="none" strike="noStrike">
                          <a:effectLst/>
                        </a:rPr>
                        <a:t>화면으로 이동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OGS-P-01-02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OGS-10-016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7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IT_OG1_5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소프트웨어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로그인하기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로그인 실패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1. OneGuide </a:t>
                      </a:r>
                      <a:r>
                        <a:rPr lang="ko-KR" altLang="en-US" sz="800" u="none" strike="noStrike">
                          <a:effectLst/>
                        </a:rPr>
                        <a:t>실행 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2. </a:t>
                      </a:r>
                      <a:r>
                        <a:rPr lang="ko-KR" altLang="en-US" sz="800" u="none" strike="noStrike">
                          <a:effectLst/>
                        </a:rPr>
                        <a:t>잘못된 </a:t>
                      </a:r>
                      <a:r>
                        <a:rPr lang="en-US" altLang="ko-KR" sz="800" u="none" strike="noStrike">
                          <a:effectLst/>
                        </a:rPr>
                        <a:t>PW </a:t>
                      </a:r>
                      <a:r>
                        <a:rPr lang="ko-KR" altLang="en-US" sz="800" u="none" strike="noStrike">
                          <a:effectLst/>
                        </a:rPr>
                        <a:t>입력 후 로그인 시도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로그인 실패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 </a:t>
                      </a:r>
                      <a:r>
                        <a:rPr lang="ko-KR" altLang="en-US" sz="800" u="none" strike="noStrike" dirty="0">
                          <a:effectLst/>
                        </a:rPr>
                        <a:t>실패 인증 메시지 출력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ex: </a:t>
                      </a:r>
                      <a:r>
                        <a:rPr lang="en-US" sz="800" u="none" strike="noStrike" dirty="0" err="1">
                          <a:effectLst/>
                        </a:rPr>
                        <a:t>Passwaord</a:t>
                      </a:r>
                      <a:r>
                        <a:rPr lang="en-US" sz="800" u="none" strike="noStrike" dirty="0">
                          <a:effectLst/>
                        </a:rPr>
                        <a:t> is incorrect. Please try again)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3310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OGS-P-01-02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OGS-10-016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54" marR="5554" marT="5554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00192" y="3787374"/>
            <a:ext cx="175506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</a:t>
            </a:r>
            <a:r>
              <a:rPr lang="en-US" altLang="ko-KR" sz="900" b="1" dirty="0" err="1"/>
              <a:t>OneGuide</a:t>
            </a:r>
            <a:r>
              <a:rPr lang="en-US" altLang="ko-KR" sz="900" b="1" dirty="0"/>
              <a:t> –</a:t>
            </a:r>
            <a:r>
              <a:rPr lang="ko-KR" altLang="en-US" sz="900" b="1" dirty="0"/>
              <a:t>화면설계서</a:t>
            </a:r>
            <a:r>
              <a:rPr lang="en-US" altLang="ko-KR" sz="900" b="1" dirty="0"/>
              <a:t>]</a:t>
            </a:r>
            <a:endParaRPr lang="ko-KR" altLang="en-US" sz="9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15" y="1916832"/>
            <a:ext cx="2370196" cy="18618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5576" y="3573016"/>
            <a:ext cx="4517458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[</a:t>
            </a:r>
            <a:r>
              <a:rPr lang="ko-KR" altLang="en-US" sz="1400" b="1" dirty="0"/>
              <a:t>기능리스트와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화면설계서 있을 때</a:t>
            </a:r>
            <a:r>
              <a:rPr lang="en-US" altLang="ko-KR" sz="1400" b="1" dirty="0"/>
              <a:t>]</a:t>
            </a:r>
            <a:endParaRPr lang="ko-KR" altLang="en-US" sz="1400" b="1" dirty="0"/>
          </a:p>
        </p:txBody>
      </p:sp>
      <p:sp>
        <p:nvSpPr>
          <p:cNvPr id="14" name="왼쪽 화살표 13"/>
          <p:cNvSpPr/>
          <p:nvPr/>
        </p:nvSpPr>
        <p:spPr>
          <a:xfrm rot="13609989">
            <a:off x="4487794" y="3280490"/>
            <a:ext cx="802339" cy="300594"/>
          </a:xfrm>
          <a:prstGeom prst="leftArrow">
            <a:avLst/>
          </a:prstGeom>
          <a:solidFill>
            <a:schemeClr val="bg1">
              <a:lumMod val="65000"/>
            </a:schemeClr>
          </a:solidFill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 err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왼쪽 화살표 22"/>
          <p:cNvSpPr/>
          <p:nvPr/>
        </p:nvSpPr>
        <p:spPr>
          <a:xfrm rot="18693393">
            <a:off x="5103163" y="3262162"/>
            <a:ext cx="844060" cy="300594"/>
          </a:xfrm>
          <a:prstGeom prst="leftArrow">
            <a:avLst/>
          </a:prstGeom>
          <a:solidFill>
            <a:schemeClr val="bg1">
              <a:lumMod val="65000"/>
            </a:schemeClr>
          </a:solidFill>
        </p:spPr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ko-KR" altLang="en-US" sz="1600" dirty="0" err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9519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6" name="텍스트 개체 틀 4"/>
          <p:cNvSpPr txBox="1">
            <a:spLocks/>
          </p:cNvSpPr>
          <p:nvPr/>
        </p:nvSpPr>
        <p:spPr>
          <a:xfrm>
            <a:off x="771196" y="744264"/>
            <a:ext cx="3980824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7744" y="2624598"/>
            <a:ext cx="6515550" cy="358135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200" b="1" dirty="0"/>
              <a:t>Ⅰ. </a:t>
            </a:r>
            <a:r>
              <a:rPr lang="ko-KR" altLang="en-US" sz="1200" b="1" dirty="0"/>
              <a:t>기능셋 식별</a:t>
            </a:r>
            <a:endParaRPr lang="en-US" altLang="ko-KR" sz="1200" b="1" dirty="0"/>
          </a:p>
          <a:p>
            <a:r>
              <a:rPr lang="en-US" altLang="ko-KR" sz="1200" b="1" dirty="0"/>
              <a:t>      </a:t>
            </a:r>
            <a:r>
              <a:rPr lang="ko-KR" altLang="en-US" sz="1200" dirty="0"/>
              <a:t>요구사항을 분석</a:t>
            </a:r>
            <a:r>
              <a:rPr lang="en-US" altLang="ko-KR" sz="1200" dirty="0"/>
              <a:t> </a:t>
            </a:r>
            <a:r>
              <a:rPr lang="ko-KR" altLang="en-US" sz="1200" dirty="0"/>
              <a:t>및 파악하여 </a:t>
            </a:r>
            <a:r>
              <a:rPr lang="ko-KR" altLang="en-US" sz="1200" b="1" dirty="0"/>
              <a:t>테스트할 메인 항목 확인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en-US" altLang="ko-KR" sz="1200" dirty="0"/>
              <a:t> </a:t>
            </a:r>
            <a:endParaRPr lang="en-US" altLang="ko-KR" sz="1200" b="1" dirty="0"/>
          </a:p>
          <a:p>
            <a:r>
              <a:rPr lang="en-US" altLang="ko-KR" sz="1200" b="1" dirty="0"/>
              <a:t>Ⅱ. </a:t>
            </a:r>
            <a:r>
              <a:rPr lang="ko-KR" altLang="en-US" sz="1200" b="1" dirty="0"/>
              <a:t>테스트컨디션 식별 </a:t>
            </a:r>
            <a:endParaRPr lang="en-US" altLang="ko-KR" sz="1200" b="1" dirty="0"/>
          </a:p>
          <a:p>
            <a:r>
              <a:rPr lang="ko-KR" altLang="en-US" sz="1200" dirty="0">
                <a:latin typeface="+mn-ea"/>
              </a:rPr>
              <a:t>     </a:t>
            </a: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</a:rPr>
              <a:t>테스트 할 세부 아이템 </a:t>
            </a:r>
            <a:r>
              <a:rPr lang="en-US" altLang="ko-KR" sz="1200" dirty="0">
                <a:latin typeface="+mn-ea"/>
              </a:rPr>
              <a:t>or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</a:rPr>
              <a:t>입력값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or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</a:rPr>
              <a:t> 이벤트 식별</a:t>
            </a: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     </a:t>
            </a: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</a:rPr>
              <a:t>영향 받는 모듈</a:t>
            </a:r>
            <a:r>
              <a:rPr lang="ko-KR" altLang="en-US" sz="1200" dirty="0">
                <a:latin typeface="+mn-ea"/>
              </a:rPr>
              <a:t>이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있는지 식별  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-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Valid</a:t>
            </a: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한 경우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Invalid</a:t>
            </a: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한 경우 식별</a:t>
            </a:r>
            <a:r>
              <a:rPr lang="ko-KR" altLang="en-US" sz="1200" dirty="0">
                <a:solidFill>
                  <a:srgbClr val="0070C0"/>
                </a:solidFill>
                <a:latin typeface="+mn-ea"/>
              </a:rPr>
              <a:t>  </a:t>
            </a:r>
            <a:r>
              <a:rPr lang="en-US" altLang="ko-KR" sz="1200" dirty="0">
                <a:latin typeface="+mn-ea"/>
              </a:rPr>
              <a:t>(</a:t>
            </a: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Valid </a:t>
            </a:r>
            <a:r>
              <a:rPr lang="en-US" altLang="ko-KR" sz="1200" dirty="0">
                <a:solidFill>
                  <a:srgbClr val="0070C0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srgbClr val="0070C0"/>
                </a:solidFill>
                <a:latin typeface="+mn-ea"/>
                <a:sym typeface="Wingdings" panose="05000000000000000000" pitchFamily="2" charset="2"/>
              </a:rPr>
              <a:t>정상</a:t>
            </a: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,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Invalid 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비정상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예외처리</a:t>
            </a:r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) </a:t>
            </a:r>
          </a:p>
          <a:p>
            <a:r>
              <a:rPr lang="en-US" altLang="ko-KR" sz="1200" dirty="0">
                <a:latin typeface="+mn-ea"/>
              </a:rPr>
              <a:t>       </a:t>
            </a:r>
          </a:p>
          <a:p>
            <a:r>
              <a:rPr lang="en-US" altLang="ko-KR" sz="1200" dirty="0">
                <a:latin typeface="+mn-ea"/>
                <a:sym typeface="Wingdings" panose="05000000000000000000" pitchFamily="2" charset="2"/>
              </a:rPr>
              <a:t>       </a:t>
            </a:r>
            <a:r>
              <a:rPr lang="en-US" altLang="ko-KR" sz="1200" b="1" dirty="0">
                <a:latin typeface="+mn-ea"/>
              </a:rPr>
              <a:t>Depth</a:t>
            </a:r>
            <a:r>
              <a:rPr lang="ko-KR" altLang="en-US" sz="1200" b="1" dirty="0">
                <a:latin typeface="+mn-ea"/>
              </a:rPr>
              <a:t>나 </a:t>
            </a:r>
            <a:r>
              <a:rPr lang="en-US" altLang="ko-KR" sz="1200" b="1" dirty="0">
                <a:latin typeface="+mn-ea"/>
              </a:rPr>
              <a:t>Pre-condition</a:t>
            </a:r>
            <a:r>
              <a:rPr lang="ko-KR" altLang="en-US" sz="1200" b="1" dirty="0">
                <a:latin typeface="+mn-ea"/>
              </a:rPr>
              <a:t>으로 구조화 </a:t>
            </a:r>
            <a:r>
              <a:rPr lang="ko-KR" altLang="en-US" sz="1200" dirty="0">
                <a:latin typeface="+mn-ea"/>
              </a:rPr>
              <a:t>할 수 있음</a:t>
            </a:r>
            <a:endParaRPr lang="en-US" altLang="ko-KR" sz="1200" dirty="0">
              <a:latin typeface="+mn-ea"/>
            </a:endParaRPr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Ⅲ. </a:t>
            </a:r>
            <a:r>
              <a:rPr lang="ko-KR" altLang="en-US" sz="1200" b="1" dirty="0"/>
              <a:t>테스트케이스 설계</a:t>
            </a:r>
            <a:endParaRPr lang="en-US" altLang="ko-KR" sz="1200" b="1" dirty="0"/>
          </a:p>
          <a:p>
            <a:r>
              <a:rPr lang="en-US" altLang="ko-KR" sz="1200" dirty="0"/>
              <a:t>     </a:t>
            </a:r>
            <a:r>
              <a:rPr lang="ko-KR" altLang="en-US" sz="1200" dirty="0"/>
              <a:t>테스트설계 기법을 이용하거나 구조화 된 테스트항목을 케이스 별 설계</a:t>
            </a:r>
            <a:endParaRPr lang="en-US" altLang="ko-KR" sz="1200" dirty="0"/>
          </a:p>
        </p:txBody>
      </p:sp>
      <p:grpSp>
        <p:nvGrpSpPr>
          <p:cNvPr id="14" name="그룹 13"/>
          <p:cNvGrpSpPr/>
          <p:nvPr/>
        </p:nvGrpSpPr>
        <p:grpSpPr>
          <a:xfrm>
            <a:off x="2843808" y="4437112"/>
            <a:ext cx="4248472" cy="1152128"/>
            <a:chOff x="467544" y="2996952"/>
            <a:chExt cx="5626816" cy="1872208"/>
          </a:xfrm>
        </p:grpSpPr>
        <p:sp>
          <p:nvSpPr>
            <p:cNvPr id="2" name="아래쪽 화살표 1"/>
            <p:cNvSpPr/>
            <p:nvPr/>
          </p:nvSpPr>
          <p:spPr>
            <a:xfrm>
              <a:off x="2915816" y="2996952"/>
              <a:ext cx="720080" cy="1872208"/>
            </a:xfrm>
            <a:prstGeom prst="downArrow">
              <a:avLst/>
            </a:prstGeom>
            <a:gradFill>
              <a:gsLst>
                <a:gs pos="53206">
                  <a:srgbClr val="C4D4E9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tx2">
                    <a:lumMod val="60000"/>
                    <a:lumOff val="40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545584" y="3871386"/>
              <a:ext cx="1738384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 흐름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(Valid)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" name="왼쪽으로 구부러진 화살표 8"/>
            <p:cNvSpPr/>
            <p:nvPr/>
          </p:nvSpPr>
          <p:spPr>
            <a:xfrm>
              <a:off x="3635896" y="3356992"/>
              <a:ext cx="648072" cy="1224136"/>
            </a:xfrm>
            <a:prstGeom prst="curvedLeftArrow">
              <a:avLst/>
            </a:prstGeom>
            <a:solidFill>
              <a:srgbClr val="C86866"/>
            </a:solidFill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오른쪽으로 구부러진 화살표 9"/>
            <p:cNvSpPr/>
            <p:nvPr/>
          </p:nvSpPr>
          <p:spPr>
            <a:xfrm>
              <a:off x="2267744" y="3356992"/>
              <a:ext cx="648072" cy="1224136"/>
            </a:xfrm>
            <a:prstGeom prst="curvedRightArrow">
              <a:avLst/>
            </a:prstGeom>
            <a:solidFill>
              <a:srgbClr val="C86866"/>
            </a:solidFill>
          </p:spPr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55976" y="3860933"/>
              <a:ext cx="1738384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대체 흐름 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(Invalid)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7544" y="3861048"/>
              <a:ext cx="1738384" cy="25736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대체 흐름 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(Invalid)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5" name="텍스트 개체 틀 4"/>
          <p:cNvSpPr txBox="1">
            <a:spLocks/>
          </p:cNvSpPr>
          <p:nvPr/>
        </p:nvSpPr>
        <p:spPr>
          <a:xfrm>
            <a:off x="771196" y="744264"/>
            <a:ext cx="3980824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절차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600" y="1279673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3-1-2. Case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명세기반 테스트케이스 설계 </a:t>
            </a:r>
            <a:endParaRPr lang="en-US" altLang="ko-KR" sz="1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403648" y="1628800"/>
            <a:ext cx="7488832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b="1" dirty="0"/>
              <a:t>적용대상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/>
              <a:t>요구사항 기반으로 충분한 테스트 커버리지 확보하지 못할 때 테스트설계 기법 적용하여 설계 </a:t>
            </a:r>
            <a:endParaRPr lang="en-US" altLang="ko-KR" sz="1200" dirty="0"/>
          </a:p>
          <a:p>
            <a:r>
              <a:rPr lang="en-US" altLang="ko-KR" sz="1200" dirty="0"/>
              <a:t>                - </a:t>
            </a:r>
            <a:r>
              <a:rPr lang="ko-KR" altLang="en-US" sz="1200" dirty="0"/>
              <a:t>효과성</a:t>
            </a:r>
            <a:r>
              <a:rPr lang="en-US" altLang="ko-KR" sz="1200" dirty="0"/>
              <a:t>: </a:t>
            </a:r>
            <a:r>
              <a:rPr lang="ko-KR" altLang="en-US" sz="1200" dirty="0"/>
              <a:t>일정 수준의 테스트 보장성</a:t>
            </a:r>
            <a:r>
              <a:rPr lang="en-US" altLang="ko-KR" sz="1200" dirty="0"/>
              <a:t>(coverage) </a:t>
            </a:r>
            <a:r>
              <a:rPr lang="ko-KR" altLang="en-US" sz="1200" dirty="0"/>
              <a:t>이 확보됨</a:t>
            </a:r>
            <a:endParaRPr lang="en-US" altLang="ko-KR" sz="1200" dirty="0"/>
          </a:p>
          <a:p>
            <a:r>
              <a:rPr lang="en-US" altLang="ko-KR" sz="1200" dirty="0"/>
              <a:t>                - </a:t>
            </a:r>
            <a:r>
              <a:rPr lang="ko-KR" altLang="en-US" sz="1200" dirty="0"/>
              <a:t>제품의 중요도</a:t>
            </a:r>
            <a:r>
              <a:rPr lang="en-US" altLang="ko-KR" sz="1200" dirty="0"/>
              <a:t>/</a:t>
            </a:r>
            <a:r>
              <a:rPr lang="ko-KR" altLang="en-US" sz="1200" dirty="0"/>
              <a:t>리스크에 따라 테스트 커버리지 조절 가능 </a:t>
            </a:r>
            <a:r>
              <a:rPr lang="en-US" altLang="ko-KR" sz="1200" dirty="0"/>
              <a:t> </a:t>
            </a:r>
          </a:p>
          <a:p>
            <a:endParaRPr lang="ko-KR" alt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2051720" y="2348880"/>
            <a:ext cx="4248472" cy="27275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300" b="1" dirty="0">
                <a:sym typeface="Wingdings" panose="05000000000000000000" pitchFamily="2" charset="2"/>
              </a:rPr>
              <a:t>How Can I do?  </a:t>
            </a:r>
            <a:r>
              <a:rPr lang="en-US" altLang="ko-KR" sz="13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294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884714" y="1916832"/>
            <a:ext cx="1274955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b="1" dirty="0"/>
              <a:t>One2 </a:t>
            </a:r>
            <a:r>
              <a:rPr lang="ko-KR" altLang="en-US" sz="1200" b="1" dirty="0"/>
              <a:t>연동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  </a:t>
            </a:r>
            <a:endParaRPr lang="en-US" altLang="ko-KR" sz="1200" b="1" dirty="0"/>
          </a:p>
        </p:txBody>
      </p:sp>
      <p:sp>
        <p:nvSpPr>
          <p:cNvPr id="12" name="텍스트 개체 틀 4"/>
          <p:cNvSpPr txBox="1">
            <a:spLocks/>
          </p:cNvSpPr>
          <p:nvPr/>
        </p:nvSpPr>
        <p:spPr>
          <a:xfrm>
            <a:off x="1400777" y="1628800"/>
            <a:ext cx="1876467" cy="25736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/>
              <a:t>One2 </a:t>
            </a:r>
            <a:r>
              <a:rPr lang="ko-KR" altLang="en-US" sz="1200" b="1" dirty="0"/>
              <a:t>통합 </a:t>
            </a:r>
            <a:r>
              <a:rPr lang="en-US" altLang="ko-KR" sz="1200" b="1" dirty="0"/>
              <a:t>TC </a:t>
            </a:r>
            <a:r>
              <a:rPr lang="ko-KR" altLang="en-US" sz="1200" b="1" dirty="0"/>
              <a:t>설계</a:t>
            </a:r>
            <a:r>
              <a:rPr lang="en-US" altLang="ko-KR" sz="1200" b="1" dirty="0"/>
              <a:t> 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텍스트 개체 틀 4"/>
          <p:cNvSpPr txBox="1">
            <a:spLocks/>
          </p:cNvSpPr>
          <p:nvPr/>
        </p:nvSpPr>
        <p:spPr>
          <a:xfrm>
            <a:off x="771196" y="744264"/>
            <a:ext cx="3980824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절차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600" y="1279673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3-1-2. Case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명세 기반 테스트케이스 설계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예시  </a:t>
            </a:r>
            <a:endParaRPr lang="en-US" altLang="ko-KR" sz="1400" b="1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846988"/>
              </p:ext>
            </p:extLst>
          </p:nvPr>
        </p:nvGraphicFramePr>
        <p:xfrm>
          <a:off x="856087" y="4491642"/>
          <a:ext cx="7886700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7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76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9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775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7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3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4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72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설정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연동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PMS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PMS </a:t>
                      </a:r>
                      <a:r>
                        <a:rPr lang="ko-KR" altLang="en-US" sz="800" u="none" strike="noStrike">
                          <a:effectLst/>
                        </a:rPr>
                        <a:t>연동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1. </a:t>
                      </a:r>
                      <a:r>
                        <a:rPr lang="ko-KR" altLang="en-US" sz="800" u="none" strike="noStrike">
                          <a:effectLst/>
                        </a:rPr>
                        <a:t>우측 상단 </a:t>
                      </a:r>
                      <a:r>
                        <a:rPr lang="en-US" altLang="ko-KR" sz="800" u="none" strike="noStrike">
                          <a:effectLst/>
                        </a:rPr>
                        <a:t>&gt; </a:t>
                      </a:r>
                      <a:r>
                        <a:rPr lang="ko-KR" altLang="en-US" sz="800" u="none" strike="noStrike">
                          <a:effectLst/>
                        </a:rPr>
                        <a:t>환경설정 실행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2. Linkage &gt; PMS 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3. PMS </a:t>
                      </a:r>
                      <a:r>
                        <a:rPr lang="ko-KR" altLang="en-US" sz="800" u="none" strike="noStrike">
                          <a:effectLst/>
                        </a:rPr>
                        <a:t>연동 설정 후 적용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# PMS </a:t>
                      </a:r>
                      <a:r>
                        <a:rPr lang="ko-KR" altLang="en-US" sz="800" u="none" strike="noStrike">
                          <a:effectLst/>
                        </a:rPr>
                        <a:t>연동 설정을 하면 </a:t>
                      </a:r>
                      <a:r>
                        <a:rPr lang="en-US" altLang="ko-KR" sz="800" u="none" strike="noStrike">
                          <a:effectLst/>
                        </a:rPr>
                        <a:t>Patient Explorer &gt; Receipted Patients </a:t>
                      </a:r>
                      <a:r>
                        <a:rPr lang="ko-KR" altLang="en-US" sz="800" u="none" strike="noStrike">
                          <a:effectLst/>
                        </a:rPr>
                        <a:t>탭 좌측 상단에 </a:t>
                      </a:r>
                      <a:r>
                        <a:rPr lang="en-US" altLang="ko-KR" sz="800" u="none" strike="noStrike">
                          <a:effectLst/>
                        </a:rPr>
                        <a:t>PMS</a:t>
                      </a:r>
                      <a:r>
                        <a:rPr lang="ko-KR" altLang="en-US" sz="800" u="none" strike="noStrike">
                          <a:effectLst/>
                        </a:rPr>
                        <a:t>에서 불러온 최신 환자정보 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시간이 표시됨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2101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40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설정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PMS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PMS </a:t>
                      </a:r>
                      <a:r>
                        <a:rPr lang="ko-KR" altLang="en-US" sz="800" u="none" strike="noStrike" dirty="0">
                          <a:effectLst/>
                        </a:rPr>
                        <a:t>연동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우측 상단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환경설정 실행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en-US" sz="800" u="none" strike="noStrike" dirty="0">
                          <a:effectLst/>
                        </a:rPr>
                        <a:t>Linkage &gt; PMS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>
                          <a:effectLst/>
                        </a:rPr>
                        <a:t>3. </a:t>
                      </a:r>
                      <a:r>
                        <a:rPr lang="en-US" sz="800" u="none" strike="noStrike" dirty="0" err="1">
                          <a:effectLst/>
                        </a:rPr>
                        <a:t>UsePMS</a:t>
                      </a:r>
                      <a:r>
                        <a:rPr lang="en-US" sz="800" u="none" strike="noStrike" dirty="0">
                          <a:effectLst/>
                        </a:rPr>
                        <a:t> &gt; Not use </a:t>
                      </a:r>
                      <a:r>
                        <a:rPr lang="ko-KR" altLang="en-US" sz="800" u="none" strike="noStrike" dirty="0">
                          <a:effectLst/>
                        </a:rPr>
                        <a:t>선택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# PMS</a:t>
                      </a:r>
                      <a:r>
                        <a:rPr lang="ko-KR" altLang="en-US" sz="800" u="none" strike="noStrike">
                          <a:effectLst/>
                        </a:rPr>
                        <a:t>연동 설정을 안하면 </a:t>
                      </a:r>
                      <a:r>
                        <a:rPr lang="en-US" altLang="ko-KR" sz="800" u="none" strike="noStrike">
                          <a:effectLst/>
                        </a:rPr>
                        <a:t>Patient Explorer</a:t>
                      </a:r>
                      <a:r>
                        <a:rPr lang="ko-KR" altLang="en-US" sz="800" u="none" strike="noStrike">
                          <a:effectLst/>
                        </a:rPr>
                        <a:t>에서 </a:t>
                      </a:r>
                      <a:r>
                        <a:rPr lang="en-US" altLang="ko-KR" sz="800" u="none" strike="noStrike">
                          <a:effectLst/>
                        </a:rPr>
                        <a:t>All Patients, Find by image </a:t>
                      </a:r>
                      <a:r>
                        <a:rPr lang="ko-KR" altLang="en-US" sz="800" u="none" strike="noStrike">
                          <a:effectLst/>
                        </a:rPr>
                        <a:t>탭이 보여짐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# </a:t>
                      </a:r>
                      <a:r>
                        <a:rPr lang="ko-KR" altLang="en-US" sz="800" u="none" strike="noStrike">
                          <a:effectLst/>
                        </a:rPr>
                        <a:t>서버 입력 영역 비활성화됨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# Not use </a:t>
                      </a:r>
                      <a:r>
                        <a:rPr lang="ko-KR" altLang="en-US" sz="800" u="none" strike="noStrike">
                          <a:effectLst/>
                        </a:rPr>
                        <a:t>선택 시 환자추가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수정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삭제 버튼 활성화됨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2101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81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설정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연동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3D SW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3D Viewer </a:t>
                      </a:r>
                      <a:r>
                        <a:rPr lang="ko-KR" altLang="en-US" sz="800" u="none" strike="noStrike" dirty="0">
                          <a:effectLst/>
                        </a:rPr>
                        <a:t>연동 설정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우측 상단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환경설정 실행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Linkage &gt;3D SW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3D/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Cephalo</a:t>
                      </a:r>
                      <a:r>
                        <a:rPr lang="en-US" altLang="ko-KR" sz="800" u="none" strike="noStrike" dirty="0">
                          <a:effectLst/>
                        </a:rPr>
                        <a:t> SW </a:t>
                      </a:r>
                      <a:r>
                        <a:rPr lang="ko-KR" altLang="en-US" sz="800" u="none" strike="noStrike" dirty="0">
                          <a:effectLst/>
                        </a:rPr>
                        <a:t>실행을 위해 제품선택과 경로 설정이 가능함 </a:t>
                      </a:r>
                      <a:r>
                        <a:rPr lang="en-US" altLang="ko-KR" sz="800" u="none" strike="noStrike" dirty="0">
                          <a:effectLst/>
                        </a:rPr>
                        <a:t>(OneClinic3D, One3D, One3d(URL)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81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설정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연동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</a:rPr>
                        <a:t>Cephalo</a:t>
                      </a:r>
                      <a:r>
                        <a:rPr lang="en-US" sz="800" u="none" strike="noStrike" dirty="0">
                          <a:effectLst/>
                        </a:rPr>
                        <a:t> SW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Cephalo </a:t>
                      </a:r>
                      <a:r>
                        <a:rPr lang="ko-KR" altLang="en-US" sz="800" u="none" strike="noStrike">
                          <a:effectLst/>
                        </a:rPr>
                        <a:t>연동 설정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1. </a:t>
                      </a:r>
                      <a:r>
                        <a:rPr lang="ko-KR" altLang="en-US" sz="800" u="none" strike="noStrike">
                          <a:effectLst/>
                        </a:rPr>
                        <a:t>우측 상단 </a:t>
                      </a:r>
                      <a:r>
                        <a:rPr lang="en-US" altLang="ko-KR" sz="800" u="none" strike="noStrike">
                          <a:effectLst/>
                        </a:rPr>
                        <a:t>&gt; </a:t>
                      </a:r>
                      <a:r>
                        <a:rPr lang="ko-KR" altLang="en-US" sz="800" u="none" strike="noStrike">
                          <a:effectLst/>
                        </a:rPr>
                        <a:t>환경설정 실행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2. Linkage &gt;Cephalo SW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3D/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Cephalo</a:t>
                      </a:r>
                      <a:r>
                        <a:rPr lang="en-US" altLang="ko-KR" sz="800" u="none" strike="noStrike" dirty="0">
                          <a:effectLst/>
                        </a:rPr>
                        <a:t> SW </a:t>
                      </a:r>
                      <a:r>
                        <a:rPr lang="ko-KR" altLang="en-US" sz="800" u="none" strike="noStrike" dirty="0">
                          <a:effectLst/>
                        </a:rPr>
                        <a:t>실행을 위해 제품선택과 경로 설정이 가능함 </a:t>
                      </a:r>
                      <a:r>
                        <a:rPr lang="en-US" altLang="ko-KR" sz="800" u="none" strike="noStrike" dirty="0">
                          <a:effectLst/>
                        </a:rPr>
                        <a:t>(V-</a:t>
                      </a:r>
                      <a:r>
                        <a:rPr lang="en-US" altLang="ko-KR" sz="800" u="none" strike="noStrike" dirty="0" err="1">
                          <a:effectLst/>
                        </a:rPr>
                        <a:t>ceph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427984" y="4164941"/>
            <a:ext cx="4409608" cy="3035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ko-KR" altLang="en-US" sz="1500" dirty="0"/>
              <a:t>일정 수준의 테스트 커버리지가 확보 되었을까</a:t>
            </a:r>
            <a:r>
              <a:rPr lang="en-US" altLang="ko-KR" sz="1500" dirty="0"/>
              <a:t>? </a:t>
            </a:r>
            <a:endParaRPr lang="ko-KR" altLang="en-US" sz="1500" dirty="0"/>
          </a:p>
        </p:txBody>
      </p:sp>
      <p:grpSp>
        <p:nvGrpSpPr>
          <p:cNvPr id="2" name="그룹 1"/>
          <p:cNvGrpSpPr/>
          <p:nvPr/>
        </p:nvGrpSpPr>
        <p:grpSpPr>
          <a:xfrm>
            <a:off x="1331640" y="2204864"/>
            <a:ext cx="4070594" cy="2081067"/>
            <a:chOff x="1400777" y="2204864"/>
            <a:chExt cx="4070594" cy="2081067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0777" y="2204864"/>
              <a:ext cx="3615329" cy="1865203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42979" y="4043951"/>
              <a:ext cx="3528392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1100" b="1" dirty="0"/>
                <a:t>[One2</a:t>
              </a:r>
              <a:r>
                <a:rPr lang="ko-KR" altLang="en-US" sz="1100" b="1" dirty="0"/>
                <a:t> </a:t>
              </a:r>
              <a:r>
                <a:rPr lang="en-US" altLang="ko-KR" sz="1100" b="1" dirty="0"/>
                <a:t>v1.1.4 </a:t>
              </a:r>
              <a:r>
                <a:rPr lang="ko-KR" altLang="en-US" sz="1100" b="1" dirty="0"/>
                <a:t>화면기획서</a:t>
              </a:r>
              <a:r>
                <a:rPr lang="en-US" altLang="ko-KR" sz="1100" b="1" dirty="0"/>
                <a:t>]</a:t>
              </a:r>
              <a:r>
                <a:rPr lang="ko-KR" altLang="en-US" sz="1100" b="1" dirty="0"/>
                <a:t> </a:t>
              </a:r>
              <a:r>
                <a:rPr lang="en-US" altLang="ko-KR" sz="1100" b="1" dirty="0"/>
                <a:t>Sample</a:t>
              </a:r>
              <a:endParaRPr lang="ko-KR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2865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13" name="텍스트 개체 틀 4"/>
          <p:cNvSpPr txBox="1">
            <a:spLocks/>
          </p:cNvSpPr>
          <p:nvPr/>
        </p:nvSpPr>
        <p:spPr>
          <a:xfrm>
            <a:off x="771196" y="744264"/>
            <a:ext cx="3980824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절차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600" y="1279673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3-1-2. Case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명세 기반 테스트케이스 설계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예시  </a:t>
            </a:r>
            <a:endParaRPr lang="en-US" altLang="ko-KR" sz="1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4714" y="1916832"/>
            <a:ext cx="1274955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b="1" dirty="0"/>
              <a:t>One2 </a:t>
            </a:r>
            <a:r>
              <a:rPr lang="ko-KR" altLang="en-US" sz="1200" b="1" dirty="0"/>
              <a:t>연동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  </a:t>
            </a:r>
            <a:endParaRPr lang="en-US" altLang="ko-KR" sz="1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121584" y="2204864"/>
            <a:ext cx="1557084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2) </a:t>
            </a:r>
            <a:r>
              <a:rPr lang="ko-KR" altLang="en-US" sz="1200" b="1" dirty="0"/>
              <a:t>테스트컨디션 식별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721131"/>
              </p:ext>
            </p:extLst>
          </p:nvPr>
        </p:nvGraphicFramePr>
        <p:xfrm>
          <a:off x="275031" y="2636912"/>
          <a:ext cx="3002213" cy="350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1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0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5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TC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사용안함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PMS,3D SW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OneClinic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One3D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OneClick)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OneClick)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OneClinic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OneClick)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One3D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하나로</a:t>
                      </a:r>
                      <a:r>
                        <a:rPr lang="en-US" sz="800" u="none" strike="noStrike">
                          <a:effectLst/>
                        </a:rPr>
                        <a:t>OK)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하나로</a:t>
                      </a:r>
                      <a:r>
                        <a:rPr lang="en-US" sz="800" u="none" strike="noStrike">
                          <a:effectLst/>
                        </a:rPr>
                        <a:t>OK)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OneClinic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하나로</a:t>
                      </a:r>
                      <a:r>
                        <a:rPr lang="en-US" sz="800" u="none" strike="noStrike">
                          <a:effectLst/>
                        </a:rPr>
                        <a:t>OK)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One3D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PMS,</a:t>
                      </a:r>
                      <a:r>
                        <a:rPr lang="ko-KR" altLang="en-US" sz="800" u="none" strike="noStrike">
                          <a:effectLst/>
                        </a:rPr>
                        <a:t>교정</a:t>
                      </a:r>
                      <a:r>
                        <a:rPr lang="en-US" sz="800" u="none" strike="noStrike">
                          <a:effectLst/>
                        </a:rPr>
                        <a:t>SW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OneClick)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OneClick)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하나로</a:t>
                      </a:r>
                      <a:r>
                        <a:rPr lang="en-US" sz="800" u="none" strike="noStrike">
                          <a:effectLst/>
                        </a:rPr>
                        <a:t>OK)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하나로</a:t>
                      </a:r>
                      <a:r>
                        <a:rPr lang="en-US" sz="800" u="none" strike="noStrike">
                          <a:effectLst/>
                        </a:rPr>
                        <a:t>OK)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736808"/>
              </p:ext>
            </p:extLst>
          </p:nvPr>
        </p:nvGraphicFramePr>
        <p:xfrm>
          <a:off x="3374738" y="2636912"/>
          <a:ext cx="2870825" cy="35183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5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19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TC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TC16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데스크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PMS,</a:t>
                      </a:r>
                      <a:r>
                        <a:rPr lang="ko-KR" altLang="en-US" sz="800" u="none" strike="noStrike">
                          <a:effectLst/>
                        </a:rPr>
                        <a:t>구성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체어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영상</a:t>
                      </a:r>
                      <a:r>
                        <a:rPr lang="en-US" sz="800" u="none" strike="noStrike">
                          <a:effectLst/>
                        </a:rPr>
                        <a:t>PC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TC19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기공</a:t>
                      </a:r>
                      <a:r>
                        <a:rPr lang="en-US" sz="800" u="none" strike="noStrike">
                          <a:effectLst/>
                        </a:rPr>
                        <a:t>PC 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OneClick)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데스크</a:t>
                      </a:r>
                      <a:r>
                        <a:rPr lang="en-US" sz="800" u="none" strike="noStrike" dirty="0">
                          <a:effectLst/>
                        </a:rPr>
                        <a:t>PC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OneClick)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체어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OneClick)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영상</a:t>
                      </a:r>
                      <a:r>
                        <a:rPr lang="en-US" sz="800" u="none" strike="noStrike">
                          <a:effectLst/>
                        </a:rPr>
                        <a:t>PC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OneClick)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기공</a:t>
                      </a:r>
                      <a:r>
                        <a:rPr lang="en-US" sz="800" u="none" strike="noStrike" dirty="0">
                          <a:effectLst/>
                        </a:rPr>
                        <a:t>PC 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하나로</a:t>
                      </a:r>
                      <a:r>
                        <a:rPr lang="en-US" sz="800" u="none" strike="noStrike">
                          <a:effectLst/>
                        </a:rPr>
                        <a:t>OK)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데스크</a:t>
                      </a:r>
                      <a:r>
                        <a:rPr lang="en-US" sz="800" u="none" strike="noStrike" dirty="0">
                          <a:effectLst/>
                        </a:rPr>
                        <a:t>PC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하나로</a:t>
                      </a:r>
                      <a:r>
                        <a:rPr lang="en-US" sz="800" u="none" strike="noStrike">
                          <a:effectLst/>
                        </a:rPr>
                        <a:t>OK)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체어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하나로</a:t>
                      </a:r>
                      <a:r>
                        <a:rPr lang="en-US" sz="800" u="none" strike="noStrike">
                          <a:effectLst/>
                        </a:rPr>
                        <a:t>OK)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영상</a:t>
                      </a:r>
                      <a:r>
                        <a:rPr lang="en-US" sz="800" u="none" strike="noStrike">
                          <a:effectLst/>
                        </a:rPr>
                        <a:t>PC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하나로</a:t>
                      </a:r>
                      <a:r>
                        <a:rPr lang="en-US" sz="800" u="none" strike="noStrike">
                          <a:effectLst/>
                        </a:rPr>
                        <a:t>OK)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기공</a:t>
                      </a:r>
                      <a:r>
                        <a:rPr lang="en-US" sz="800" u="none" strike="noStrike" dirty="0">
                          <a:effectLst/>
                        </a:rPr>
                        <a:t>PC 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3DSW,</a:t>
                      </a:r>
                      <a:r>
                        <a:rPr lang="ko-KR" altLang="en-US" sz="800" u="none" strike="noStrike">
                          <a:effectLst/>
                        </a:rPr>
                        <a:t>교정</a:t>
                      </a:r>
                      <a:r>
                        <a:rPr lang="en-US" sz="800" u="none" strike="noStrike">
                          <a:effectLst/>
                        </a:rPr>
                        <a:t>SW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TC29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TC30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OneClinic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TC31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OneClinic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TC32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One3D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1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TC33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One3D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535837"/>
              </p:ext>
            </p:extLst>
          </p:nvPr>
        </p:nvGraphicFramePr>
        <p:xfrm>
          <a:off x="6444209" y="2636912"/>
          <a:ext cx="2448270" cy="3528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2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TC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TC34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데스크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3DSW,</a:t>
                      </a:r>
                      <a:r>
                        <a:rPr lang="ko-KR" altLang="en-US" sz="800" u="none" strike="noStrike">
                          <a:effectLst/>
                        </a:rPr>
                        <a:t>구성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TC35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체어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TC36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영상</a:t>
                      </a:r>
                      <a:r>
                        <a:rPr lang="en-US" sz="800" u="none" strike="noStrike">
                          <a:effectLst/>
                        </a:rPr>
                        <a:t>PC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TC37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기공</a:t>
                      </a:r>
                      <a:r>
                        <a:rPr lang="en-US" sz="800" u="none" strike="noStrike">
                          <a:effectLst/>
                        </a:rPr>
                        <a:t>PC 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TC38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OneClinic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데스크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TC39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</a:rPr>
                        <a:t>OneClinic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체어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OneClinic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영상</a:t>
                      </a:r>
                      <a:r>
                        <a:rPr lang="en-US" sz="800" u="none" strike="noStrike">
                          <a:effectLst/>
                        </a:rPr>
                        <a:t>PC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OneClinic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기공</a:t>
                      </a:r>
                      <a:r>
                        <a:rPr lang="en-US" sz="800" u="none" strike="noStrike">
                          <a:effectLst/>
                        </a:rPr>
                        <a:t>PC 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One3D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데스크</a:t>
                      </a:r>
                      <a:r>
                        <a:rPr lang="en-US" sz="800" u="none" strike="noStrike" dirty="0">
                          <a:effectLst/>
                        </a:rPr>
                        <a:t>PC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One3D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체어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One3D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영상</a:t>
                      </a:r>
                      <a:r>
                        <a:rPr lang="en-US" sz="800" u="none" strike="noStrike">
                          <a:effectLst/>
                        </a:rPr>
                        <a:t>PC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One3D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기공</a:t>
                      </a:r>
                      <a:r>
                        <a:rPr lang="en-US" sz="800" u="none" strike="noStrike">
                          <a:effectLst/>
                        </a:rPr>
                        <a:t>PC 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81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데스크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교정</a:t>
                      </a:r>
                      <a:r>
                        <a:rPr lang="en-US" sz="800" u="none" strike="noStrike">
                          <a:effectLst/>
                        </a:rPr>
                        <a:t>SW,</a:t>
                      </a:r>
                      <a:r>
                        <a:rPr lang="ko-KR" altLang="en-US" sz="800" u="none" strike="noStrike">
                          <a:effectLst/>
                        </a:rPr>
                        <a:t>구성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체어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영상</a:t>
                      </a:r>
                      <a:r>
                        <a:rPr lang="en-US" sz="800" u="none" strike="noStrike">
                          <a:effectLst/>
                        </a:rPr>
                        <a:t>PC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TC49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사용안함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기공</a:t>
                      </a:r>
                      <a:r>
                        <a:rPr lang="en-US" sz="800" u="none" strike="noStrike">
                          <a:effectLst/>
                        </a:rPr>
                        <a:t>PC 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TC50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데스크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TC51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체어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TC52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영상</a:t>
                      </a:r>
                      <a:r>
                        <a:rPr lang="en-US" sz="800" u="none" strike="noStrike">
                          <a:effectLst/>
                        </a:rPr>
                        <a:t>PC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9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TC53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V-ceph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기공</a:t>
                      </a:r>
                      <a:r>
                        <a:rPr lang="en-US" sz="800" u="none" strike="noStrike">
                          <a:effectLst/>
                        </a:rPr>
                        <a:t>PC 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5919187" y="6309205"/>
            <a:ext cx="322481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ko-KR" altLang="en-US" sz="1400" b="1" dirty="0"/>
              <a:t>총</a:t>
            </a:r>
            <a:r>
              <a:rPr lang="en-US" altLang="ko-KR" sz="1400" b="1" dirty="0"/>
              <a:t> 53</a:t>
            </a:r>
            <a:r>
              <a:rPr lang="ko-KR" altLang="en-US" sz="1400" b="1" dirty="0"/>
              <a:t>개의 테스트컨디션 </a:t>
            </a:r>
            <a:r>
              <a:rPr lang="en-US" altLang="ko-KR" sz="1400" b="1" dirty="0"/>
              <a:t>(2-wise)</a:t>
            </a:r>
            <a:r>
              <a:rPr lang="ko-KR" altLang="en-US" sz="1400" b="1" dirty="0"/>
              <a:t> </a:t>
            </a:r>
          </a:p>
        </p:txBody>
      </p:sp>
      <p:sp>
        <p:nvSpPr>
          <p:cNvPr id="15" name="텍스트 개체 틀 4"/>
          <p:cNvSpPr txBox="1">
            <a:spLocks/>
          </p:cNvSpPr>
          <p:nvPr/>
        </p:nvSpPr>
        <p:spPr>
          <a:xfrm>
            <a:off x="1400777" y="1628800"/>
            <a:ext cx="1821965" cy="25736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/>
              <a:t>One2 </a:t>
            </a:r>
            <a:r>
              <a:rPr lang="ko-KR" altLang="en-US" sz="1200" b="1" dirty="0"/>
              <a:t>통합 </a:t>
            </a:r>
            <a:r>
              <a:rPr lang="en-US" altLang="ko-KR" sz="1200" b="1" dirty="0"/>
              <a:t>TC </a:t>
            </a:r>
            <a:r>
              <a:rPr lang="ko-KR" altLang="en-US" sz="1200" b="1" dirty="0"/>
              <a:t>설계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8001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9" name="텍스트 개체 틀 4"/>
          <p:cNvSpPr txBox="1">
            <a:spLocks/>
          </p:cNvSpPr>
          <p:nvPr/>
        </p:nvSpPr>
        <p:spPr>
          <a:xfrm>
            <a:off x="771196" y="744264"/>
            <a:ext cx="3980824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절차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600" y="1279673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3-1-2. Case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명세 기반 테스트케이스 설계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예시  </a:t>
            </a:r>
            <a:endParaRPr lang="en-US" altLang="ko-KR" sz="1400" b="1" dirty="0"/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1400777" y="1628800"/>
            <a:ext cx="1876467" cy="25736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/>
              <a:t>One2 </a:t>
            </a:r>
            <a:r>
              <a:rPr lang="ko-KR" altLang="en-US" sz="1200" b="1" dirty="0"/>
              <a:t>통합 </a:t>
            </a:r>
            <a:r>
              <a:rPr lang="en-US" altLang="ko-KR" sz="1200" b="1" dirty="0"/>
              <a:t>TC </a:t>
            </a:r>
            <a:r>
              <a:rPr lang="ko-KR" altLang="en-US" sz="1200" b="1" dirty="0"/>
              <a:t>설계</a:t>
            </a:r>
            <a:r>
              <a:rPr lang="en-US" altLang="ko-KR" sz="1200" b="1" dirty="0"/>
              <a:t> 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84714" y="1916832"/>
            <a:ext cx="1274955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b="1" dirty="0"/>
              <a:t>One2 </a:t>
            </a:r>
            <a:r>
              <a:rPr lang="ko-KR" altLang="en-US" sz="1200" b="1" dirty="0"/>
              <a:t>연동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  </a:t>
            </a:r>
            <a:endParaRPr lang="en-US" altLang="ko-KR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121584" y="2204864"/>
            <a:ext cx="1557084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3) </a:t>
            </a:r>
            <a:r>
              <a:rPr lang="ko-KR" altLang="en-US" sz="1200" b="1" dirty="0"/>
              <a:t>테스트케이스 설계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120391"/>
              </p:ext>
            </p:extLst>
          </p:nvPr>
        </p:nvGraphicFramePr>
        <p:xfrm>
          <a:off x="395536" y="2636912"/>
          <a:ext cx="8424937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604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7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73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TCID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 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Depth2</a:t>
                      </a:r>
                      <a:r>
                        <a:rPr lang="en-US" sz="9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(PMS)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Depth3</a:t>
                      </a:r>
                      <a:r>
                        <a:rPr lang="en-US" sz="9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(3D)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Depth4(</a:t>
                      </a:r>
                      <a:r>
                        <a:rPr lang="ko-KR" alt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교정</a:t>
                      </a:r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r>
                        <a:rPr lang="en-US" alt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커버리지</a:t>
                      </a:r>
                      <a:r>
                        <a:rPr lang="en-US" alt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0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IT_O2_1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설정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사용안함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사용안함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사용안함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One2 </a:t>
                      </a:r>
                      <a:r>
                        <a:rPr lang="ko-KR" altLang="en-US" sz="900" u="none" strike="noStrike">
                          <a:effectLst/>
                        </a:rPr>
                        <a:t>연동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데스크</a:t>
                      </a:r>
                      <a:r>
                        <a:rPr lang="en-US" sz="900" u="none" strike="noStrike">
                          <a:effectLst/>
                        </a:rPr>
                        <a:t>PC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1. One2 </a:t>
                      </a:r>
                      <a:r>
                        <a:rPr lang="ko-KR" altLang="en-US" sz="900" u="none" strike="noStrike">
                          <a:effectLst/>
                        </a:rPr>
                        <a:t>실행 </a:t>
                      </a:r>
                      <a:r>
                        <a:rPr lang="en-US" altLang="ko-KR" sz="900" u="none" strike="noStrike">
                          <a:effectLst/>
                        </a:rPr>
                        <a:t>&gt; </a:t>
                      </a:r>
                      <a:r>
                        <a:rPr lang="ko-KR" altLang="en-US" sz="900" u="none" strike="noStrike">
                          <a:effectLst/>
                        </a:rPr>
                        <a:t>환경설정 실행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2. </a:t>
                      </a:r>
                      <a:r>
                        <a:rPr lang="ko-KR" altLang="en-US" sz="900" u="none" strike="noStrike">
                          <a:effectLst/>
                        </a:rPr>
                        <a:t>시스템</a:t>
                      </a:r>
                      <a:r>
                        <a:rPr lang="en-US" altLang="ko-KR" sz="900" u="none" strike="noStrike">
                          <a:effectLst/>
                        </a:rPr>
                        <a:t>&gt; </a:t>
                      </a:r>
                      <a:r>
                        <a:rPr lang="ko-KR" altLang="en-US" sz="900" u="none" strike="noStrike">
                          <a:effectLst/>
                        </a:rPr>
                        <a:t>연동 진입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3. PMS, 3D SW, </a:t>
                      </a:r>
                      <a:r>
                        <a:rPr lang="ko-KR" altLang="en-US" sz="900" u="none" strike="noStrike">
                          <a:effectLst/>
                        </a:rPr>
                        <a:t>교정</a:t>
                      </a:r>
                      <a:r>
                        <a:rPr lang="en-US" altLang="ko-KR" sz="900" u="none" strike="noStrike">
                          <a:effectLst/>
                        </a:rPr>
                        <a:t>SW </a:t>
                      </a:r>
                      <a:r>
                        <a:rPr lang="ko-KR" altLang="en-US" sz="900" u="none" strike="noStrike">
                          <a:effectLst/>
                        </a:rPr>
                        <a:t>설정 후 적용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# </a:t>
                      </a:r>
                      <a:r>
                        <a:rPr lang="ko-KR" altLang="en-US" sz="900" u="none" strike="noStrike">
                          <a:effectLst/>
                        </a:rPr>
                        <a:t>데스크</a:t>
                      </a:r>
                      <a:r>
                        <a:rPr lang="en-US" altLang="ko-KR" sz="900" u="none" strike="noStrike">
                          <a:effectLst/>
                        </a:rPr>
                        <a:t>PC</a:t>
                      </a:r>
                      <a:r>
                        <a:rPr lang="ko-KR" altLang="en-US" sz="900" u="none" strike="noStrike">
                          <a:effectLst/>
                        </a:rPr>
                        <a:t>에서 연동없이 </a:t>
                      </a:r>
                      <a:r>
                        <a:rPr lang="en-US" altLang="ko-KR" sz="900" u="none" strike="noStrike">
                          <a:effectLst/>
                        </a:rPr>
                        <a:t>One2 </a:t>
                      </a:r>
                      <a:r>
                        <a:rPr lang="ko-KR" altLang="en-US" sz="900" u="none" strike="noStrike">
                          <a:effectLst/>
                        </a:rPr>
                        <a:t>단독 실행됨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tc1,tc10,tc16,tc28,tc34,tc46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IT_O2_2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설정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사용안함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OneClinic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V-ceph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One2 </a:t>
                      </a:r>
                      <a:r>
                        <a:rPr lang="ko-KR" altLang="en-US" sz="900" u="none" strike="noStrike" dirty="0">
                          <a:effectLst/>
                        </a:rPr>
                        <a:t>연동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체어</a:t>
                      </a:r>
                      <a:r>
                        <a:rPr lang="en-US" sz="900" u="none" strike="noStrike">
                          <a:effectLst/>
                        </a:rPr>
                        <a:t>PC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1. One2 </a:t>
                      </a:r>
                      <a:r>
                        <a:rPr lang="ko-KR" altLang="en-US" sz="900" u="none" strike="noStrike">
                          <a:effectLst/>
                        </a:rPr>
                        <a:t>실행 </a:t>
                      </a:r>
                      <a:r>
                        <a:rPr lang="en-US" altLang="ko-KR" sz="900" u="none" strike="noStrike">
                          <a:effectLst/>
                        </a:rPr>
                        <a:t>&gt; </a:t>
                      </a:r>
                      <a:r>
                        <a:rPr lang="ko-KR" altLang="en-US" sz="900" u="none" strike="noStrike">
                          <a:effectLst/>
                        </a:rPr>
                        <a:t>환경설정 실행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2. </a:t>
                      </a:r>
                      <a:r>
                        <a:rPr lang="ko-KR" altLang="en-US" sz="900" u="none" strike="noStrike">
                          <a:effectLst/>
                        </a:rPr>
                        <a:t>시스템</a:t>
                      </a:r>
                      <a:r>
                        <a:rPr lang="en-US" altLang="ko-KR" sz="900" u="none" strike="noStrike">
                          <a:effectLst/>
                        </a:rPr>
                        <a:t>&gt; </a:t>
                      </a:r>
                      <a:r>
                        <a:rPr lang="ko-KR" altLang="en-US" sz="900" u="none" strike="noStrike">
                          <a:effectLst/>
                        </a:rPr>
                        <a:t>연동 진입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3. PMS, 3D SW, </a:t>
                      </a:r>
                      <a:r>
                        <a:rPr lang="ko-KR" altLang="en-US" sz="900" u="none" strike="noStrike">
                          <a:effectLst/>
                        </a:rPr>
                        <a:t>교정</a:t>
                      </a:r>
                      <a:r>
                        <a:rPr lang="en-US" altLang="ko-KR" sz="900" u="none" strike="noStrike">
                          <a:effectLst/>
                        </a:rPr>
                        <a:t>SW </a:t>
                      </a:r>
                      <a:r>
                        <a:rPr lang="ko-KR" altLang="en-US" sz="900" u="none" strike="noStrike">
                          <a:effectLst/>
                        </a:rPr>
                        <a:t>설정 후 적용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4. </a:t>
                      </a:r>
                      <a:r>
                        <a:rPr lang="ko-KR" altLang="en-US" sz="900" u="none" strike="noStrike">
                          <a:effectLst/>
                        </a:rPr>
                        <a:t>설정 대로 연동 유무 확인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# One2 </a:t>
                      </a:r>
                      <a:r>
                        <a:rPr lang="ko-KR" altLang="en-US" sz="900" u="none" strike="noStrike">
                          <a:effectLst/>
                        </a:rPr>
                        <a:t>체어</a:t>
                      </a:r>
                      <a:r>
                        <a:rPr lang="en-US" altLang="ko-KR" sz="900" u="none" strike="noStrike">
                          <a:effectLst/>
                        </a:rPr>
                        <a:t>PC</a:t>
                      </a:r>
                      <a:r>
                        <a:rPr lang="ko-KR" altLang="en-US" sz="900" u="none" strike="noStrike">
                          <a:effectLst/>
                        </a:rPr>
                        <a:t>에서 연동 설정됨 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ko-KR" altLang="en-US" sz="900" u="none" strike="noStrike">
                          <a:effectLst/>
                        </a:rPr>
                        <a:t> </a:t>
                      </a:r>
                      <a:r>
                        <a:rPr lang="en-US" altLang="ko-KR" sz="900" u="none" strike="noStrike">
                          <a:effectLst/>
                        </a:rPr>
                        <a:t>-OneClinic, V-ceph</a:t>
                      </a:r>
                      <a:br>
                        <a:rPr lang="en-US" altLang="ko-KR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# </a:t>
                      </a:r>
                      <a:r>
                        <a:rPr lang="ko-KR" altLang="en-US" sz="900" u="none" strike="noStrike">
                          <a:effectLst/>
                        </a:rPr>
                        <a:t>설정대로 연동 확인됨 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tc2,tc11,tc17,tc29,tc39,tc51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7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IT_O2_3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설정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 err="1">
                          <a:effectLst/>
                        </a:rPr>
                        <a:t>사용안함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One3D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사용안함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One2 </a:t>
                      </a:r>
                      <a:r>
                        <a:rPr lang="ko-KR" altLang="en-US" sz="900" u="none" strike="noStrike" dirty="0">
                          <a:effectLst/>
                        </a:rPr>
                        <a:t>연동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영상</a:t>
                      </a:r>
                      <a:r>
                        <a:rPr lang="en-US" sz="900" u="none" strike="noStrike">
                          <a:effectLst/>
                        </a:rPr>
                        <a:t>PC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1. One2 </a:t>
                      </a:r>
                      <a:r>
                        <a:rPr lang="ko-KR" altLang="en-US" sz="900" u="none" strike="noStrike">
                          <a:effectLst/>
                        </a:rPr>
                        <a:t>실행 </a:t>
                      </a:r>
                      <a:r>
                        <a:rPr lang="en-US" altLang="ko-KR" sz="900" u="none" strike="noStrike">
                          <a:effectLst/>
                        </a:rPr>
                        <a:t>&gt; </a:t>
                      </a:r>
                      <a:r>
                        <a:rPr lang="ko-KR" altLang="en-US" sz="900" u="none" strike="noStrike">
                          <a:effectLst/>
                        </a:rPr>
                        <a:t>환경설정 실행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2. </a:t>
                      </a:r>
                      <a:r>
                        <a:rPr lang="ko-KR" altLang="en-US" sz="900" u="none" strike="noStrike">
                          <a:effectLst/>
                        </a:rPr>
                        <a:t>시스템</a:t>
                      </a:r>
                      <a:r>
                        <a:rPr lang="en-US" altLang="ko-KR" sz="900" u="none" strike="noStrike">
                          <a:effectLst/>
                        </a:rPr>
                        <a:t>&gt; </a:t>
                      </a:r>
                      <a:r>
                        <a:rPr lang="ko-KR" altLang="en-US" sz="900" u="none" strike="noStrike">
                          <a:effectLst/>
                        </a:rPr>
                        <a:t>연동 진입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3. PMS, 3D SW, </a:t>
                      </a:r>
                      <a:r>
                        <a:rPr lang="ko-KR" altLang="en-US" sz="900" u="none" strike="noStrike">
                          <a:effectLst/>
                        </a:rPr>
                        <a:t>교정</a:t>
                      </a:r>
                      <a:r>
                        <a:rPr lang="en-US" altLang="ko-KR" sz="900" u="none" strike="noStrike">
                          <a:effectLst/>
                        </a:rPr>
                        <a:t>SW </a:t>
                      </a:r>
                      <a:r>
                        <a:rPr lang="ko-KR" altLang="en-US" sz="900" u="none" strike="noStrike">
                          <a:effectLst/>
                        </a:rPr>
                        <a:t>설정 후 적용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4. </a:t>
                      </a:r>
                      <a:r>
                        <a:rPr lang="ko-KR" altLang="en-US" sz="900" u="none" strike="noStrike">
                          <a:effectLst/>
                        </a:rPr>
                        <a:t>설정 대로 연동 유무 확인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</a:rPr>
                        <a:t># One2 </a:t>
                      </a:r>
                      <a:r>
                        <a:rPr lang="ko-KR" altLang="en-US" sz="900" u="none" strike="noStrike" dirty="0">
                          <a:effectLst/>
                        </a:rPr>
                        <a:t>영상</a:t>
                      </a:r>
                      <a:r>
                        <a:rPr lang="en-US" altLang="ko-KR" sz="900" u="none" strike="noStrike" dirty="0">
                          <a:effectLst/>
                        </a:rPr>
                        <a:t>PC</a:t>
                      </a:r>
                      <a:r>
                        <a:rPr lang="ko-KR" altLang="en-US" sz="900" u="none" strike="noStrike" dirty="0">
                          <a:effectLst/>
                        </a:rPr>
                        <a:t>에서 연동 설정됨 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ko-KR" altLang="en-US" sz="900" u="none" strike="noStrike" dirty="0">
                          <a:effectLst/>
                        </a:rPr>
                        <a:t> </a:t>
                      </a:r>
                      <a:r>
                        <a:rPr lang="en-US" altLang="ko-KR" sz="900" u="none" strike="noStrike" dirty="0">
                          <a:effectLst/>
                        </a:rPr>
                        <a:t>-One3D</a:t>
                      </a:r>
                      <a:br>
                        <a:rPr lang="en-US" altLang="ko-KR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# </a:t>
                      </a:r>
                      <a:r>
                        <a:rPr lang="ko-KR" altLang="en-US" sz="900" u="none" strike="noStrike" dirty="0">
                          <a:effectLst/>
                        </a:rPr>
                        <a:t>설정대로 연동 확인됨 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tc3,tc10,tc18,tc36,tc32,tc44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7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IT_O2_4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설정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사용</a:t>
                      </a:r>
                      <a:r>
                        <a:rPr lang="en-US" altLang="ko-KR" sz="900" u="none" strike="noStrike">
                          <a:effectLst/>
                        </a:rPr>
                        <a:t>(</a:t>
                      </a:r>
                      <a:r>
                        <a:rPr lang="en-US" sz="900" u="none" strike="noStrike">
                          <a:effectLst/>
                        </a:rPr>
                        <a:t>OneClick)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 err="1">
                          <a:effectLst/>
                        </a:rPr>
                        <a:t>사용안함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 err="1">
                          <a:effectLst/>
                        </a:rPr>
                        <a:t>사용안함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One2 </a:t>
                      </a:r>
                      <a:r>
                        <a:rPr lang="ko-KR" altLang="en-US" sz="900" u="none" strike="noStrike">
                          <a:effectLst/>
                        </a:rPr>
                        <a:t>연동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데스크</a:t>
                      </a:r>
                      <a:r>
                        <a:rPr lang="en-US" sz="900" u="none" strike="noStrike">
                          <a:effectLst/>
                        </a:rPr>
                        <a:t>PC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>
                          <a:effectLst/>
                        </a:rPr>
                        <a:t>1. One2 </a:t>
                      </a:r>
                      <a:r>
                        <a:rPr lang="ko-KR" altLang="en-US" sz="900" u="none" strike="noStrike">
                          <a:effectLst/>
                        </a:rPr>
                        <a:t>실행 </a:t>
                      </a:r>
                      <a:r>
                        <a:rPr lang="en-US" altLang="ko-KR" sz="900" u="none" strike="noStrike">
                          <a:effectLst/>
                        </a:rPr>
                        <a:t>&gt; </a:t>
                      </a:r>
                      <a:r>
                        <a:rPr lang="ko-KR" altLang="en-US" sz="900" u="none" strike="noStrike">
                          <a:effectLst/>
                        </a:rPr>
                        <a:t>환경설정 실행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2. </a:t>
                      </a:r>
                      <a:r>
                        <a:rPr lang="ko-KR" altLang="en-US" sz="900" u="none" strike="noStrike">
                          <a:effectLst/>
                        </a:rPr>
                        <a:t>시스템</a:t>
                      </a:r>
                      <a:r>
                        <a:rPr lang="en-US" altLang="ko-KR" sz="900" u="none" strike="noStrike">
                          <a:effectLst/>
                        </a:rPr>
                        <a:t>&gt; </a:t>
                      </a:r>
                      <a:r>
                        <a:rPr lang="ko-KR" altLang="en-US" sz="900" u="none" strike="noStrike">
                          <a:effectLst/>
                        </a:rPr>
                        <a:t>연동 진입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3. PMS, 3D SW, </a:t>
                      </a:r>
                      <a:r>
                        <a:rPr lang="ko-KR" altLang="en-US" sz="900" u="none" strike="noStrike">
                          <a:effectLst/>
                        </a:rPr>
                        <a:t>교정</a:t>
                      </a:r>
                      <a:r>
                        <a:rPr lang="en-US" altLang="ko-KR" sz="900" u="none" strike="noStrike">
                          <a:effectLst/>
                        </a:rPr>
                        <a:t>SW </a:t>
                      </a:r>
                      <a:r>
                        <a:rPr lang="ko-KR" altLang="en-US" sz="900" u="none" strike="noStrike">
                          <a:effectLst/>
                        </a:rPr>
                        <a:t>설정 후 적용</a:t>
                      </a:r>
                      <a:br>
                        <a:rPr lang="ko-KR" altLang="en-US" sz="900" u="none" strike="noStrike">
                          <a:effectLst/>
                        </a:rPr>
                      </a:br>
                      <a:r>
                        <a:rPr lang="en-US" altLang="ko-KR" sz="900" u="none" strike="noStrike">
                          <a:effectLst/>
                        </a:rPr>
                        <a:t>4. </a:t>
                      </a:r>
                      <a:r>
                        <a:rPr lang="ko-KR" altLang="en-US" sz="900" u="none" strike="noStrike">
                          <a:effectLst/>
                        </a:rPr>
                        <a:t>설정 대로 연동 유무 확인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</a:rPr>
                        <a:t># One2 </a:t>
                      </a:r>
                      <a:r>
                        <a:rPr lang="ko-KR" altLang="en-US" sz="900" u="none" strike="noStrike" dirty="0">
                          <a:effectLst/>
                        </a:rPr>
                        <a:t>데스크</a:t>
                      </a:r>
                      <a:r>
                        <a:rPr lang="en-US" altLang="ko-KR" sz="900" u="none" strike="noStrike" dirty="0">
                          <a:effectLst/>
                        </a:rPr>
                        <a:t>PC</a:t>
                      </a:r>
                      <a:r>
                        <a:rPr lang="ko-KR" altLang="en-US" sz="900" u="none" strike="noStrike" dirty="0">
                          <a:effectLst/>
                        </a:rPr>
                        <a:t>에서 연동 설정됨 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ko-KR" altLang="en-US" sz="900" u="none" strike="noStrike" dirty="0">
                          <a:effectLst/>
                        </a:rPr>
                        <a:t> </a:t>
                      </a:r>
                      <a:r>
                        <a:rPr lang="en-US" altLang="ko-KR" sz="900" u="none" strike="noStrike" dirty="0">
                          <a:effectLst/>
                        </a:rPr>
                        <a:t>-</a:t>
                      </a:r>
                      <a:r>
                        <a:rPr lang="en-US" altLang="ko-KR" sz="900" u="none" strike="noStrike" dirty="0" err="1">
                          <a:effectLst/>
                        </a:rPr>
                        <a:t>OneClick</a:t>
                      </a:r>
                      <a:br>
                        <a:rPr lang="en-US" altLang="ko-KR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# </a:t>
                      </a:r>
                      <a:r>
                        <a:rPr lang="ko-KR" altLang="en-US" sz="900" u="none" strike="noStrike" dirty="0">
                          <a:effectLst/>
                        </a:rPr>
                        <a:t>설정대로 연동 확인됨 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tc4,tc12,tc20,tC28,tc34,TC46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7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OneClick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OneClinic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ceph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체어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체어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-OneClick, V-ceph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TC5,tc13,tc21,tc31,TC39,TC51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7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OneClick)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One3D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V-ceph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-OneClick, One3D,V-ceph 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TC6,TC13,TC22,TC33,TC44,tc52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텍스트 개체 틀 4"/>
          <p:cNvSpPr txBox="1">
            <a:spLocks/>
          </p:cNvSpPr>
          <p:nvPr/>
        </p:nvSpPr>
        <p:spPr>
          <a:xfrm>
            <a:off x="1400777" y="1628800"/>
            <a:ext cx="1821965" cy="25736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/>
              <a:t>One2 </a:t>
            </a:r>
            <a:r>
              <a:rPr lang="ko-KR" altLang="en-US" sz="1200" b="1" dirty="0"/>
              <a:t>통합 </a:t>
            </a:r>
            <a:r>
              <a:rPr lang="en-US" altLang="ko-KR" sz="1200" b="1" dirty="0"/>
              <a:t>TC </a:t>
            </a:r>
            <a:r>
              <a:rPr lang="ko-KR" altLang="en-US" sz="1200" b="1" dirty="0"/>
              <a:t>설계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4864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13" name="텍스트 개체 틀 4"/>
          <p:cNvSpPr txBox="1">
            <a:spLocks/>
          </p:cNvSpPr>
          <p:nvPr/>
        </p:nvSpPr>
        <p:spPr>
          <a:xfrm>
            <a:off x="771196" y="744264"/>
            <a:ext cx="3980824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절차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603371"/>
              </p:ext>
            </p:extLst>
          </p:nvPr>
        </p:nvGraphicFramePr>
        <p:xfrm>
          <a:off x="395536" y="2564904"/>
          <a:ext cx="8424938" cy="3703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93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281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2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TCID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 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 </a:t>
                      </a:r>
                    </a:p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(PMS)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Depth3 (3D)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Depth4</a:t>
                      </a:r>
                    </a:p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ko-KR" alt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교정</a:t>
                      </a:r>
                      <a:r>
                        <a:rPr lang="en-US" alt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r>
                        <a:rPr lang="en-US" alt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커버리지</a:t>
                      </a:r>
                      <a:r>
                        <a:rPr lang="en-US" alt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OK)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 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TC7,TC14,TC26,TC28,TC36,TC48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OK)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OneClinic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V-ceph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기공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기공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OK,OneClinic, V-ceph 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TC8,TC15,TC27,TC31,TC23,TC53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OK)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One3D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기공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기공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OK, One3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TC9,TC14,TC27,TC32,TC45,TC49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V-ceph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기공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기공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-V-ceph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TC1,TC11,TC19,TC29,TC37,TC53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OK)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OneClinic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데스크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데스크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OK, OneClnic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TC8,TC14,TC24,TC38,TC30,TC46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71600" y="1279673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3-1-2. Case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명세 기반 테스트케이스 설계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예시  </a:t>
            </a:r>
            <a:endParaRPr lang="en-US" altLang="ko-KR" sz="1400" b="1" dirty="0"/>
          </a:p>
        </p:txBody>
      </p:sp>
      <p:sp>
        <p:nvSpPr>
          <p:cNvPr id="15" name="텍스트 개체 틀 4"/>
          <p:cNvSpPr txBox="1">
            <a:spLocks/>
          </p:cNvSpPr>
          <p:nvPr/>
        </p:nvSpPr>
        <p:spPr>
          <a:xfrm>
            <a:off x="1400777" y="1628800"/>
            <a:ext cx="1985471" cy="25736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/>
              <a:t>One2 </a:t>
            </a:r>
            <a:r>
              <a:rPr lang="ko-KR" altLang="en-US" sz="1200" b="1" dirty="0"/>
              <a:t>통합 </a:t>
            </a:r>
            <a:r>
              <a:rPr lang="en-US" altLang="ko-KR" sz="1200" b="1" dirty="0"/>
              <a:t>TC </a:t>
            </a:r>
            <a:r>
              <a:rPr lang="ko-KR" altLang="en-US" sz="1200" b="1" dirty="0"/>
              <a:t>설계 </a:t>
            </a:r>
            <a:r>
              <a:rPr lang="en-US" altLang="ko-KR" sz="1200" b="1" dirty="0"/>
              <a:t> 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84714" y="1916832"/>
            <a:ext cx="1274955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b="1" dirty="0"/>
              <a:t>One2 </a:t>
            </a:r>
            <a:r>
              <a:rPr lang="ko-KR" altLang="en-US" sz="1200" b="1" dirty="0"/>
              <a:t>연동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  </a:t>
            </a:r>
            <a:endParaRPr lang="en-US" altLang="ko-KR" sz="1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121584" y="2204864"/>
            <a:ext cx="1557084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3) </a:t>
            </a:r>
            <a:r>
              <a:rPr lang="ko-KR" altLang="en-US" sz="1200" b="1" dirty="0"/>
              <a:t>테스트케이스 설계</a:t>
            </a:r>
          </a:p>
        </p:txBody>
      </p:sp>
      <p:sp>
        <p:nvSpPr>
          <p:cNvPr id="11" name="텍스트 개체 틀 4"/>
          <p:cNvSpPr txBox="1">
            <a:spLocks/>
          </p:cNvSpPr>
          <p:nvPr/>
        </p:nvSpPr>
        <p:spPr>
          <a:xfrm>
            <a:off x="1400777" y="1628800"/>
            <a:ext cx="1821965" cy="25736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/>
              <a:t>One2 </a:t>
            </a:r>
            <a:r>
              <a:rPr lang="ko-KR" altLang="en-US" sz="1200" b="1" dirty="0"/>
              <a:t>통합 </a:t>
            </a:r>
            <a:r>
              <a:rPr lang="en-US" altLang="ko-KR" sz="1200" b="1" dirty="0"/>
              <a:t>TC </a:t>
            </a:r>
            <a:r>
              <a:rPr lang="ko-KR" altLang="en-US" sz="1200" b="1" dirty="0"/>
              <a:t>설계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7366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13" name="텍스트 개체 틀 4"/>
          <p:cNvSpPr txBox="1">
            <a:spLocks/>
          </p:cNvSpPr>
          <p:nvPr/>
        </p:nvSpPr>
        <p:spPr>
          <a:xfrm>
            <a:off x="771196" y="744264"/>
            <a:ext cx="3980824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절차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631396"/>
              </p:ext>
            </p:extLst>
          </p:nvPr>
        </p:nvGraphicFramePr>
        <p:xfrm>
          <a:off x="395536" y="2564904"/>
          <a:ext cx="8424938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93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281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2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TCID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 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2 </a:t>
                      </a:r>
                    </a:p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(PMS)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Depth3 (3D)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Depth4</a:t>
                      </a:r>
                    </a:p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ko-KR" alt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교정</a:t>
                      </a:r>
                      <a:r>
                        <a:rPr lang="en-US" alt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r>
                        <a:rPr lang="en-US" alt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커버리지</a:t>
                      </a:r>
                      <a:r>
                        <a:rPr lang="en-US" alt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OneClinic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-OneClinic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TC2,TC10,TC18,TC30,TC40,TC48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OK)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OneClinic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V-ceph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기공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기공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-OneClinic,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OK, V-ceph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TC8,TC15,TC27,TC31,TC41,TC53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OneClick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One3D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V-ceph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데스크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데스크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-One3D, OneClick, V-ceph 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TC6,TC13,TC42,TC20,TC33,TC50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IT_O2_16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OneClick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One3D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사용안함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체어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 실행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진입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PMS, 3D SW,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후 적용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대로 연동 유무 확인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One2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체어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연동 설정됨 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-One3D, OneClick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설정대로 연동 확인됨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TC6,TC12,TC21,TC32,TC43,TC47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71600" y="1279673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3-1-2. Case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명세 기반 테스트케이스 설계 </a:t>
            </a:r>
            <a:r>
              <a:rPr lang="en-US" altLang="ko-KR" sz="1400" b="1" dirty="0"/>
              <a:t>– </a:t>
            </a:r>
            <a:r>
              <a:rPr lang="ko-KR" altLang="en-US" sz="1400" b="1" dirty="0"/>
              <a:t>예시  </a:t>
            </a:r>
            <a:endParaRPr lang="en-US" altLang="ko-KR" sz="1400" b="1" dirty="0"/>
          </a:p>
        </p:txBody>
      </p:sp>
      <p:sp>
        <p:nvSpPr>
          <p:cNvPr id="15" name="텍스트 개체 틀 4"/>
          <p:cNvSpPr txBox="1">
            <a:spLocks/>
          </p:cNvSpPr>
          <p:nvPr/>
        </p:nvSpPr>
        <p:spPr>
          <a:xfrm>
            <a:off x="1400777" y="1628800"/>
            <a:ext cx="1876467" cy="25736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/>
              <a:t>One2 </a:t>
            </a:r>
            <a:r>
              <a:rPr lang="ko-KR" altLang="en-US" sz="1200" b="1" dirty="0"/>
              <a:t>통합 </a:t>
            </a:r>
            <a:r>
              <a:rPr lang="en-US" altLang="ko-KR" sz="1200" b="1" dirty="0"/>
              <a:t>TC </a:t>
            </a:r>
            <a:r>
              <a:rPr lang="ko-KR" altLang="en-US" sz="1200" b="1" dirty="0"/>
              <a:t>설계</a:t>
            </a:r>
            <a:r>
              <a:rPr lang="en-US" altLang="ko-KR" sz="1200" b="1" dirty="0"/>
              <a:t> 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84714" y="1916832"/>
            <a:ext cx="1274955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b="1" dirty="0"/>
              <a:t>One2 </a:t>
            </a:r>
            <a:r>
              <a:rPr lang="ko-KR" altLang="en-US" sz="1200" b="1" dirty="0"/>
              <a:t>연동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  </a:t>
            </a:r>
            <a:endParaRPr lang="en-US" altLang="ko-KR" sz="1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121584" y="2204864"/>
            <a:ext cx="1557084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3) </a:t>
            </a:r>
            <a:r>
              <a:rPr lang="ko-KR" altLang="en-US" sz="1200" b="1" dirty="0"/>
              <a:t>테스트케이스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5976" y="6093296"/>
            <a:ext cx="4608512" cy="349702"/>
          </a:xfrm>
          <a:prstGeom prst="rect">
            <a:avLst/>
          </a:prstGeom>
          <a:solidFill>
            <a:srgbClr val="FFFF00"/>
          </a:solidFill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적용설계 기법</a:t>
            </a:r>
            <a:r>
              <a:rPr lang="en-US" altLang="ko-KR" dirty="0"/>
              <a:t>: 2</a:t>
            </a:r>
            <a:r>
              <a:rPr lang="ko-KR" altLang="en-US" dirty="0"/>
              <a:t> </a:t>
            </a:r>
            <a:r>
              <a:rPr lang="en-US" altLang="ko-KR" dirty="0"/>
              <a:t>-wise</a:t>
            </a:r>
            <a:endParaRPr lang="ko-KR" altLang="en-US" dirty="0"/>
          </a:p>
        </p:txBody>
      </p:sp>
      <p:sp>
        <p:nvSpPr>
          <p:cNvPr id="12" name="텍스트 개체 틀 4"/>
          <p:cNvSpPr txBox="1">
            <a:spLocks/>
          </p:cNvSpPr>
          <p:nvPr/>
        </p:nvSpPr>
        <p:spPr>
          <a:xfrm>
            <a:off x="1400777" y="1628800"/>
            <a:ext cx="1821965" cy="25736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/>
              <a:t>One2 </a:t>
            </a:r>
            <a:r>
              <a:rPr lang="ko-KR" altLang="en-US" sz="1200" b="1" dirty="0"/>
              <a:t>통합 </a:t>
            </a:r>
            <a:r>
              <a:rPr lang="en-US" altLang="ko-KR" sz="1200" b="1" dirty="0"/>
              <a:t>TC </a:t>
            </a:r>
            <a:r>
              <a:rPr lang="ko-KR" altLang="en-US" sz="1200" b="1" dirty="0"/>
              <a:t>설계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91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91" y="2276872"/>
            <a:ext cx="4318513" cy="338437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833" y="5661248"/>
            <a:ext cx="4200263" cy="319251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5580112" y="2708920"/>
            <a:ext cx="3492033" cy="2411805"/>
            <a:chOff x="5562719" y="2977380"/>
            <a:chExt cx="3492033" cy="2411805"/>
          </a:xfrm>
        </p:grpSpPr>
        <p:sp>
          <p:nvSpPr>
            <p:cNvPr id="11" name="TextBox 10"/>
            <p:cNvSpPr txBox="1"/>
            <p:nvPr/>
          </p:nvSpPr>
          <p:spPr>
            <a:xfrm>
              <a:off x="5562719" y="2977380"/>
              <a:ext cx="3347864" cy="241180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100" b="1" dirty="0"/>
                <a:t>퇴장방지의약품 사용 고시 요약</a:t>
              </a:r>
              <a:endParaRPr lang="en-US" altLang="ko-KR" sz="1100" b="1" dirty="0"/>
            </a:p>
            <a:p>
              <a:r>
                <a:rPr lang="ko-KR" altLang="en-US" sz="1100" b="1" dirty="0"/>
                <a:t> </a:t>
              </a:r>
              <a:endParaRPr lang="en-US" altLang="ko-KR" sz="1100" b="1" dirty="0"/>
            </a:p>
            <a:p>
              <a:r>
                <a:rPr lang="en-US" altLang="ko-KR" sz="1000" dirty="0"/>
                <a:t>1) </a:t>
              </a:r>
              <a:r>
                <a:rPr lang="ko-KR" altLang="en-US" sz="1000" dirty="0"/>
                <a:t>진료 </a:t>
              </a:r>
              <a:r>
                <a:rPr lang="en-US" altLang="ko-KR" sz="1000" dirty="0"/>
                <a:t>: </a:t>
              </a:r>
              <a:r>
                <a:rPr lang="ko-KR" altLang="en-US" sz="1000" dirty="0"/>
                <a:t>사용장려금 </a:t>
              </a:r>
              <a:r>
                <a:rPr lang="ko-KR" altLang="en-US" sz="1000" b="1" dirty="0"/>
                <a:t>본인부담금</a:t>
              </a:r>
              <a:r>
                <a:rPr lang="ko-KR" altLang="en-US" sz="1000" dirty="0"/>
                <a:t>  </a:t>
              </a:r>
              <a:endParaRPr lang="en-US" altLang="ko-KR" sz="1000" dirty="0"/>
            </a:p>
            <a:p>
              <a:r>
                <a:rPr lang="en-US" altLang="ko-KR" sz="1000" dirty="0">
                  <a:sym typeface="Wingdings" panose="05000000000000000000" pitchFamily="2" charset="2"/>
                </a:rPr>
                <a:t>    </a:t>
              </a:r>
              <a:r>
                <a:rPr lang="ko-KR" altLang="en-US" sz="1000" dirty="0"/>
                <a:t> </a:t>
              </a:r>
              <a:r>
                <a:rPr lang="ko-KR" altLang="en-US" sz="1000" b="1" dirty="0"/>
                <a:t>공단 부담금</a:t>
              </a:r>
              <a:r>
                <a:rPr lang="ko-KR" altLang="en-US" sz="1000" dirty="0"/>
                <a:t>으로 변경 </a:t>
              </a:r>
              <a:r>
                <a:rPr lang="en-US" altLang="ko-KR" sz="1000" b="1" dirty="0"/>
                <a:t>(2020.3.1)</a:t>
              </a:r>
            </a:p>
            <a:p>
              <a:endParaRPr lang="en-US" altLang="ko-KR" sz="1000" b="1" dirty="0"/>
            </a:p>
            <a:p>
              <a:r>
                <a:rPr lang="en-US" altLang="ko-KR" sz="1000" b="1" dirty="0"/>
                <a:t> </a:t>
              </a:r>
              <a:endParaRPr lang="en-US" altLang="ko-KR" sz="1000" b="1" dirty="0">
                <a:latin typeface="+mn-ea"/>
              </a:endParaRPr>
            </a:p>
            <a:p>
              <a:endParaRPr lang="en-US" altLang="ko-KR" sz="1000" dirty="0">
                <a:latin typeface="+mn-ea"/>
              </a:endParaRPr>
            </a:p>
            <a:p>
              <a:endParaRPr lang="en-US" altLang="ko-KR" sz="1000" dirty="0">
                <a:latin typeface="+mn-ea"/>
              </a:endParaRPr>
            </a:p>
            <a:p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청구 </a:t>
              </a:r>
              <a:r>
                <a:rPr lang="en-US" altLang="ko-KR" sz="1000" dirty="0">
                  <a:latin typeface="+mn-ea"/>
                </a:rPr>
                <a:t>: </a:t>
              </a:r>
              <a:r>
                <a:rPr lang="ko-KR" altLang="en-US" sz="1000" dirty="0">
                  <a:latin typeface="+mn-ea"/>
                </a:rPr>
                <a:t>특정내역 </a:t>
              </a:r>
              <a:r>
                <a:rPr lang="ko-KR" altLang="en-US" sz="1000" b="1" dirty="0">
                  <a:latin typeface="+mn-ea"/>
                </a:rPr>
                <a:t>구분코드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JS002</a:t>
              </a:r>
              <a:r>
                <a:rPr lang="ko-KR" altLang="en-US" sz="1000" dirty="0">
                  <a:latin typeface="+mn-ea"/>
                </a:rPr>
                <a:t>에</a:t>
              </a:r>
              <a:r>
                <a:rPr lang="en-US" altLang="ko-KR" sz="1000" dirty="0">
                  <a:latin typeface="+mn-ea"/>
                </a:rPr>
                <a:t>  ’</a:t>
              </a:r>
              <a:r>
                <a:rPr lang="en-US" altLang="ko-KR" sz="1000" b="1" dirty="0">
                  <a:latin typeface="+mn-ea"/>
                </a:rPr>
                <a:t>99’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ko-KR" altLang="en-US" sz="1000" dirty="0">
                  <a:latin typeface="+mn-ea"/>
                </a:rPr>
                <a:t>기재</a:t>
              </a:r>
              <a:endParaRPr lang="en-US" altLang="ko-KR" sz="1000" dirty="0">
                <a:latin typeface="+mn-ea"/>
              </a:endParaRPr>
            </a:p>
            <a:p>
              <a:endParaRPr lang="en-US" altLang="ko-KR" sz="1000" dirty="0">
                <a:latin typeface="+mn-ea"/>
              </a:endParaRPr>
            </a:p>
            <a:p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기타 고려사항</a:t>
              </a:r>
              <a:endParaRPr lang="en-US" altLang="ko-KR" sz="1000" dirty="0">
                <a:latin typeface="+mn-ea"/>
              </a:endParaRPr>
            </a:p>
            <a:p>
              <a:r>
                <a:rPr lang="en-US" altLang="ko-KR" sz="1000" dirty="0">
                  <a:latin typeface="+mn-ea"/>
                </a:rPr>
                <a:t>   - </a:t>
              </a:r>
              <a:r>
                <a:rPr lang="ko-KR" altLang="en-US" sz="1000" dirty="0">
                  <a:latin typeface="+mn-ea"/>
                </a:rPr>
                <a:t>의약품 입력 </a:t>
              </a:r>
              <a:r>
                <a:rPr lang="en-US" altLang="ko-KR" sz="1000" dirty="0">
                  <a:latin typeface="+mn-ea"/>
                </a:rPr>
                <a:t>: </a:t>
              </a:r>
              <a:r>
                <a:rPr lang="ko-KR" altLang="en-US" sz="1000" dirty="0">
                  <a:latin typeface="+mn-ea"/>
                </a:rPr>
                <a:t>원내조제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원외 조제 </a:t>
              </a:r>
              <a:endParaRPr lang="en-US" altLang="ko-KR" sz="1000" dirty="0">
                <a:latin typeface="+mn-ea"/>
              </a:endParaRPr>
            </a:p>
            <a:p>
              <a:r>
                <a:rPr lang="en-US" altLang="ko-KR" sz="1000" dirty="0">
                  <a:latin typeface="+mn-ea"/>
                </a:rPr>
                <a:t>   - </a:t>
              </a:r>
              <a:r>
                <a:rPr lang="ko-KR" altLang="en-US" sz="1000" dirty="0">
                  <a:latin typeface="+mn-ea"/>
                </a:rPr>
                <a:t>연동되는 모듈</a:t>
              </a:r>
              <a:r>
                <a:rPr lang="en-US" altLang="ko-KR" sz="1000" dirty="0">
                  <a:latin typeface="+mn-ea"/>
                </a:rPr>
                <a:t> : </a:t>
              </a:r>
              <a:r>
                <a:rPr lang="ko-KR" altLang="en-US" sz="1000" dirty="0">
                  <a:latin typeface="+mn-ea"/>
                </a:rPr>
                <a:t>진료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청구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영수증</a:t>
              </a:r>
              <a:r>
                <a:rPr lang="en-US" altLang="ko-KR" sz="1000" dirty="0">
                  <a:latin typeface="+mn-ea"/>
                </a:rPr>
                <a:t>, </a:t>
              </a:r>
            </a:p>
            <a:p>
              <a:r>
                <a:rPr lang="en-US" altLang="ko-KR" sz="1000" dirty="0">
                  <a:latin typeface="+mn-ea"/>
                </a:rPr>
                <a:t>                         </a:t>
              </a:r>
              <a:r>
                <a:rPr lang="ko-KR" altLang="en-US" sz="1000" dirty="0">
                  <a:latin typeface="+mn-ea"/>
                </a:rPr>
                <a:t>진료비세부내역서 </a:t>
              </a:r>
              <a:r>
                <a:rPr lang="en-US" altLang="ko-KR" sz="1000" dirty="0">
                  <a:latin typeface="+mn-ea"/>
                </a:rPr>
                <a:t> </a:t>
              </a:r>
              <a:r>
                <a:rPr lang="ko-KR" altLang="en-US" sz="1000" dirty="0">
                  <a:latin typeface="+mn-ea"/>
                </a:rPr>
                <a:t> </a:t>
              </a:r>
              <a:endParaRPr lang="en-US" altLang="ko-KR" sz="1000" dirty="0">
                <a:latin typeface="+mn-ea"/>
              </a:endParaRPr>
            </a:p>
            <a:p>
              <a:r>
                <a:rPr lang="en-US" altLang="ko-KR" sz="1000" dirty="0">
                  <a:latin typeface="+mn-ea"/>
                </a:rPr>
                <a:t>   - </a:t>
              </a:r>
              <a:r>
                <a:rPr lang="ko-KR" altLang="en-US" sz="1000" dirty="0">
                  <a:latin typeface="+mn-ea"/>
                </a:rPr>
                <a:t>보험구분 </a:t>
              </a:r>
              <a:r>
                <a:rPr lang="en-US" altLang="ko-KR" sz="1000" dirty="0">
                  <a:latin typeface="+mn-ea"/>
                </a:rPr>
                <a:t>: </a:t>
              </a:r>
              <a:r>
                <a:rPr lang="ko-KR" altLang="en-US" sz="1000" dirty="0">
                  <a:latin typeface="+mn-ea"/>
                </a:rPr>
                <a:t>일반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보험</a:t>
              </a:r>
              <a:r>
                <a:rPr lang="en-US" altLang="ko-KR" sz="1000" dirty="0">
                  <a:latin typeface="+mn-ea"/>
                </a:rPr>
                <a:t>…..</a:t>
              </a:r>
              <a:r>
                <a:rPr lang="ko-KR" altLang="en-US" sz="1000" dirty="0">
                  <a:latin typeface="+mn-ea"/>
                </a:rPr>
                <a:t>의료급여</a:t>
              </a:r>
              <a:endParaRPr lang="en-US" altLang="ko-KR" sz="1000" dirty="0">
                <a:latin typeface="+mn-ea"/>
              </a:endParaRPr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5796136" y="3697460"/>
              <a:ext cx="3258616" cy="462245"/>
              <a:chOff x="5921896" y="3583641"/>
              <a:chExt cx="3258616" cy="462245"/>
            </a:xfrm>
          </p:grpSpPr>
          <p:sp>
            <p:nvSpPr>
              <p:cNvPr id="10" name="직사각형 9"/>
              <p:cNvSpPr/>
              <p:nvPr/>
            </p:nvSpPr>
            <p:spPr>
              <a:xfrm>
                <a:off x="5921896" y="3799665"/>
                <a:ext cx="2808312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*</a:t>
                </a:r>
                <a:r>
                  <a:rPr lang="ko-KR" altLang="en-US" sz="1000" dirty="0"/>
                  <a:t>본인부담금 = (총진료비 - 사용장려금) * 0.3</a:t>
                </a:r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5921896" y="3583641"/>
                <a:ext cx="3258616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*</a:t>
                </a:r>
                <a:r>
                  <a:rPr lang="ko-KR" altLang="en-US" sz="1000" dirty="0"/>
                  <a:t>총진료비 </a:t>
                </a:r>
                <a:r>
                  <a:rPr lang="en-US" altLang="ko-KR" sz="1000" dirty="0"/>
                  <a:t>= </a:t>
                </a:r>
                <a:r>
                  <a:rPr lang="ko-KR" altLang="en-US" sz="1000" dirty="0"/>
                  <a:t>행위총합*가산</a:t>
                </a:r>
                <a:r>
                  <a:rPr lang="en-US" altLang="ko-KR" sz="1000" dirty="0"/>
                  <a:t>(1.15)+</a:t>
                </a:r>
                <a:r>
                  <a:rPr lang="ko-KR" altLang="en-US" sz="1000" dirty="0"/>
                  <a:t>약재총합</a:t>
                </a:r>
                <a:r>
                  <a:rPr lang="en-US" altLang="ko-KR" sz="1000" dirty="0"/>
                  <a:t>+</a:t>
                </a:r>
                <a:r>
                  <a:rPr lang="ko-KR" altLang="en-US" sz="1000" dirty="0"/>
                  <a:t>재료총합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904858" y="1890876"/>
            <a:ext cx="6843606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100" dirty="0"/>
              <a:t>Q1. </a:t>
            </a:r>
            <a:r>
              <a:rPr lang="ko-KR" altLang="en-US" sz="1100" dirty="0"/>
              <a:t>다음 고시를 보고 </a:t>
            </a:r>
            <a:r>
              <a:rPr lang="en-US" altLang="ko-KR" sz="1100" dirty="0">
                <a:solidFill>
                  <a:srgbClr val="0070C0"/>
                </a:solidFill>
              </a:rPr>
              <a:t>[</a:t>
            </a:r>
            <a:r>
              <a:rPr lang="ko-KR" altLang="en-US" sz="1100" dirty="0">
                <a:solidFill>
                  <a:srgbClr val="0070C0"/>
                </a:solidFill>
              </a:rPr>
              <a:t>기능셋 식별</a:t>
            </a:r>
            <a:r>
              <a:rPr lang="en-US" altLang="ko-KR" sz="1100" dirty="0">
                <a:solidFill>
                  <a:srgbClr val="0070C0"/>
                </a:solidFill>
              </a:rPr>
              <a:t>]</a:t>
            </a:r>
            <a:r>
              <a:rPr lang="ko-KR" altLang="en-US" sz="1100" dirty="0">
                <a:solidFill>
                  <a:srgbClr val="0070C0"/>
                </a:solidFill>
              </a:rPr>
              <a:t> </a:t>
            </a:r>
            <a:r>
              <a:rPr lang="en-US" altLang="ko-KR" sz="1100" dirty="0">
                <a:solidFill>
                  <a:srgbClr val="0070C0"/>
                </a:solidFill>
              </a:rPr>
              <a:t>&gt; [</a:t>
            </a:r>
            <a:r>
              <a:rPr lang="ko-KR" altLang="en-US" sz="1100" dirty="0">
                <a:solidFill>
                  <a:srgbClr val="0070C0"/>
                </a:solidFill>
              </a:rPr>
              <a:t>테스트컨디션 식별</a:t>
            </a:r>
            <a:r>
              <a:rPr lang="en-US" altLang="ko-KR" sz="1100" dirty="0">
                <a:solidFill>
                  <a:srgbClr val="0070C0"/>
                </a:solidFill>
              </a:rPr>
              <a:t>]</a:t>
            </a:r>
            <a:r>
              <a:rPr lang="ko-KR" altLang="en-US" sz="1100" dirty="0">
                <a:solidFill>
                  <a:srgbClr val="0070C0"/>
                </a:solidFill>
              </a:rPr>
              <a:t> </a:t>
            </a:r>
            <a:r>
              <a:rPr lang="en-US" altLang="ko-KR" sz="1100" dirty="0">
                <a:solidFill>
                  <a:srgbClr val="0070C0"/>
                </a:solidFill>
              </a:rPr>
              <a:t>&gt;[</a:t>
            </a:r>
            <a:r>
              <a:rPr lang="ko-KR" altLang="en-US" sz="1100" dirty="0">
                <a:solidFill>
                  <a:srgbClr val="0070C0"/>
                </a:solidFill>
              </a:rPr>
              <a:t>테스트케이스 설계</a:t>
            </a:r>
            <a:r>
              <a:rPr lang="en-US" altLang="ko-KR" sz="1100" dirty="0">
                <a:solidFill>
                  <a:srgbClr val="0070C0"/>
                </a:solidFill>
              </a:rPr>
              <a:t>]</a:t>
            </a:r>
            <a:r>
              <a:rPr lang="ko-KR" altLang="en-US" sz="1100" dirty="0">
                <a:solidFill>
                  <a:srgbClr val="0070C0"/>
                </a:solidFill>
              </a:rPr>
              <a:t> 형식으로 </a:t>
            </a:r>
            <a:r>
              <a:rPr lang="en-US" altLang="ko-KR" sz="1100" dirty="0">
                <a:solidFill>
                  <a:srgbClr val="0070C0"/>
                </a:solidFill>
              </a:rPr>
              <a:t>TC</a:t>
            </a:r>
            <a:r>
              <a:rPr lang="ko-KR" altLang="en-US" sz="1100" dirty="0">
                <a:solidFill>
                  <a:srgbClr val="0070C0"/>
                </a:solidFill>
              </a:rPr>
              <a:t> 설계하기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9672" y="1556792"/>
            <a:ext cx="4133305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hlinkClick r:id="rId5"/>
              </a:rPr>
              <a:t> #22973 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퇴장방지의약품 심평원 고시 </a:t>
            </a:r>
            <a:r>
              <a:rPr lang="en-US" altLang="ko-KR" sz="1200" b="1" dirty="0"/>
              <a:t>(2020.02) 1/6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7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19" name="텍스트 개체 틀 4"/>
          <p:cNvSpPr txBox="1">
            <a:spLocks/>
          </p:cNvSpPr>
          <p:nvPr/>
        </p:nvSpPr>
        <p:spPr>
          <a:xfrm>
            <a:off x="771196" y="744264"/>
            <a:ext cx="417639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실습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600" y="1279673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3-2-2. </a:t>
            </a:r>
            <a:r>
              <a:rPr lang="ko-KR" altLang="en-US" sz="1400" b="1" dirty="0"/>
              <a:t>하나로</a:t>
            </a:r>
            <a:r>
              <a:rPr lang="en-US" altLang="ko-KR" sz="1400" b="1" dirty="0"/>
              <a:t>OK </a:t>
            </a:r>
            <a:r>
              <a:rPr lang="ko-KR" altLang="en-US" sz="1400" b="1" dirty="0"/>
              <a:t>정기업데이트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077697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모서리가 둥근 직사각형 44"/>
          <p:cNvSpPr/>
          <p:nvPr/>
        </p:nvSpPr>
        <p:spPr>
          <a:xfrm>
            <a:off x="7740352" y="3068960"/>
            <a:ext cx="864096" cy="2880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연동 모듈</a:t>
            </a:r>
          </a:p>
        </p:txBody>
      </p:sp>
      <p:cxnSp>
        <p:nvCxnSpPr>
          <p:cNvPr id="84" name="직선 연결선 83"/>
          <p:cNvCxnSpPr>
            <a:stCxn id="32" idx="2"/>
            <a:endCxn id="40" idx="0"/>
          </p:cNvCxnSpPr>
          <p:nvPr/>
        </p:nvCxnSpPr>
        <p:spPr>
          <a:xfrm>
            <a:off x="7052681" y="3433473"/>
            <a:ext cx="10848" cy="1498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>
            <a:stCxn id="45" idx="2"/>
            <a:endCxn id="46" idx="0"/>
          </p:cNvCxnSpPr>
          <p:nvPr/>
        </p:nvCxnSpPr>
        <p:spPr>
          <a:xfrm>
            <a:off x="8172400" y="3356992"/>
            <a:ext cx="11797" cy="23960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60" idx="1"/>
            <a:endCxn id="29" idx="3"/>
          </p:cNvCxnSpPr>
          <p:nvPr/>
        </p:nvCxnSpPr>
        <p:spPr>
          <a:xfrm rot="10800000" flipV="1">
            <a:off x="2496535" y="4556164"/>
            <a:ext cx="387008" cy="17693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61" idx="1"/>
            <a:endCxn id="29" idx="3"/>
          </p:cNvCxnSpPr>
          <p:nvPr/>
        </p:nvCxnSpPr>
        <p:spPr>
          <a:xfrm rot="10800000">
            <a:off x="2496535" y="4733103"/>
            <a:ext cx="387008" cy="17693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409568" y="2129014"/>
            <a:ext cx="8194879" cy="3154857"/>
            <a:chOff x="395536" y="1667596"/>
            <a:chExt cx="8424936" cy="3328244"/>
          </a:xfrm>
        </p:grpSpPr>
        <p:sp>
          <p:nvSpPr>
            <p:cNvPr id="26" name="모서리가 둥근 직사각형 25"/>
            <p:cNvSpPr/>
            <p:nvPr/>
          </p:nvSpPr>
          <p:spPr>
            <a:xfrm>
              <a:off x="3923928" y="1667596"/>
              <a:ext cx="1872208" cy="31067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퇴장방지의약품 사용장려금</a:t>
              </a:r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3059832" y="2780928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변경시점</a:t>
              </a:r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6804248" y="2755714"/>
              <a:ext cx="841790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보험구분</a:t>
              </a:r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4675639" y="3227608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처방 </a:t>
              </a: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5724128" y="3228329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처방 </a:t>
              </a: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</a:t>
              </a:r>
              <a:endPara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2548351" y="3212976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~20.2.29</a:t>
              </a:r>
              <a:endPara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3540422" y="3201838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~20.3.1</a:t>
              </a:r>
              <a:endPara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5047209" y="2798110"/>
              <a:ext cx="1036959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처방형식</a:t>
              </a:r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971600" y="2733288"/>
              <a:ext cx="961407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퇴장방지의약품</a:t>
              </a: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395536" y="3212976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퇴장방지 </a:t>
              </a: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</a:t>
              </a:r>
              <a:endPara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모서리가 둥근 직사각형 38"/>
            <p:cNvSpPr/>
            <p:nvPr/>
          </p:nvSpPr>
          <p:spPr>
            <a:xfrm>
              <a:off x="1403821" y="3240296"/>
              <a:ext cx="888999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퇴장방지 </a:t>
              </a: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6804248" y="3201838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일반</a:t>
              </a: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6804248" y="3645024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보험</a:t>
              </a:r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6814850" y="4707808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의료급여</a:t>
              </a:r>
            </a:p>
          </p:txBody>
        </p:sp>
        <p:cxnSp>
          <p:nvCxnSpPr>
            <p:cNvPr id="44" name="직선 연결선 43"/>
            <p:cNvCxnSpPr>
              <a:stCxn id="85" idx="2"/>
              <a:endCxn id="43" idx="0"/>
            </p:cNvCxnSpPr>
            <p:nvPr/>
          </p:nvCxnSpPr>
          <p:spPr>
            <a:xfrm flipH="1">
              <a:off x="7246898" y="4352581"/>
              <a:ext cx="18956" cy="35522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모서리가 둥근 직사각형 45"/>
            <p:cNvSpPr/>
            <p:nvPr/>
          </p:nvSpPr>
          <p:spPr>
            <a:xfrm>
              <a:off x="7956376" y="3215838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진료</a:t>
              </a: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7940016" y="3611781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청구</a:t>
              </a:r>
            </a:p>
          </p:txBody>
        </p:sp>
        <p:sp>
          <p:nvSpPr>
            <p:cNvPr id="48" name="모서리가 둥근 직사각형 47"/>
            <p:cNvSpPr/>
            <p:nvPr/>
          </p:nvSpPr>
          <p:spPr>
            <a:xfrm>
              <a:off x="7929804" y="4012751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영수증</a:t>
              </a: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956376" y="4437112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세부산정 내역</a:t>
              </a:r>
            </a:p>
          </p:txBody>
        </p:sp>
        <p:cxnSp>
          <p:nvCxnSpPr>
            <p:cNvPr id="8" name="꺾인 연결선 7"/>
            <p:cNvCxnSpPr>
              <a:stCxn id="26" idx="2"/>
              <a:endCxn id="37" idx="0"/>
            </p:cNvCxnSpPr>
            <p:nvPr/>
          </p:nvCxnSpPr>
          <p:spPr>
            <a:xfrm rot="5400000">
              <a:off x="2778661" y="651917"/>
              <a:ext cx="755014" cy="3407728"/>
            </a:xfrm>
            <a:prstGeom prst="bentConnector3">
              <a:avLst>
                <a:gd name="adj1" fmla="val 52375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꺾인 연결선 49"/>
            <p:cNvCxnSpPr>
              <a:stCxn id="26" idx="2"/>
              <a:endCxn id="30" idx="0"/>
            </p:cNvCxnSpPr>
            <p:nvPr/>
          </p:nvCxnSpPr>
          <p:spPr>
            <a:xfrm rot="5400000">
              <a:off x="3774629" y="1695525"/>
              <a:ext cx="802654" cy="136815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꺾인 연결선 50"/>
            <p:cNvCxnSpPr>
              <a:stCxn id="26" idx="2"/>
              <a:endCxn id="36" idx="0"/>
            </p:cNvCxnSpPr>
            <p:nvPr/>
          </p:nvCxnSpPr>
          <p:spPr>
            <a:xfrm rot="16200000" flipH="1">
              <a:off x="4802942" y="2035363"/>
              <a:ext cx="819836" cy="70565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꺾인 연결선 51"/>
            <p:cNvCxnSpPr>
              <a:stCxn id="26" idx="2"/>
              <a:endCxn id="32" idx="0"/>
            </p:cNvCxnSpPr>
            <p:nvPr/>
          </p:nvCxnSpPr>
          <p:spPr>
            <a:xfrm rot="16200000" flipH="1">
              <a:off x="5653867" y="1184438"/>
              <a:ext cx="777440" cy="2365111"/>
            </a:xfrm>
            <a:prstGeom prst="bentConnector3">
              <a:avLst>
                <a:gd name="adj1" fmla="val 53459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꺾인 연결선 52"/>
            <p:cNvCxnSpPr>
              <a:stCxn id="26" idx="2"/>
              <a:endCxn id="45" idx="0"/>
            </p:cNvCxnSpPr>
            <p:nvPr/>
          </p:nvCxnSpPr>
          <p:spPr>
            <a:xfrm rot="16200000" flipH="1">
              <a:off x="6222901" y="615405"/>
              <a:ext cx="802654" cy="352839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>
              <a:stCxn id="37" idx="2"/>
              <a:endCxn id="38" idx="0"/>
            </p:cNvCxnSpPr>
            <p:nvPr/>
          </p:nvCxnSpPr>
          <p:spPr>
            <a:xfrm flipH="1">
              <a:off x="827584" y="3021320"/>
              <a:ext cx="624720" cy="1916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>
              <a:stCxn id="37" idx="2"/>
              <a:endCxn id="39" idx="0"/>
            </p:cNvCxnSpPr>
            <p:nvPr/>
          </p:nvCxnSpPr>
          <p:spPr>
            <a:xfrm>
              <a:off x="1452304" y="3021320"/>
              <a:ext cx="396017" cy="21897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>
              <a:stCxn id="30" idx="2"/>
              <a:endCxn id="22" idx="0"/>
            </p:cNvCxnSpPr>
            <p:nvPr/>
          </p:nvCxnSpPr>
          <p:spPr>
            <a:xfrm flipH="1">
              <a:off x="2980399" y="3068960"/>
              <a:ext cx="511481" cy="14401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>
              <a:stCxn id="30" idx="2"/>
              <a:endCxn id="35" idx="0"/>
            </p:cNvCxnSpPr>
            <p:nvPr/>
          </p:nvCxnSpPr>
          <p:spPr>
            <a:xfrm>
              <a:off x="3491880" y="3068960"/>
              <a:ext cx="480590" cy="13287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>
              <a:stCxn id="36" idx="2"/>
              <a:endCxn id="33" idx="0"/>
            </p:cNvCxnSpPr>
            <p:nvPr/>
          </p:nvCxnSpPr>
          <p:spPr>
            <a:xfrm flipH="1">
              <a:off x="5107687" y="3086142"/>
              <a:ext cx="458002" cy="14146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>
              <a:stCxn id="36" idx="2"/>
              <a:endCxn id="34" idx="0"/>
            </p:cNvCxnSpPr>
            <p:nvPr/>
          </p:nvCxnSpPr>
          <p:spPr>
            <a:xfrm>
              <a:off x="5565689" y="3086142"/>
              <a:ext cx="590487" cy="14218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/>
            <p:cNvSpPr txBox="1"/>
            <p:nvPr/>
          </p:nvSpPr>
          <p:spPr>
            <a:xfrm>
              <a:off x="636187" y="3580407"/>
              <a:ext cx="670825" cy="22281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rgbClr val="0070C0"/>
                  </a:solidFill>
                </a:rPr>
                <a:t>Valid</a:t>
              </a:r>
              <a:endParaRPr lang="ko-KR" altLang="en-US" sz="900" b="1" dirty="0">
                <a:solidFill>
                  <a:srgbClr val="0070C0"/>
                </a:solidFill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547664" y="3603680"/>
              <a:ext cx="670825" cy="22281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rgbClr val="C00000"/>
                  </a:solidFill>
                </a:rPr>
                <a:t>Invalid</a:t>
              </a:r>
              <a:endParaRPr lang="ko-KR" altLang="en-US" sz="900" b="1" dirty="0">
                <a:solidFill>
                  <a:srgbClr val="C00000"/>
                </a:solidFill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2677039" y="3603680"/>
              <a:ext cx="670825" cy="22281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rgbClr val="C00000"/>
                  </a:solidFill>
                </a:rPr>
                <a:t>Invalid</a:t>
              </a:r>
              <a:endParaRPr lang="ko-KR" altLang="en-US" sz="900" b="1" dirty="0">
                <a:solidFill>
                  <a:srgbClr val="C00000"/>
                </a:solidFill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760044" y="3610123"/>
              <a:ext cx="670825" cy="22281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rgbClr val="0070C0"/>
                  </a:solidFill>
                </a:rPr>
                <a:t>Valid</a:t>
              </a:r>
              <a:endParaRPr lang="ko-KR" altLang="en-US" sz="900" b="1" dirty="0">
                <a:solidFill>
                  <a:srgbClr val="0070C0"/>
                </a:solidFill>
              </a:endParaRPr>
            </a:p>
          </p:txBody>
        </p:sp>
        <p:sp>
          <p:nvSpPr>
            <p:cNvPr id="129" name="모서리가 둥근 직사각형 128"/>
            <p:cNvSpPr/>
            <p:nvPr/>
          </p:nvSpPr>
          <p:spPr>
            <a:xfrm>
              <a:off x="5724128" y="3645024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원내조제</a:t>
              </a:r>
            </a:p>
          </p:txBody>
        </p:sp>
        <p:sp>
          <p:nvSpPr>
            <p:cNvPr id="130" name="모서리가 둥근 직사각형 129"/>
            <p:cNvSpPr/>
            <p:nvPr/>
          </p:nvSpPr>
          <p:spPr>
            <a:xfrm>
              <a:off x="5719157" y="4029284"/>
              <a:ext cx="864096" cy="2880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원외처방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933323" y="4399729"/>
              <a:ext cx="623052" cy="22281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rgbClr val="0070C0"/>
                  </a:solidFill>
                </a:rPr>
                <a:t>Valid</a:t>
              </a:r>
              <a:endParaRPr lang="ko-KR" altLang="en-US" sz="900" b="1" dirty="0">
                <a:solidFill>
                  <a:srgbClr val="0070C0"/>
                </a:solidFill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4837279" y="3645024"/>
              <a:ext cx="670825" cy="22281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rgbClr val="C00000"/>
                  </a:solidFill>
                </a:rPr>
                <a:t>Invalid</a:t>
              </a:r>
              <a:endParaRPr lang="ko-KR" altLang="en-US" sz="9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1979712" y="1916832"/>
            <a:ext cx="1095419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1) </a:t>
            </a:r>
            <a:r>
              <a:rPr lang="ko-KR" altLang="en-US" sz="1200" b="1" dirty="0"/>
              <a:t>기능셋 식별</a:t>
            </a:r>
            <a:endParaRPr lang="en-US" altLang="ko-KR" sz="12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1979712" y="2307535"/>
            <a:ext cx="1611586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2) </a:t>
            </a:r>
            <a:r>
              <a:rPr lang="ko-KR" altLang="en-US" sz="1200" b="1" dirty="0"/>
              <a:t>테스트 컨디션 식별</a:t>
            </a:r>
            <a:endParaRPr lang="en-US" altLang="ko-KR" sz="1200" b="1" dirty="0"/>
          </a:p>
        </p:txBody>
      </p:sp>
      <p:grpSp>
        <p:nvGrpSpPr>
          <p:cNvPr id="14" name="그룹 13"/>
          <p:cNvGrpSpPr/>
          <p:nvPr/>
        </p:nvGrpSpPr>
        <p:grpSpPr>
          <a:xfrm>
            <a:off x="409569" y="4361319"/>
            <a:ext cx="3459269" cy="2068815"/>
            <a:chOff x="964326" y="4244792"/>
            <a:chExt cx="3928229" cy="2525829"/>
          </a:xfrm>
        </p:grpSpPr>
        <p:grpSp>
          <p:nvGrpSpPr>
            <p:cNvPr id="13" name="그룹 12"/>
            <p:cNvGrpSpPr/>
            <p:nvPr/>
          </p:nvGrpSpPr>
          <p:grpSpPr>
            <a:xfrm>
              <a:off x="1243612" y="4250345"/>
              <a:ext cx="3648943" cy="2520276"/>
              <a:chOff x="457750" y="4132767"/>
              <a:chExt cx="3648942" cy="2520280"/>
            </a:xfrm>
          </p:grpSpPr>
          <p:grpSp>
            <p:nvGrpSpPr>
              <p:cNvPr id="10" name="그룹 9"/>
              <p:cNvGrpSpPr/>
              <p:nvPr/>
            </p:nvGrpSpPr>
            <p:grpSpPr>
              <a:xfrm>
                <a:off x="539552" y="5877272"/>
                <a:ext cx="2016051" cy="720080"/>
                <a:chOff x="539725" y="5661248"/>
                <a:chExt cx="2016051" cy="720080"/>
              </a:xfrm>
            </p:grpSpPr>
            <p:sp>
              <p:nvSpPr>
                <p:cNvPr id="31" name="모서리가 둥근 직사각형 30"/>
                <p:cNvSpPr/>
                <p:nvPr/>
              </p:nvSpPr>
              <p:spPr>
                <a:xfrm>
                  <a:off x="539725" y="5805264"/>
                  <a:ext cx="864096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청구 구분코드</a:t>
                  </a:r>
                </a:p>
              </p:txBody>
            </p:sp>
            <p:sp>
              <p:nvSpPr>
                <p:cNvPr id="58" name="모서리가 둥근 직사각형 57"/>
                <p:cNvSpPr/>
                <p:nvPr/>
              </p:nvSpPr>
              <p:spPr>
                <a:xfrm>
                  <a:off x="1691680" y="5661248"/>
                  <a:ext cx="864096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청구구분</a:t>
                  </a:r>
                  <a:r>
                    <a:rPr lang="en-US" altLang="ko-KR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: 99</a:t>
                  </a:r>
                  <a:endParaRPr lang="ko-KR" altLang="en-US" sz="9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59" name="모서리가 둥근 직사각형 58"/>
                <p:cNvSpPr/>
                <p:nvPr/>
              </p:nvSpPr>
              <p:spPr>
                <a:xfrm>
                  <a:off x="1691680" y="6093296"/>
                  <a:ext cx="864096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청구구분</a:t>
                  </a:r>
                  <a:r>
                    <a:rPr lang="en-US" altLang="ko-KR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: 99x</a:t>
                  </a:r>
                  <a:endParaRPr lang="ko-KR" altLang="en-US" sz="9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cxnSp>
              <p:nvCxnSpPr>
                <p:cNvPr id="101" name="꺾인 연결선 100"/>
                <p:cNvCxnSpPr>
                  <a:stCxn id="58" idx="1"/>
                  <a:endCxn id="31" idx="3"/>
                </p:cNvCxnSpPr>
                <p:nvPr/>
              </p:nvCxnSpPr>
              <p:spPr>
                <a:xfrm rot="10800000" flipV="1">
                  <a:off x="1403822" y="5805264"/>
                  <a:ext cx="287859" cy="144016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꺾인 연결선 103"/>
                <p:cNvCxnSpPr>
                  <a:stCxn id="59" idx="1"/>
                  <a:endCxn id="31" idx="3"/>
                </p:cNvCxnSpPr>
                <p:nvPr/>
              </p:nvCxnSpPr>
              <p:spPr>
                <a:xfrm rot="10800000">
                  <a:off x="1403822" y="5949280"/>
                  <a:ext cx="287859" cy="288032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그룹 10"/>
              <p:cNvGrpSpPr/>
              <p:nvPr/>
            </p:nvGrpSpPr>
            <p:grpSpPr>
              <a:xfrm>
                <a:off x="555340" y="4221088"/>
                <a:ext cx="3296580" cy="1584176"/>
                <a:chOff x="555340" y="4005064"/>
                <a:chExt cx="3296580" cy="1584176"/>
              </a:xfrm>
            </p:grpSpPr>
            <p:sp>
              <p:nvSpPr>
                <p:cNvPr id="27" name="모서리가 둥근 직사각형 26"/>
                <p:cNvSpPr/>
                <p:nvPr/>
              </p:nvSpPr>
              <p:spPr>
                <a:xfrm>
                  <a:off x="555340" y="4749512"/>
                  <a:ext cx="864096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진료비</a:t>
                  </a:r>
                </a:p>
              </p:txBody>
            </p:sp>
            <p:sp>
              <p:nvSpPr>
                <p:cNvPr id="28" name="모서리가 둥근 직사각형 27"/>
                <p:cNvSpPr/>
                <p:nvPr/>
              </p:nvSpPr>
              <p:spPr>
                <a:xfrm>
                  <a:off x="1679029" y="5085184"/>
                  <a:ext cx="864096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공단부담금</a:t>
                  </a:r>
                </a:p>
              </p:txBody>
            </p:sp>
            <p:sp>
              <p:nvSpPr>
                <p:cNvPr id="29" name="모서리가 둥근 직사각형 28"/>
                <p:cNvSpPr/>
                <p:nvPr/>
              </p:nvSpPr>
              <p:spPr>
                <a:xfrm>
                  <a:off x="1684255" y="4221088"/>
                  <a:ext cx="864096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본인부담금</a:t>
                  </a:r>
                </a:p>
              </p:txBody>
            </p:sp>
            <p:sp>
              <p:nvSpPr>
                <p:cNvPr id="60" name="모서리가 둥근 직사각형 59"/>
                <p:cNvSpPr/>
                <p:nvPr/>
              </p:nvSpPr>
              <p:spPr>
                <a:xfrm>
                  <a:off x="2987824" y="4005064"/>
                  <a:ext cx="864096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약품비 포함</a:t>
                  </a:r>
                </a:p>
              </p:txBody>
            </p:sp>
            <p:sp>
              <p:nvSpPr>
                <p:cNvPr id="61" name="모서리가 둥근 직사각형 60"/>
                <p:cNvSpPr/>
                <p:nvPr/>
              </p:nvSpPr>
              <p:spPr>
                <a:xfrm>
                  <a:off x="2987824" y="4437112"/>
                  <a:ext cx="860194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약품비 포함 </a:t>
                  </a:r>
                  <a:r>
                    <a:rPr lang="en-US" altLang="ko-KR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x</a:t>
                  </a:r>
                  <a:endParaRPr lang="ko-KR" altLang="en-US" sz="9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4" name="모서리가 둥근 직사각형 63"/>
                <p:cNvSpPr/>
                <p:nvPr/>
              </p:nvSpPr>
              <p:spPr>
                <a:xfrm>
                  <a:off x="2987824" y="4869160"/>
                  <a:ext cx="864096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약품비 포함</a:t>
                  </a:r>
                </a:p>
              </p:txBody>
            </p:sp>
            <p:sp>
              <p:nvSpPr>
                <p:cNvPr id="65" name="모서리가 둥근 직사각형 64"/>
                <p:cNvSpPr/>
                <p:nvPr/>
              </p:nvSpPr>
              <p:spPr>
                <a:xfrm>
                  <a:off x="2987824" y="5301208"/>
                  <a:ext cx="860194" cy="28803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약품비 포함 </a:t>
                  </a:r>
                  <a:r>
                    <a:rPr lang="en-US" altLang="ko-KR" sz="9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x</a:t>
                  </a:r>
                  <a:endParaRPr lang="ko-KR" altLang="en-US" sz="9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cxnSp>
              <p:nvCxnSpPr>
                <p:cNvPr id="95" name="꺾인 연결선 94"/>
                <p:cNvCxnSpPr>
                  <a:stCxn id="29" idx="1"/>
                  <a:endCxn id="27" idx="3"/>
                </p:cNvCxnSpPr>
                <p:nvPr/>
              </p:nvCxnSpPr>
              <p:spPr>
                <a:xfrm rot="10800000" flipV="1">
                  <a:off x="1419437" y="4365104"/>
                  <a:ext cx="264819" cy="528424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꺾인 연결선 97"/>
                <p:cNvCxnSpPr>
                  <a:stCxn id="28" idx="1"/>
                  <a:endCxn id="27" idx="3"/>
                </p:cNvCxnSpPr>
                <p:nvPr/>
              </p:nvCxnSpPr>
              <p:spPr>
                <a:xfrm rot="10800000">
                  <a:off x="1419437" y="4893528"/>
                  <a:ext cx="259593" cy="335672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꺾인 연결선 114"/>
                <p:cNvCxnSpPr>
                  <a:stCxn id="64" idx="1"/>
                  <a:endCxn id="28" idx="3"/>
                </p:cNvCxnSpPr>
                <p:nvPr/>
              </p:nvCxnSpPr>
              <p:spPr>
                <a:xfrm rot="10800000" flipV="1">
                  <a:off x="2543126" y="5013176"/>
                  <a:ext cx="444699" cy="216024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꺾인 연결선 118"/>
                <p:cNvCxnSpPr>
                  <a:stCxn id="65" idx="1"/>
                  <a:endCxn id="28" idx="3"/>
                </p:cNvCxnSpPr>
                <p:nvPr/>
              </p:nvCxnSpPr>
              <p:spPr>
                <a:xfrm rot="10800000">
                  <a:off x="2543126" y="5229200"/>
                  <a:ext cx="444699" cy="216024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모서리가 둥근 직사각형 11"/>
              <p:cNvSpPr/>
              <p:nvPr/>
            </p:nvSpPr>
            <p:spPr>
              <a:xfrm>
                <a:off x="457750" y="4132767"/>
                <a:ext cx="3648942" cy="2520280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none" rtlCol="0" anchor="ctr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endPara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82" name="TextBox 81"/>
            <p:cNvSpPr txBox="1"/>
            <p:nvPr/>
          </p:nvSpPr>
          <p:spPr>
            <a:xfrm>
              <a:off x="964326" y="4244792"/>
              <a:ext cx="781560" cy="3142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1200" b="1" dirty="0"/>
                <a:t>기대결과</a:t>
              </a:r>
              <a:endParaRPr lang="en-US" altLang="ko-KR" sz="1200" b="1" dirty="0"/>
            </a:p>
          </p:txBody>
        </p:sp>
      </p:grpSp>
      <p:sp>
        <p:nvSpPr>
          <p:cNvPr id="20" name="직사각형 19"/>
          <p:cNvSpPr/>
          <p:nvPr/>
        </p:nvSpPr>
        <p:spPr>
          <a:xfrm>
            <a:off x="1545842" y="6495147"/>
            <a:ext cx="302615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 dirty="0"/>
              <a:t>본인부담금 = (총진료비 - 사용장려금) * 0.3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52972" y="4437112"/>
            <a:ext cx="111155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</a:rPr>
              <a:t>~20.02.29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847288" y="4827930"/>
            <a:ext cx="111155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</a:rPr>
              <a:t>~20.03.01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845108" y="5158012"/>
            <a:ext cx="111155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</a:rPr>
              <a:t>~20.03.01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851920" y="5506665"/>
            <a:ext cx="111155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</a:rPr>
              <a:t>~20.02.29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099442" y="5870330"/>
            <a:ext cx="111155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</a:rPr>
              <a:t>~20.03.01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089534" y="6157540"/>
            <a:ext cx="111155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</a:rPr>
              <a:t>~20.02.29 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607752" y="6169829"/>
            <a:ext cx="467380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000" b="1" dirty="0">
                <a:sym typeface="Wingdings" panose="05000000000000000000" pitchFamily="2" charset="2"/>
              </a:rPr>
              <a:t> ‘55’</a:t>
            </a:r>
            <a:r>
              <a:rPr lang="ko-KR" altLang="en-US" sz="1000" b="1" dirty="0">
                <a:sym typeface="Wingdings" panose="05000000000000000000" pitchFamily="2" charset="2"/>
              </a:rPr>
              <a:t> </a:t>
            </a:r>
            <a:endParaRPr lang="ko-KR" altLang="en-US" sz="1000" b="1" dirty="0"/>
          </a:p>
        </p:txBody>
      </p:sp>
      <p:sp>
        <p:nvSpPr>
          <p:cNvPr id="85" name="모서리가 둥근 직사각형 84"/>
          <p:cNvSpPr/>
          <p:nvPr/>
        </p:nvSpPr>
        <p:spPr>
          <a:xfrm>
            <a:off x="6660232" y="4386091"/>
            <a:ext cx="864096" cy="28803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차상위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19672" y="1587455"/>
            <a:ext cx="4133305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hlinkClick r:id="rId2"/>
              </a:rPr>
              <a:t> #22973 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퇴장방지의약품 심평원 고시 </a:t>
            </a:r>
            <a:r>
              <a:rPr lang="en-US" altLang="ko-KR" sz="1200" b="1" dirty="0"/>
              <a:t>(2020.02) 2/6</a:t>
            </a:r>
            <a:endParaRPr lang="en-US" altLang="ko-KR" sz="1200" dirty="0">
              <a:latin typeface="+mn-ea"/>
            </a:endParaRPr>
          </a:p>
        </p:txBody>
      </p:sp>
      <p:sp>
        <p:nvSpPr>
          <p:cNvPr id="87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93" name="텍스트 개체 틀 4"/>
          <p:cNvSpPr txBox="1">
            <a:spLocks/>
          </p:cNvSpPr>
          <p:nvPr/>
        </p:nvSpPr>
        <p:spPr>
          <a:xfrm>
            <a:off x="771196" y="744264"/>
            <a:ext cx="417639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실습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1600" y="1268760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3-2-2. </a:t>
            </a:r>
            <a:r>
              <a:rPr lang="ko-KR" altLang="en-US" sz="1400" b="1" dirty="0"/>
              <a:t>하나로</a:t>
            </a:r>
            <a:r>
              <a:rPr lang="en-US" altLang="ko-KR" sz="1400" b="1" dirty="0"/>
              <a:t>OK </a:t>
            </a:r>
            <a:r>
              <a:rPr lang="ko-KR" altLang="en-US" sz="1400" b="1" dirty="0"/>
              <a:t>정기업데이트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850798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835696" y="1844824"/>
            <a:ext cx="1611586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2) </a:t>
            </a:r>
            <a:r>
              <a:rPr lang="ko-KR" altLang="en-US" sz="1200" b="1" dirty="0"/>
              <a:t>테스트 컨디션 식별</a:t>
            </a:r>
            <a:endParaRPr lang="en-US" altLang="ko-KR" sz="1200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878570"/>
              </p:ext>
            </p:extLst>
          </p:nvPr>
        </p:nvGraphicFramePr>
        <p:xfrm>
          <a:off x="395536" y="2132856"/>
          <a:ext cx="2744349" cy="43358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TC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변경시점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처방형식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보험구분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tc19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연동모듈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변경시점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처방형식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tc29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279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17" marR="5817" marT="5817" marB="0" anchor="ctr"/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800352"/>
              </p:ext>
            </p:extLst>
          </p:nvPr>
        </p:nvGraphicFramePr>
        <p:xfrm>
          <a:off x="3275856" y="2132856"/>
          <a:ext cx="2808311" cy="41115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1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TC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변경시점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보험구분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tc39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변경시점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연동모듈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20.2.29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tc49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20.3.1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처방형식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보험구분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tc59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417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45" marR="6445" marT="6445" marB="0" anchor="ctr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282085"/>
              </p:ext>
            </p:extLst>
          </p:nvPr>
        </p:nvGraphicFramePr>
        <p:xfrm>
          <a:off x="6228184" y="2132856"/>
          <a:ext cx="2808312" cy="40013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TC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r>
                        <a:rPr lang="en-US" altLang="ko-KR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처방형식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연동모듈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tc69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보험구분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연동모듈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tc79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tc85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379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tc89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72" marR="6272" marT="6272" marB="0" anchor="ctr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619672" y="1556792"/>
            <a:ext cx="4133305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hlinkClick r:id="rId2"/>
              </a:rPr>
              <a:t> #22973 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퇴장방지의약품 심평원 고시 </a:t>
            </a:r>
            <a:r>
              <a:rPr lang="en-US" altLang="ko-KR" sz="1200" b="1" dirty="0"/>
              <a:t>(2020.02) 3/6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1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12" name="텍스트 개체 틀 4"/>
          <p:cNvSpPr txBox="1">
            <a:spLocks/>
          </p:cNvSpPr>
          <p:nvPr/>
        </p:nvSpPr>
        <p:spPr>
          <a:xfrm>
            <a:off x="771196" y="744264"/>
            <a:ext cx="417639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1683" y="6165304"/>
            <a:ext cx="322481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>
                <a:sym typeface="Wingdings" panose="05000000000000000000" pitchFamily="2" charset="2"/>
              </a:rPr>
              <a:t> </a:t>
            </a:r>
            <a:r>
              <a:rPr lang="ko-KR" altLang="en-US" sz="1400" b="1" dirty="0"/>
              <a:t>총</a:t>
            </a:r>
            <a:r>
              <a:rPr lang="en-US" altLang="ko-KR" sz="1400" b="1" dirty="0"/>
              <a:t> 89</a:t>
            </a:r>
            <a:r>
              <a:rPr lang="ko-KR" altLang="en-US" sz="1400" b="1" dirty="0"/>
              <a:t>개의 테스트컨디션 식별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600" y="1268760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3-2-2. </a:t>
            </a:r>
            <a:r>
              <a:rPr lang="ko-KR" altLang="en-US" sz="1400" b="1" dirty="0"/>
              <a:t>하나로</a:t>
            </a:r>
            <a:r>
              <a:rPr lang="en-US" altLang="ko-KR" sz="1400" b="1" dirty="0"/>
              <a:t>OK </a:t>
            </a:r>
            <a:r>
              <a:rPr lang="ko-KR" altLang="en-US" sz="1400" b="1" dirty="0"/>
              <a:t>정기업데이트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856293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1835696" y="1894275"/>
            <a:ext cx="2028367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3) </a:t>
            </a:r>
            <a:r>
              <a:rPr lang="ko-KR" altLang="en-US" sz="1200" b="1" dirty="0"/>
              <a:t>통합 테스트케이스 설계 </a:t>
            </a:r>
            <a:endParaRPr lang="en-US" altLang="ko-KR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619672" y="1556792"/>
            <a:ext cx="4133305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hlinkClick r:id="rId2"/>
              </a:rPr>
              <a:t> #22973 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퇴장방지의약품 심평원 고시 </a:t>
            </a:r>
            <a:r>
              <a:rPr lang="en-US" altLang="ko-KR" sz="1200" b="1" dirty="0"/>
              <a:t>(2020.02) 4/6</a:t>
            </a:r>
            <a:endParaRPr lang="en-US" altLang="ko-KR" sz="1200" dirty="0"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857495"/>
              </p:ext>
            </p:extLst>
          </p:nvPr>
        </p:nvGraphicFramePr>
        <p:xfrm>
          <a:off x="899592" y="2276872"/>
          <a:ext cx="7920880" cy="4021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9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32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47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보험구분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Depth2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연동모듈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Depth3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처방형식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Depth4</a:t>
                      </a:r>
                      <a:b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퇴장방지유무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 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변경시점 및 기타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 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~2020.02.29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진료비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</a:t>
                      </a:r>
                      <a:r>
                        <a:rPr lang="en-US" altLang="ko-KR" sz="700" u="none" strike="noStrike" dirty="0">
                          <a:effectLst/>
                        </a:rPr>
                        <a:t>: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동일 </a:t>
                      </a:r>
                      <a:endParaRPr lang="en-US" altLang="ko-KR" sz="7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X:  642102300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아닌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 후 진료비 확인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일반 환자 청구조회 안 됨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영수증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동일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조제료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총약제비 동일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9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세부산정내역서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동일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조제료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총약제비 동일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일반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청구명세서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청구조회 후 청구파일검사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일반 환자 청구조회 안 됨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9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~2020.02.29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들어간 처치버튼 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100~1000)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수납에서 영수증 발급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</a:t>
                      </a:r>
                      <a:r>
                        <a:rPr lang="en-US" altLang="ko-KR" sz="700" u="none" strike="noStrike" dirty="0">
                          <a:effectLst/>
                        </a:rPr>
                        <a:t>: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사용장려금 포함</a:t>
                      </a:r>
                      <a:r>
                        <a:rPr lang="en-US" altLang="ko-KR" sz="700" u="none" strike="noStrike" dirty="0">
                          <a:effectLst/>
                        </a:rPr>
                        <a:t>) * 0.3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조제료 약품비</a:t>
                      </a:r>
                      <a:r>
                        <a:rPr lang="en-US" altLang="ko-KR" sz="700" u="none" strike="noStrike" dirty="0">
                          <a:effectLst/>
                        </a:rPr>
                        <a:t>: </a:t>
                      </a:r>
                      <a:r>
                        <a:rPr lang="ko-KR" altLang="en-US" sz="700" u="none" strike="noStrike" dirty="0">
                          <a:effectLst/>
                        </a:rPr>
                        <a:t>사용장려금 *</a:t>
                      </a:r>
                      <a:r>
                        <a:rPr lang="en-US" altLang="ko-KR" sz="700" u="none" strike="noStrike" dirty="0">
                          <a:effectLst/>
                        </a:rPr>
                        <a:t>0.3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~2020.02.29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 후 진료비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</a:t>
                      </a:r>
                      <a:r>
                        <a:rPr lang="en-US" altLang="ko-KR" sz="700" u="none" strike="noStrike" dirty="0">
                          <a:effectLst/>
                        </a:rPr>
                        <a:t>: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사용장려금 포함</a:t>
                      </a:r>
                      <a:r>
                        <a:rPr lang="en-US" altLang="ko-KR" sz="700" u="none" strike="noStrike" dirty="0">
                          <a:effectLst/>
                        </a:rPr>
                        <a:t>) * 0.3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조제료 약품비</a:t>
                      </a:r>
                      <a:r>
                        <a:rPr lang="en-US" altLang="ko-KR" sz="700" u="none" strike="noStrike" dirty="0">
                          <a:effectLst/>
                        </a:rPr>
                        <a:t>: </a:t>
                      </a:r>
                      <a:r>
                        <a:rPr lang="ko-KR" altLang="en-US" sz="700" u="none" strike="noStrike" dirty="0">
                          <a:effectLst/>
                        </a:rPr>
                        <a:t>표시안됨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9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진료비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* </a:t>
                      </a:r>
                      <a:r>
                        <a:rPr lang="en-US" altLang="ko-KR" sz="700" u="none" strike="noStrike" dirty="0">
                          <a:effectLst/>
                        </a:rPr>
                        <a:t>0.3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조제료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총약제비 *</a:t>
                      </a:r>
                      <a:r>
                        <a:rPr lang="en-US" altLang="ko-KR" sz="700" u="none" strike="noStrike" dirty="0">
                          <a:effectLst/>
                        </a:rPr>
                        <a:t>0.3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9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청구명세서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청구조회 후 진료비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청구명세서 특정내역  </a:t>
                      </a:r>
                      <a:r>
                        <a:rPr lang="en-US" altLang="ko-KR" sz="700" u="none" strike="noStrike" dirty="0">
                          <a:effectLst/>
                        </a:rPr>
                        <a:t>JS002</a:t>
                      </a:r>
                      <a:r>
                        <a:rPr lang="ko-KR" altLang="en-US" sz="700" u="none" strike="noStrike" dirty="0">
                          <a:effectLst/>
                        </a:rPr>
                        <a:t>에 </a:t>
                      </a:r>
                      <a:r>
                        <a:rPr lang="en-US" altLang="ko-KR" sz="700" u="none" strike="noStrike" dirty="0">
                          <a:effectLst/>
                        </a:rPr>
                        <a:t>55 </a:t>
                      </a:r>
                      <a:r>
                        <a:rPr lang="ko-KR" altLang="en-US" sz="700" u="none" strike="noStrike" dirty="0">
                          <a:effectLst/>
                        </a:rPr>
                        <a:t>기재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12" name="텍스트 개체 틀 4"/>
          <p:cNvSpPr txBox="1">
            <a:spLocks/>
          </p:cNvSpPr>
          <p:nvPr/>
        </p:nvSpPr>
        <p:spPr>
          <a:xfrm>
            <a:off x="771196" y="744264"/>
            <a:ext cx="417639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실습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268760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3-2-2. </a:t>
            </a:r>
            <a:r>
              <a:rPr lang="ko-KR" altLang="en-US" sz="1400" b="1" dirty="0"/>
              <a:t>하나로</a:t>
            </a:r>
            <a:r>
              <a:rPr lang="en-US" altLang="ko-KR" sz="1400" b="1" dirty="0"/>
              <a:t>OK </a:t>
            </a:r>
            <a:r>
              <a:rPr lang="ko-KR" altLang="en-US" sz="1400" b="1" dirty="0"/>
              <a:t>정기업데이트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638152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1835696" y="1894275"/>
            <a:ext cx="2028367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3) </a:t>
            </a:r>
            <a:r>
              <a:rPr lang="ko-KR" altLang="en-US" sz="1200" b="1" dirty="0"/>
              <a:t>통합 테스트케이스 설계 </a:t>
            </a:r>
            <a:endParaRPr lang="en-US" altLang="ko-KR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619672" y="1556792"/>
            <a:ext cx="4133305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hlinkClick r:id="rId2"/>
              </a:rPr>
              <a:t> #22973 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퇴장방지의약품 심평원 고시 </a:t>
            </a:r>
            <a:r>
              <a:rPr lang="en-US" altLang="ko-KR" sz="1200" b="1" dirty="0"/>
              <a:t>(2020.02) 5/6</a:t>
            </a:r>
            <a:endParaRPr lang="en-US" altLang="ko-KR" sz="1200" dirty="0"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537916"/>
              </p:ext>
            </p:extLst>
          </p:nvPr>
        </p:nvGraphicFramePr>
        <p:xfrm>
          <a:off x="899592" y="2276872"/>
          <a:ext cx="7920880" cy="391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752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271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보험구분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Depth2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연동모듈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Depth3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처방형식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Depth4</a:t>
                      </a:r>
                      <a:b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퇴장방지유무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 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변경시점 및 기타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 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3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청구명세서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X:  642102300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아닌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청구조회 후 청구 명세서 확인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청구명세서 특정내역  </a:t>
                      </a:r>
                      <a:r>
                        <a:rPr lang="en-US" altLang="ko-KR" sz="700" u="none" strike="noStrike" dirty="0">
                          <a:effectLst/>
                        </a:rPr>
                        <a:t>JS002</a:t>
                      </a:r>
                      <a:r>
                        <a:rPr lang="ko-KR" altLang="en-US" sz="700" u="none" strike="noStrike" dirty="0">
                          <a:effectLst/>
                        </a:rPr>
                        <a:t>에 </a:t>
                      </a:r>
                      <a:r>
                        <a:rPr lang="en-US" altLang="ko-KR" sz="700" u="none" strike="noStrike" dirty="0">
                          <a:effectLst/>
                        </a:rPr>
                        <a:t>99 </a:t>
                      </a:r>
                      <a:r>
                        <a:rPr lang="ko-KR" altLang="en-US" sz="700" u="none" strike="noStrike" dirty="0">
                          <a:effectLst/>
                        </a:rPr>
                        <a:t>기재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3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보험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X:  642102300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아닌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세부산정내역서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* </a:t>
                      </a:r>
                      <a:r>
                        <a:rPr lang="en-US" altLang="ko-KR" sz="700" u="none" strike="noStrike" dirty="0">
                          <a:effectLst/>
                        </a:rPr>
                        <a:t>0.3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조제료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총약제비 *</a:t>
                      </a:r>
                      <a:r>
                        <a:rPr lang="en-US" altLang="ko-KR" sz="700" u="none" strike="noStrike" dirty="0">
                          <a:effectLst/>
                        </a:rPr>
                        <a:t>0.3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3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r>
                        <a:rPr lang="en-US" altLang="ko-KR" sz="700" u="none" strike="noStrike" dirty="0">
                          <a:effectLst/>
                        </a:rPr>
                        <a:t>2</a:t>
                      </a:r>
                      <a:r>
                        <a:rPr lang="ko-KR" altLang="en-US" sz="700" u="none" strike="noStrike" dirty="0">
                          <a:effectLst/>
                        </a:rPr>
                        <a:t>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세부산정내역서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1000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r>
                        <a:rPr lang="en-US" altLang="ko-KR" sz="700" u="none" strike="noStrike" dirty="0">
                          <a:effectLst/>
                        </a:rPr>
                        <a:t>/1500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조재료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r>
                        <a:rPr lang="en-US" altLang="ko-KR" sz="700" u="none" strike="noStrike" dirty="0">
                          <a:effectLst/>
                        </a:rPr>
                        <a:t>or </a:t>
                      </a:r>
                      <a:r>
                        <a:rPr lang="ko-KR" altLang="en-US" sz="700" u="none" strike="noStrike" dirty="0">
                          <a:effectLst/>
                        </a:rPr>
                        <a:t>공란 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3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r>
                        <a:rPr lang="en-US" altLang="ko-KR" sz="700" u="none" strike="noStrike" dirty="0">
                          <a:effectLst/>
                        </a:rPr>
                        <a:t>2</a:t>
                      </a:r>
                      <a:r>
                        <a:rPr lang="ko-KR" altLang="en-US" sz="700" u="none" strike="noStrike" dirty="0">
                          <a:effectLst/>
                        </a:rPr>
                        <a:t>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~2020.02.29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들어간 처치버튼 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진료비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1000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r>
                        <a:rPr lang="en-US" altLang="ko-KR" sz="700" u="none" strike="noStrike" dirty="0">
                          <a:effectLst/>
                        </a:rPr>
                        <a:t>/1500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3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r>
                        <a:rPr lang="en-US" altLang="ko-KR" sz="700" u="none" strike="noStrike" dirty="0">
                          <a:effectLst/>
                        </a:rPr>
                        <a:t>2</a:t>
                      </a:r>
                      <a:r>
                        <a:rPr lang="ko-KR" altLang="en-US" sz="700" u="none" strike="noStrike" dirty="0">
                          <a:effectLst/>
                        </a:rPr>
                        <a:t>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X:  642102300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아닌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청구조회 후 진료비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1000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r>
                        <a:rPr lang="en-US" altLang="ko-KR" sz="700" u="none" strike="noStrike" dirty="0">
                          <a:effectLst/>
                        </a:rPr>
                        <a:t>/1500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예외란 </a:t>
                      </a:r>
                      <a:r>
                        <a:rPr lang="en-US" altLang="ko-KR" sz="700" u="none" strike="noStrike" dirty="0">
                          <a:effectLst/>
                        </a:rPr>
                        <a:t>99 </a:t>
                      </a:r>
                      <a:r>
                        <a:rPr lang="ko-KR" altLang="en-US" sz="700" u="none" strike="noStrike" dirty="0">
                          <a:effectLst/>
                        </a:rPr>
                        <a:t>붙음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3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r>
                        <a:rPr lang="en-US" altLang="ko-KR" sz="700" u="none" strike="noStrike" dirty="0">
                          <a:effectLst/>
                        </a:rPr>
                        <a:t>2</a:t>
                      </a:r>
                      <a:r>
                        <a:rPr lang="ko-KR" altLang="en-US" sz="700" u="none" strike="noStrike" dirty="0">
                          <a:effectLst/>
                        </a:rPr>
                        <a:t>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X:  642102300 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아닌 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수납에서 영수증 발급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행위총합*행위가산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1000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r>
                        <a:rPr lang="en-US" altLang="ko-KR" sz="700" u="none" strike="noStrike" dirty="0">
                          <a:effectLst/>
                        </a:rPr>
                        <a:t>/1500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조재료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r>
                        <a:rPr lang="en-US" altLang="ko-KR" sz="700" u="none" strike="noStrike" dirty="0">
                          <a:effectLst/>
                        </a:rPr>
                        <a:t>or </a:t>
                      </a:r>
                      <a:r>
                        <a:rPr lang="ko-KR" altLang="en-US" sz="700" u="none" strike="noStrike" dirty="0">
                          <a:effectLst/>
                        </a:rPr>
                        <a:t>공란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3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의료급여</a:t>
                      </a:r>
                      <a:r>
                        <a:rPr lang="en-US" altLang="ko-KR" sz="700" u="none" strike="noStrike" dirty="0">
                          <a:effectLst/>
                        </a:rPr>
                        <a:t>2</a:t>
                      </a:r>
                      <a:r>
                        <a:rPr lang="ko-KR" altLang="en-US" sz="700" u="none" strike="noStrike" dirty="0">
                          <a:effectLst/>
                        </a:rPr>
                        <a:t>종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~2020.02.29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들어간 처치버튼 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수납에서 영수증 발급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행위총합*행위가산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1000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r>
                        <a:rPr lang="en-US" altLang="ko-KR" sz="700" u="none" strike="noStrike" dirty="0">
                          <a:effectLst/>
                        </a:rPr>
                        <a:t>/1500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조재료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r>
                        <a:rPr lang="en-US" altLang="ko-KR" sz="700" u="none" strike="noStrike" dirty="0">
                          <a:effectLst/>
                        </a:rPr>
                        <a:t>or </a:t>
                      </a:r>
                      <a:r>
                        <a:rPr lang="ko-KR" altLang="en-US" sz="700" u="none" strike="noStrike" dirty="0">
                          <a:effectLst/>
                        </a:rPr>
                        <a:t>공란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7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r>
                        <a:rPr lang="en-US" sz="700" u="none" strike="noStrike" dirty="0">
                          <a:effectLst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세부산정내역서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조재료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r>
                        <a:rPr lang="en-US" altLang="ko-KR" sz="700" u="none" strike="noStrike" dirty="0">
                          <a:effectLst/>
                        </a:rPr>
                        <a:t>or </a:t>
                      </a:r>
                      <a:r>
                        <a:rPr lang="ko-KR" altLang="en-US" sz="700" u="none" strike="noStrike" dirty="0">
                          <a:effectLst/>
                        </a:rPr>
                        <a:t>공란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7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r>
                        <a:rPr lang="en-US" sz="700" u="none" strike="noStrike" dirty="0">
                          <a:effectLst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영수증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처방</a:t>
                      </a:r>
                      <a:r>
                        <a:rPr lang="en-US" sz="700" u="none" strike="noStrike" dirty="0">
                          <a:effectLst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수납에서 영수증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조재료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r>
                        <a:rPr lang="en-US" altLang="ko-KR" sz="700" u="none" strike="noStrike" dirty="0">
                          <a:effectLst/>
                        </a:rPr>
                        <a:t>or </a:t>
                      </a:r>
                      <a:r>
                        <a:rPr lang="ko-KR" altLang="en-US" sz="700" u="none" strike="noStrike" dirty="0">
                          <a:effectLst/>
                        </a:rPr>
                        <a:t>공란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12" name="텍스트 개체 틀 4"/>
          <p:cNvSpPr txBox="1">
            <a:spLocks/>
          </p:cNvSpPr>
          <p:nvPr/>
        </p:nvSpPr>
        <p:spPr>
          <a:xfrm>
            <a:off x="771196" y="744264"/>
            <a:ext cx="417639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실습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1268760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3-2-2. </a:t>
            </a:r>
            <a:r>
              <a:rPr lang="ko-KR" altLang="en-US" sz="1400" b="1" dirty="0"/>
              <a:t>하나로</a:t>
            </a:r>
            <a:r>
              <a:rPr lang="en-US" altLang="ko-KR" sz="1400" b="1" dirty="0"/>
              <a:t>OK </a:t>
            </a:r>
            <a:r>
              <a:rPr lang="ko-KR" altLang="en-US" sz="1400" b="1" dirty="0"/>
              <a:t>정기업데이트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594240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/>
          <p:cNvSpPr txBox="1"/>
          <p:nvPr/>
        </p:nvSpPr>
        <p:spPr>
          <a:xfrm>
            <a:off x="1835696" y="1894275"/>
            <a:ext cx="2028367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200" b="1" dirty="0"/>
              <a:t>3) </a:t>
            </a:r>
            <a:r>
              <a:rPr lang="ko-KR" altLang="en-US" sz="1200" b="1" dirty="0"/>
              <a:t>통합 테스트케이스 설계 </a:t>
            </a:r>
            <a:endParaRPr lang="en-US" altLang="ko-KR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619672" y="1556792"/>
            <a:ext cx="4133305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hlinkClick r:id="rId2"/>
              </a:rPr>
              <a:t> #22973 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퇴장방지의약품 심평원 고시 </a:t>
            </a:r>
            <a:r>
              <a:rPr lang="en-US" altLang="ko-KR" sz="1200" b="1" dirty="0"/>
              <a:t>(2020.02) 6/6</a:t>
            </a:r>
            <a:endParaRPr lang="en-US" altLang="ko-KR" sz="1200" dirty="0"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581236"/>
              </p:ext>
            </p:extLst>
          </p:nvPr>
        </p:nvGraphicFramePr>
        <p:xfrm>
          <a:off x="899592" y="2276872"/>
          <a:ext cx="7920880" cy="22322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752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271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2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 1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보험구분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Depth2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연동모듈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Depth3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처방형식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Depth4</a:t>
                      </a:r>
                      <a:b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퇴장방지유무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 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Pre-condition</a:t>
                      </a:r>
                      <a:b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변경시점 및 기타</a:t>
                      </a:r>
                      <a:r>
                        <a:rPr lang="en-US" altLang="ko-K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 </a:t>
                      </a:r>
                      <a:endParaRPr lang="en-US" altLang="ko-KR" sz="7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Test Step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19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r>
                        <a:rPr lang="en-US" sz="700" u="none" strike="noStrike" dirty="0">
                          <a:effectLst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진료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원내처방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~2020.02.29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들어간 처치버튼 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진료비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조재료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r>
                        <a:rPr lang="en-US" sz="700" u="none" strike="noStrike" dirty="0">
                          <a:effectLst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세부산정내역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~2020.02.29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 들어간 처치버튼 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진료비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투약 및 조재료 약품비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21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r>
                        <a:rPr lang="en-US" sz="700" u="none" strike="noStrike" dirty="0">
                          <a:effectLst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 후 진료비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총진료비 </a:t>
                      </a:r>
                      <a:r>
                        <a:rPr lang="en-US" altLang="ko-KR" sz="700" u="none" strike="noStrike" dirty="0">
                          <a:effectLst/>
                        </a:rPr>
                        <a:t>= </a:t>
                      </a:r>
                      <a:r>
                        <a:rPr lang="ko-KR" altLang="en-US" sz="700" u="none" strike="noStrike" dirty="0">
                          <a:effectLst/>
                        </a:rPr>
                        <a:t>행위총합*가산</a:t>
                      </a:r>
                      <a:r>
                        <a:rPr lang="en-US" altLang="ko-KR" sz="700" u="none" strike="noStrike" dirty="0">
                          <a:effectLst/>
                        </a:rPr>
                        <a:t>(1.15)+</a:t>
                      </a:r>
                      <a:r>
                        <a:rPr lang="ko-KR" altLang="en-US" sz="700" u="none" strike="noStrike" dirty="0">
                          <a:effectLst/>
                        </a:rPr>
                        <a:t>약재총합</a:t>
                      </a:r>
                      <a:r>
                        <a:rPr lang="en-US" altLang="ko-KR" sz="700" u="none" strike="noStrike" dirty="0">
                          <a:effectLst/>
                        </a:rPr>
                        <a:t>+</a:t>
                      </a:r>
                      <a:r>
                        <a:rPr lang="ko-KR" altLang="en-US" sz="700" u="none" strike="noStrike" dirty="0">
                          <a:effectLst/>
                        </a:rPr>
                        <a:t>재료총합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본인부담금 </a:t>
                      </a:r>
                      <a:r>
                        <a:rPr lang="en-US" altLang="ko-KR" sz="700" u="none" strike="noStrike" dirty="0">
                          <a:effectLst/>
                        </a:rPr>
                        <a:t>= 0</a:t>
                      </a:r>
                      <a:r>
                        <a:rPr lang="ko-KR" altLang="en-US" sz="700" u="none" strike="noStrike" dirty="0">
                          <a:effectLst/>
                        </a:rPr>
                        <a:t>원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22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차상위</a:t>
                      </a:r>
                      <a:r>
                        <a:rPr lang="en-US" sz="700" u="none" strike="noStrike" dirty="0">
                          <a:effectLst/>
                        </a:rPr>
                        <a:t>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청구명세서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원외처방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</a:rPr>
                        <a:t>퇴장방지</a:t>
                      </a:r>
                      <a:r>
                        <a:rPr lang="en-US" sz="700" u="none" strike="noStrike" dirty="0">
                          <a:effectLst/>
                        </a:rPr>
                        <a:t>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시점</a:t>
                      </a:r>
                      <a:r>
                        <a:rPr lang="en-US" altLang="ko-KR" sz="700" u="none" strike="noStrike" dirty="0">
                          <a:effectLst/>
                        </a:rPr>
                        <a:t>: 2020.03.01~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퇴장방지코드</a:t>
                      </a:r>
                      <a:r>
                        <a:rPr lang="en-US" altLang="ko-KR" sz="700" u="none" strike="noStrike" dirty="0">
                          <a:effectLst/>
                        </a:rPr>
                        <a:t>: 642102570,642600320, 647800740 (</a:t>
                      </a:r>
                      <a:r>
                        <a:rPr lang="ko-KR" altLang="en-US" sz="700" u="none" strike="noStrike" dirty="0">
                          <a:effectLst/>
                        </a:rPr>
                        <a:t>자유선택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1. </a:t>
                      </a:r>
                      <a:r>
                        <a:rPr lang="ko-KR" altLang="en-US" sz="700" u="none" strike="noStrike" dirty="0">
                          <a:effectLst/>
                        </a:rPr>
                        <a:t>보험차트 </a:t>
                      </a:r>
                      <a:br>
                        <a:rPr lang="ko-KR" altLang="en-US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2. </a:t>
                      </a:r>
                      <a:r>
                        <a:rPr lang="ko-KR" altLang="en-US" sz="7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(ex: </a:t>
                      </a:r>
                      <a:r>
                        <a:rPr lang="ko-KR" altLang="en-US" sz="700" u="none" strike="noStrike" dirty="0">
                          <a:effectLst/>
                        </a:rPr>
                        <a:t>기본진료</a:t>
                      </a:r>
                      <a:r>
                        <a:rPr lang="en-US" altLang="ko-KR" sz="700" u="none" strike="noStrike" dirty="0">
                          <a:effectLst/>
                        </a:rPr>
                        <a:t>, </a:t>
                      </a:r>
                      <a:r>
                        <a:rPr lang="ko-KR" altLang="en-US" sz="700" u="none" strike="noStrike" dirty="0">
                          <a:effectLst/>
                        </a:rPr>
                        <a:t>즉</a:t>
                      </a:r>
                      <a:r>
                        <a:rPr lang="en-US" altLang="ko-KR" sz="700" u="none" strike="noStrike" dirty="0">
                          <a:effectLst/>
                        </a:rPr>
                        <a:t>1)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3. </a:t>
                      </a:r>
                      <a:r>
                        <a:rPr lang="ko-KR" altLang="en-US" sz="700" u="none" strike="noStrike" dirty="0">
                          <a:effectLst/>
                        </a:rPr>
                        <a:t>퇴장방지수가 입력 </a:t>
                      </a:r>
                      <a:r>
                        <a:rPr lang="en-US" altLang="ko-KR" sz="700" u="none" strike="noStrike" dirty="0">
                          <a:effectLst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</a:rPr>
                        <a:t>횟수 조절</a:t>
                      </a:r>
                      <a:r>
                        <a:rPr lang="en-US" altLang="ko-KR" sz="700" u="none" strike="noStrike" dirty="0">
                          <a:effectLst/>
                        </a:rPr>
                        <a:t>: 10~1000)   </a:t>
                      </a:r>
                      <a:br>
                        <a:rPr lang="en-US" altLang="ko-KR" sz="700" u="none" strike="noStrike" dirty="0">
                          <a:effectLst/>
                        </a:rPr>
                      </a:br>
                      <a:r>
                        <a:rPr lang="en-US" altLang="ko-KR" sz="700" u="none" strike="noStrike" dirty="0">
                          <a:effectLst/>
                        </a:rPr>
                        <a:t>4.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 명세서 확인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# </a:t>
                      </a:r>
                      <a:r>
                        <a:rPr lang="ko-KR" altLang="en-US" sz="700" u="none" strike="noStrike" dirty="0">
                          <a:effectLst/>
                        </a:rPr>
                        <a:t>청구명세서 특정내역  </a:t>
                      </a:r>
                      <a:r>
                        <a:rPr lang="en-US" altLang="ko-KR" sz="700" u="none" strike="noStrike" dirty="0">
                          <a:effectLst/>
                        </a:rPr>
                        <a:t>JS002</a:t>
                      </a:r>
                      <a:r>
                        <a:rPr lang="ko-KR" altLang="en-US" sz="700" u="none" strike="noStrike" dirty="0">
                          <a:effectLst/>
                        </a:rPr>
                        <a:t>에 </a:t>
                      </a:r>
                      <a:r>
                        <a:rPr lang="en-US" altLang="ko-KR" sz="700" u="none" strike="noStrike" dirty="0">
                          <a:effectLst/>
                        </a:rPr>
                        <a:t>99 </a:t>
                      </a:r>
                      <a:r>
                        <a:rPr lang="ko-KR" altLang="en-US" sz="700" u="none" strike="noStrike" dirty="0">
                          <a:effectLst/>
                        </a:rPr>
                        <a:t>기재 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83968" y="5805264"/>
            <a:ext cx="4608512" cy="349702"/>
          </a:xfrm>
          <a:prstGeom prst="rect">
            <a:avLst/>
          </a:prstGeom>
          <a:solidFill>
            <a:srgbClr val="FFFF00"/>
          </a:solidFill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적용설계 기법</a:t>
            </a:r>
            <a:r>
              <a:rPr lang="en-US" altLang="ko-KR" dirty="0"/>
              <a:t>: </a:t>
            </a:r>
            <a:r>
              <a:rPr lang="ko-KR" altLang="en-US" dirty="0"/>
              <a:t>동등분할</a:t>
            </a:r>
            <a:r>
              <a:rPr lang="en-US" altLang="ko-KR" dirty="0"/>
              <a:t>, </a:t>
            </a:r>
            <a:r>
              <a:rPr lang="ko-KR" altLang="en-US" dirty="0"/>
              <a:t>조합</a:t>
            </a:r>
          </a:p>
        </p:txBody>
      </p:sp>
      <p:sp>
        <p:nvSpPr>
          <p:cNvPr id="12" name="제목 3"/>
          <p:cNvSpPr txBox="1">
            <a:spLocks/>
          </p:cNvSpPr>
          <p:nvPr/>
        </p:nvSpPr>
        <p:spPr>
          <a:xfrm>
            <a:off x="251520" y="116632"/>
            <a:ext cx="312321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테스트케이스 설계</a:t>
            </a:r>
          </a:p>
        </p:txBody>
      </p:sp>
      <p:sp>
        <p:nvSpPr>
          <p:cNvPr id="13" name="텍스트 개체 틀 4"/>
          <p:cNvSpPr txBox="1">
            <a:spLocks/>
          </p:cNvSpPr>
          <p:nvPr/>
        </p:nvSpPr>
        <p:spPr>
          <a:xfrm>
            <a:off x="771196" y="744264"/>
            <a:ext cx="417639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3-2.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테스트케이스 설계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600" y="1268760"/>
            <a:ext cx="7704856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400" b="1" dirty="0"/>
              <a:t>3-2-2. </a:t>
            </a:r>
            <a:r>
              <a:rPr lang="ko-KR" altLang="en-US" sz="1400" b="1" dirty="0"/>
              <a:t>하나로</a:t>
            </a:r>
            <a:r>
              <a:rPr lang="en-US" altLang="ko-KR" sz="1400" b="1" dirty="0"/>
              <a:t>OK </a:t>
            </a:r>
            <a:r>
              <a:rPr lang="ko-KR" altLang="en-US" sz="1400" b="1" dirty="0"/>
              <a:t>정기업데이트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40886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403648" y="1556677"/>
            <a:ext cx="3240360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예시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2)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환자 진료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(Tx)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후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청구 조회 시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(PMS)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619672" y="1556792"/>
            <a:ext cx="6768752" cy="1872208"/>
            <a:chOff x="899592" y="1916832"/>
            <a:chExt cx="6768752" cy="1872208"/>
          </a:xfrm>
        </p:grpSpPr>
        <p:grpSp>
          <p:nvGrpSpPr>
            <p:cNvPr id="2" name="그룹 1"/>
            <p:cNvGrpSpPr/>
            <p:nvPr/>
          </p:nvGrpSpPr>
          <p:grpSpPr>
            <a:xfrm>
              <a:off x="899592" y="1916832"/>
              <a:ext cx="6768752" cy="1872208"/>
              <a:chOff x="467544" y="1916832"/>
              <a:chExt cx="6768752" cy="1872208"/>
            </a:xfrm>
          </p:grpSpPr>
          <p:grpSp>
            <p:nvGrpSpPr>
              <p:cNvPr id="18" name="그룹 17"/>
              <p:cNvGrpSpPr/>
              <p:nvPr/>
            </p:nvGrpSpPr>
            <p:grpSpPr>
              <a:xfrm>
                <a:off x="539552" y="1916832"/>
                <a:ext cx="6696744" cy="1872208"/>
                <a:chOff x="-5604" y="2996952"/>
                <a:chExt cx="6538807" cy="1872208"/>
              </a:xfrm>
            </p:grpSpPr>
            <p:sp>
              <p:nvSpPr>
                <p:cNvPr id="19" name="아래쪽 화살표 18"/>
                <p:cNvSpPr/>
                <p:nvPr/>
              </p:nvSpPr>
              <p:spPr>
                <a:xfrm>
                  <a:off x="2915816" y="2996952"/>
                  <a:ext cx="720080" cy="1872208"/>
                </a:xfrm>
                <a:prstGeom prst="downArrow">
                  <a:avLst/>
                </a:prstGeom>
                <a:gradFill>
                  <a:gsLst>
                    <a:gs pos="53206">
                      <a:srgbClr val="C4D4E9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tx2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p:spPr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endParaRPr lang="ko-KR" altLang="en-US" sz="11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1" name="왼쪽으로 구부러진 화살표 20"/>
                <p:cNvSpPr/>
                <p:nvPr/>
              </p:nvSpPr>
              <p:spPr>
                <a:xfrm>
                  <a:off x="3635896" y="3356992"/>
                  <a:ext cx="648072" cy="1224136"/>
                </a:xfrm>
                <a:prstGeom prst="curvedLeftArrow">
                  <a:avLst/>
                </a:prstGeom>
                <a:solidFill>
                  <a:srgbClr val="C86866"/>
                </a:solidFill>
              </p:spPr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endParaRPr lang="ko-KR" altLang="en-US" sz="11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2" name="오른쪽으로 구부러진 화살표 21"/>
                <p:cNvSpPr/>
                <p:nvPr/>
              </p:nvSpPr>
              <p:spPr>
                <a:xfrm>
                  <a:off x="2267744" y="3356992"/>
                  <a:ext cx="648072" cy="1224136"/>
                </a:xfrm>
                <a:prstGeom prst="curvedRightArrow">
                  <a:avLst/>
                </a:prstGeom>
                <a:solidFill>
                  <a:srgbClr val="C86866"/>
                </a:solidFill>
              </p:spPr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endParaRPr lang="ko-KR" altLang="en-US" sz="11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4503390" y="3356992"/>
                  <a:ext cx="2029813" cy="241980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r>
                    <a:rPr lang="ko-KR" altLang="en-US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구순구개열 진료구분 오류 </a:t>
                  </a: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-5604" y="3284984"/>
                  <a:ext cx="2273348" cy="241980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r>
                    <a:rPr lang="ko-KR" altLang="en-US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조합코드 혹은 증번호 기재 누락 </a:t>
                  </a:r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5220072" y="2564904"/>
                <a:ext cx="1738384" cy="2419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ko-KR" altLang="en-US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피보험자 기재 누락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39552" y="2492896"/>
                <a:ext cx="1738384" cy="2419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ko-KR" altLang="en-US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상병명 기재 누락 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67544" y="2780928"/>
                <a:ext cx="1738384" cy="2419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ko-KR" altLang="en-US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틀니 등록번호 오류  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67544" y="3099623"/>
                <a:ext cx="2376264" cy="2419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ko-KR" altLang="en-US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임플란트 타 의료기관 등록 오류 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220072" y="2852936"/>
                <a:ext cx="1738384" cy="2419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ko-KR" altLang="en-US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진료 보험구분 오류</a:t>
                </a: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3675506" y="2609128"/>
              <a:ext cx="1316528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정상 청구 조회 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372200" y="2799224"/>
            <a:ext cx="223224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삭제된 상병명 사용 시 오류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630497"/>
              </p:ext>
            </p:extLst>
          </p:nvPr>
        </p:nvGraphicFramePr>
        <p:xfrm>
          <a:off x="827584" y="3501008"/>
          <a:ext cx="8064896" cy="28815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5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9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126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6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Depth 1 </a:t>
                      </a:r>
                      <a:endParaRPr lang="en-US" sz="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Depth 2</a:t>
                      </a:r>
                      <a:endParaRPr lang="en-US" sz="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Depth 3</a:t>
                      </a:r>
                      <a:endParaRPr lang="en-US" sz="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Depth 4</a:t>
                      </a:r>
                      <a:endParaRPr lang="en-US" sz="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Title</a:t>
                      </a:r>
                      <a:endParaRPr lang="en-US" sz="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Pre-condition</a:t>
                      </a:r>
                      <a:endParaRPr lang="en-US" sz="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Test Step</a:t>
                      </a:r>
                      <a:endParaRPr lang="en-US" sz="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Expected Result</a:t>
                      </a:r>
                      <a:endParaRPr lang="en-US" sz="8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6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청구조회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정상조회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보험청구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보험차트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환자로딩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(ex: </a:t>
                      </a:r>
                      <a:r>
                        <a:rPr lang="ko-KR" altLang="en-US" sz="800" u="none" strike="noStrike" dirty="0">
                          <a:effectLst/>
                        </a:rPr>
                        <a:t>발수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에러 없이 정상 청구됨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 </a:t>
                      </a:r>
                      <a:r>
                        <a:rPr lang="en-US" altLang="ko-KR" sz="800" u="none" strike="noStrike" dirty="0">
                          <a:effectLst/>
                        </a:rPr>
                        <a:t>&amp;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 진료비 동일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3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청구조회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비정상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삭제된 상병 입력 오류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보험차트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환자로딩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삭제되지 않은 주상병 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(ex: K02.1 </a:t>
                      </a:r>
                      <a:r>
                        <a:rPr lang="ko-KR" altLang="en-US" sz="800" u="none" strike="noStrike" dirty="0">
                          <a:effectLst/>
                        </a:rPr>
                        <a:t>상아질 우식증</a:t>
                      </a:r>
                      <a:r>
                        <a:rPr lang="en-US" altLang="ko-KR" sz="800" u="none" strike="noStrike" dirty="0">
                          <a:effectLst/>
                        </a:rPr>
                        <a:t>) 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삭제된 상병으로 변경</a:t>
                      </a:r>
                      <a:r>
                        <a:rPr lang="en-US" altLang="ko-KR" sz="800" u="none" strike="noStrike" dirty="0">
                          <a:effectLst/>
                        </a:rPr>
                        <a:t>(ex: K00.41)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 조회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에러목록 확인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청구조회 에러목록에 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삭제된 상병명 사용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에러가 출력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54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청구조회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비정상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보험구분 변경 오류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보험차트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보험환자 로딩 후 보험구분 변경 </a:t>
                      </a:r>
                      <a:r>
                        <a:rPr lang="en-US" altLang="ko-KR" sz="800" u="none" strike="noStrike" dirty="0">
                          <a:effectLst/>
                        </a:rPr>
                        <a:t>(ex:</a:t>
                      </a:r>
                      <a:r>
                        <a:rPr lang="ko-KR" altLang="en-US" sz="800" u="none" strike="noStrike" dirty="0">
                          <a:effectLst/>
                        </a:rPr>
                        <a:t>의료급여</a:t>
                      </a:r>
                      <a:r>
                        <a:rPr lang="en-US" altLang="ko-KR" sz="800" u="none" strike="noStrike" dirty="0">
                          <a:effectLst/>
                        </a:rPr>
                        <a:t>) 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(ex: </a:t>
                      </a:r>
                      <a:r>
                        <a:rPr lang="ko-KR" altLang="en-US" sz="800" u="none" strike="noStrike" dirty="0">
                          <a:effectLst/>
                        </a:rPr>
                        <a:t>발수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청구조회 에러목록에 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보험정보 기재착오</a:t>
                      </a:r>
                      <a:r>
                        <a:rPr lang="en-US" altLang="ko-KR" sz="800" u="none" strike="noStrike" dirty="0">
                          <a:effectLst/>
                        </a:rPr>
                        <a:t>]</a:t>
                      </a:r>
                      <a:r>
                        <a:rPr lang="en-US" altLang="ko-KR" sz="800" u="none" strike="noStrike" baseline="0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에러가 출력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54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청구조회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비정상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구순구계열 등록번호 오류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보험차트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환자로딩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구순구개열 처치입력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등록번호 미입력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청구조회 에러목록에 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구순구계열 교정진료 등록번호 기재누락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포함된 에러 출력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769" marR="7118" marT="711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66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청구조회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비정상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상병명 누락 오류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보험차트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환자로딩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(ex: </a:t>
                      </a:r>
                      <a:r>
                        <a:rPr lang="ko-KR" altLang="en-US" sz="800" u="none" strike="noStrike" dirty="0">
                          <a:effectLst/>
                        </a:rPr>
                        <a:t>발수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ko-KR" altLang="en-US" sz="800" u="none" strike="noStrike" dirty="0">
                          <a:effectLst/>
                        </a:rPr>
                        <a:t>상병명 미 입력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청구조회 에러목록에 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상병명 기재 누락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포함된 에러 출력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769" marR="7118" marT="7118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6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청구조회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비정상 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임플란트 타 의료기관 등록 오류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타 의료기관에 등록된 환자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1. </a:t>
                      </a:r>
                      <a:r>
                        <a:rPr lang="ko-KR" altLang="en-US" sz="800" u="none" strike="noStrike" dirty="0">
                          <a:effectLst/>
                        </a:rPr>
                        <a:t>보험차트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환자로딩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2. </a:t>
                      </a:r>
                      <a:r>
                        <a:rPr lang="ko-KR" altLang="en-US" sz="800" u="none" strike="noStrike" dirty="0">
                          <a:effectLst/>
                        </a:rPr>
                        <a:t>진료입력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</a:t>
                      </a:r>
                      <a:r>
                        <a:rPr lang="ko-KR" altLang="en-US" sz="800" u="none" strike="noStrike" dirty="0">
                          <a:effectLst/>
                        </a:rPr>
                        <a:t>틀니 처치버튼 입력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3.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청구조회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18" marR="7118" marT="711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 dirty="0">
                          <a:effectLst/>
                        </a:rPr>
                        <a:t># </a:t>
                      </a:r>
                      <a:r>
                        <a:rPr lang="ko-KR" altLang="en-US" sz="800" u="none" strike="noStrike" dirty="0">
                          <a:effectLst/>
                        </a:rPr>
                        <a:t>청구조회 에러목록에 </a:t>
                      </a:r>
                      <a:r>
                        <a:rPr lang="en-US" altLang="ko-KR" sz="800" u="none" strike="noStrike" dirty="0">
                          <a:effectLst/>
                        </a:rPr>
                        <a:t>[</a:t>
                      </a:r>
                      <a:r>
                        <a:rPr lang="ko-KR" altLang="en-US" sz="800" u="none" strike="noStrike" dirty="0">
                          <a:effectLst/>
                        </a:rPr>
                        <a:t>임플란트 타 의료기관 등록 오류</a:t>
                      </a:r>
                      <a:r>
                        <a:rPr lang="en-US" altLang="ko-KR" sz="800" u="none" strike="noStrike" dirty="0">
                          <a:effectLst/>
                        </a:rPr>
                        <a:t>] </a:t>
                      </a:r>
                      <a:r>
                        <a:rPr lang="ko-KR" altLang="en-US" sz="800" u="none" strike="noStrike" dirty="0">
                          <a:effectLst/>
                        </a:rPr>
                        <a:t>포함된 에러 출력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6769" marR="7118" marT="7118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제목 3"/>
          <p:cNvSpPr txBox="1">
            <a:spLocks/>
          </p:cNvSpPr>
          <p:nvPr/>
        </p:nvSpPr>
        <p:spPr>
          <a:xfrm>
            <a:off x="251520" y="116632"/>
            <a:ext cx="3033450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</a:rPr>
              <a:t>테스트케이스 예외처리</a:t>
            </a:r>
          </a:p>
        </p:txBody>
      </p:sp>
      <p:sp>
        <p:nvSpPr>
          <p:cNvPr id="35" name="텍스트 개체 틀 4"/>
          <p:cNvSpPr txBox="1">
            <a:spLocks/>
          </p:cNvSpPr>
          <p:nvPr/>
        </p:nvSpPr>
        <p:spPr>
          <a:xfrm>
            <a:off x="771196" y="744264"/>
            <a:ext cx="3326799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4-1.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통합 테스트 예외처리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?</a:t>
            </a:r>
            <a:endParaRPr lang="ko-KR" altLang="en-US" sz="20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4730" y="1155178"/>
            <a:ext cx="4320480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600" b="1" dirty="0"/>
              <a:t>4-1-1. </a:t>
            </a:r>
            <a:r>
              <a:rPr lang="ko-KR" altLang="en-US" sz="1600" b="1" dirty="0"/>
              <a:t>통합 테스트 예외처리 예시 </a:t>
            </a:r>
            <a:r>
              <a:rPr lang="en-US" altLang="ko-KR" sz="1600" b="1" dirty="0"/>
              <a:t>2</a:t>
            </a:r>
            <a:r>
              <a:rPr lang="ko-KR" altLang="en-US" sz="16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0834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1259632" y="1302905"/>
            <a:ext cx="7704856" cy="155003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228600" indent="-228600">
              <a:buAutoNum type="arabicParenR"/>
            </a:pPr>
            <a:r>
              <a:rPr lang="ko-KR" altLang="en-US" sz="1200" b="1" dirty="0"/>
              <a:t>요구사항 항목 및 개발 설계에 동작에 대한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에러 이벤트에 대한 정의 필요</a:t>
            </a:r>
            <a:endParaRPr lang="en-US" altLang="ko-KR" sz="1200" b="1" dirty="0"/>
          </a:p>
          <a:p>
            <a:r>
              <a:rPr lang="en-US" altLang="ko-KR" sz="1200" b="1" dirty="0"/>
              <a:t>  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(by </a:t>
            </a:r>
            <a:r>
              <a:rPr lang="ko-KR" altLang="en-US" sz="1200" b="1" dirty="0"/>
              <a:t>개발실 </a:t>
            </a:r>
            <a:r>
              <a:rPr lang="en-US" altLang="ko-KR" sz="1200" b="1" dirty="0"/>
              <a:t>or </a:t>
            </a:r>
            <a:r>
              <a:rPr lang="ko-KR" altLang="en-US" sz="1200" b="1" dirty="0"/>
              <a:t>기획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 </a:t>
            </a:r>
            <a:r>
              <a:rPr lang="en-US" altLang="ko-KR" sz="1200" dirty="0"/>
              <a:t> </a:t>
            </a:r>
          </a:p>
          <a:p>
            <a:endParaRPr lang="en-US" altLang="ko-KR" sz="1200" dirty="0"/>
          </a:p>
          <a:p>
            <a:r>
              <a:rPr lang="en-US" altLang="ko-KR" sz="1200" b="1" dirty="0"/>
              <a:t>2) </a:t>
            </a:r>
            <a:r>
              <a:rPr lang="ko-KR" altLang="en-US" sz="1200" b="1" dirty="0"/>
              <a:t>요구사항 분석 중 </a:t>
            </a:r>
            <a:r>
              <a:rPr lang="en-US" altLang="ko-KR" sz="1200" dirty="0"/>
              <a:t> </a:t>
            </a:r>
            <a:r>
              <a:rPr lang="en-US" altLang="ko-KR" sz="1200" b="1" dirty="0">
                <a:solidFill>
                  <a:srgbClr val="0070C0"/>
                </a:solidFill>
              </a:rPr>
              <a:t>Valid</a:t>
            </a:r>
            <a:r>
              <a:rPr lang="en-US" altLang="ko-KR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/>
              <a:t>한 경우 </a:t>
            </a:r>
            <a:r>
              <a:rPr lang="en-US" altLang="ko-KR" sz="1200" b="1" dirty="0">
                <a:solidFill>
                  <a:srgbClr val="FF0000"/>
                </a:solidFill>
              </a:rPr>
              <a:t>Invalid</a:t>
            </a:r>
            <a:r>
              <a:rPr lang="en-US" altLang="ko-KR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/>
              <a:t>한 경우 식별하여 테스트컨디션 화 </a:t>
            </a:r>
            <a:endParaRPr lang="en-US" altLang="ko-KR" sz="1200" dirty="0"/>
          </a:p>
          <a:p>
            <a:r>
              <a:rPr lang="en-US" altLang="ko-KR" sz="1200" dirty="0"/>
              <a:t>    (</a:t>
            </a:r>
            <a:r>
              <a:rPr lang="en-US" altLang="ko-KR" sz="1200" dirty="0">
                <a:solidFill>
                  <a:srgbClr val="0070C0"/>
                </a:solidFill>
              </a:rPr>
              <a:t>Valid </a:t>
            </a:r>
            <a:r>
              <a:rPr lang="en-US" altLang="ko-KR" sz="1200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srgbClr val="0070C0"/>
                </a:solidFill>
                <a:sym typeface="Wingdings" panose="05000000000000000000" pitchFamily="2" charset="2"/>
              </a:rPr>
              <a:t>정상</a:t>
            </a:r>
            <a:r>
              <a:rPr lang="en-US" altLang="ko-KR" sz="1200" dirty="0">
                <a:sym typeface="Wingdings" panose="05000000000000000000" pitchFamily="2" charset="2"/>
              </a:rPr>
              <a:t>,</a:t>
            </a: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 Invalid  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비정상</a:t>
            </a: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예외처리</a:t>
            </a:r>
            <a:r>
              <a:rPr lang="en-US" altLang="ko-KR" sz="1200" dirty="0">
                <a:sym typeface="Wingdings" panose="05000000000000000000" pitchFamily="2" charset="2"/>
              </a:rPr>
              <a:t>) </a:t>
            </a:r>
          </a:p>
          <a:p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en-US" altLang="ko-KR" sz="1200" b="1" dirty="0">
                <a:sym typeface="Wingdings" panose="05000000000000000000" pitchFamily="2" charset="2"/>
              </a:rPr>
              <a:t>3) </a:t>
            </a:r>
            <a:r>
              <a:rPr lang="ko-KR" altLang="en-US" sz="1200" b="1" dirty="0">
                <a:sym typeface="Wingdings" panose="05000000000000000000" pitchFamily="2" charset="2"/>
              </a:rPr>
              <a:t>식별된 테스트컨디션을 테스트케이스 설계 준비</a:t>
            </a:r>
            <a:endParaRPr lang="en-US" altLang="ko-KR" sz="1200" b="1" dirty="0">
              <a:sym typeface="Wingdings" panose="05000000000000000000" pitchFamily="2" charset="2"/>
            </a:endParaRPr>
          </a:p>
          <a:p>
            <a:endParaRPr lang="en-US" altLang="ko-KR" sz="12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310107"/>
              </p:ext>
            </p:extLst>
          </p:nvPr>
        </p:nvGraphicFramePr>
        <p:xfrm>
          <a:off x="771196" y="2916398"/>
          <a:ext cx="8046338" cy="2744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4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모듈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UI </a:t>
                      </a:r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화면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동작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에러 이벤트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Message Text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35">
                <a:tc rowSpan="14">
                  <a:txBody>
                    <a:bodyPr/>
                    <a:lstStyle/>
                    <a:p>
                      <a:pPr algn="ctr" fontAlgn="t"/>
                      <a:r>
                        <a:rPr lang="en-US" sz="800" u="none" strike="noStrike" dirty="0">
                          <a:effectLst/>
                        </a:rPr>
                        <a:t>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Patient List UI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Patient Info UI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Delete </a:t>
                      </a:r>
                      <a:r>
                        <a:rPr lang="ko-KR" altLang="en-US" sz="800" u="none" strike="noStrike" dirty="0">
                          <a:effectLst/>
                        </a:rPr>
                        <a:t>버튼 클릭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선택된 환자의 정보를 삭제할 경우 알림 확인 메시지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Are you sure to delete the selected patient information?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>
                          <a:effectLst/>
                        </a:rPr>
                        <a:t>If deleting patient information, all data related the patient information is also deleted.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선택된 환자 정보 삭제에 실패 한 경우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Failed to delete selected patient information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환자 선택 하지 않고 </a:t>
                      </a:r>
                      <a:r>
                        <a:rPr lang="en-US" altLang="ko-KR" sz="800" u="none" strike="noStrike" dirty="0">
                          <a:effectLst/>
                        </a:rPr>
                        <a:t>Delete </a:t>
                      </a:r>
                      <a:r>
                        <a:rPr lang="ko-KR" altLang="en-US" sz="800" u="none" strike="noStrike" dirty="0">
                          <a:effectLst/>
                        </a:rPr>
                        <a:t>클릭 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Please select patient in a patient 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Edit </a:t>
                      </a:r>
                      <a:r>
                        <a:rPr lang="ko-KR" altLang="en-US" sz="800" u="none" strike="noStrike" dirty="0">
                          <a:effectLst/>
                        </a:rPr>
                        <a:t>버튼 클릭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환자 선택 하지 않고 </a:t>
                      </a:r>
                      <a:r>
                        <a:rPr lang="en-US" altLang="ko-KR" sz="800" u="none" strike="noStrike" dirty="0">
                          <a:effectLst/>
                        </a:rPr>
                        <a:t>Edit </a:t>
                      </a:r>
                      <a:r>
                        <a:rPr lang="ko-KR" altLang="en-US" sz="800" u="none" strike="noStrike" dirty="0">
                          <a:effectLst/>
                        </a:rPr>
                        <a:t>클릭 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Please select patient in a patient 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Case List UI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Export </a:t>
                      </a:r>
                      <a:r>
                        <a:rPr lang="ko-KR" altLang="en-US" sz="800" u="none" strike="noStrike" dirty="0">
                          <a:effectLst/>
                        </a:rPr>
                        <a:t>버튼 클릭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*</a:t>
                      </a:r>
                      <a:r>
                        <a:rPr lang="en-US" altLang="ko-KR" sz="800" u="none" strike="noStrike" dirty="0">
                          <a:effectLst/>
                        </a:rPr>
                        <a:t>.case </a:t>
                      </a:r>
                      <a:r>
                        <a:rPr lang="ko-KR" altLang="en-US" sz="800" u="none" strike="noStrike" dirty="0">
                          <a:effectLst/>
                        </a:rPr>
                        <a:t>파일이 성공적으로 생성 및 저장된 경우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Case export is completed.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>
                          <a:effectLst/>
                        </a:rPr>
                        <a:t>Patient xml </a:t>
                      </a:r>
                      <a:r>
                        <a:rPr lang="ko-KR" altLang="en-US" sz="800" u="none" strike="noStrike" dirty="0">
                          <a:effectLst/>
                        </a:rPr>
                        <a:t>파일 또는 </a:t>
                      </a:r>
                      <a:r>
                        <a:rPr lang="en-US" altLang="ko-KR" sz="800" u="none" strike="noStrike" dirty="0">
                          <a:effectLst/>
                        </a:rPr>
                        <a:t>Dental.case.xml </a:t>
                      </a:r>
                      <a:r>
                        <a:rPr lang="ko-KR" altLang="en-US" sz="800" u="none" strike="noStrike" dirty="0">
                          <a:effectLst/>
                        </a:rPr>
                        <a:t>파일 저장 실패 했을 경우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Save failed. Please check user save path.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1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Case Export</a:t>
                      </a:r>
                      <a:r>
                        <a:rPr lang="ko-KR" altLang="en-US" sz="800" u="none" strike="noStrike" dirty="0">
                          <a:effectLst/>
                        </a:rPr>
                        <a:t>에 실패한 경우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Failed to export to case.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Import </a:t>
                      </a:r>
                      <a:r>
                        <a:rPr lang="ko-KR" altLang="en-US" sz="800" u="none" strike="noStrike" dirty="0">
                          <a:effectLst/>
                        </a:rPr>
                        <a:t>버튼 클릭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케이스 </a:t>
                      </a:r>
                      <a:r>
                        <a:rPr lang="en-US" altLang="ko-KR" sz="800" u="none" strike="noStrike" dirty="0">
                          <a:effectLst/>
                        </a:rPr>
                        <a:t>Import</a:t>
                      </a:r>
                      <a:r>
                        <a:rPr lang="ko-KR" altLang="en-US" sz="800" u="none" strike="noStrike" dirty="0">
                          <a:effectLst/>
                        </a:rPr>
                        <a:t>하는 도중 선택된 환자와 </a:t>
                      </a:r>
                      <a:r>
                        <a:rPr lang="en-US" altLang="ko-KR" sz="800" u="none" strike="noStrike" dirty="0">
                          <a:effectLst/>
                        </a:rPr>
                        <a:t>import</a:t>
                      </a:r>
                      <a:r>
                        <a:rPr lang="ko-KR" altLang="en-US" sz="800" u="none" strike="noStrike" dirty="0">
                          <a:effectLst/>
                        </a:rPr>
                        <a:t>된 환자의 차트 넘버가 동일 하지 않은 경우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Chart number is not the same. 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>
                          <a:effectLst/>
                        </a:rPr>
                        <a:t>Please check and try again.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1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환자 선택 하지 않고 </a:t>
                      </a:r>
                      <a:r>
                        <a:rPr lang="en-US" altLang="ko-KR" sz="800" u="none" strike="noStrike" dirty="0">
                          <a:effectLst/>
                        </a:rPr>
                        <a:t>import </a:t>
                      </a:r>
                      <a:r>
                        <a:rPr lang="ko-KR" altLang="en-US" sz="800" u="none" strike="noStrike" dirty="0">
                          <a:effectLst/>
                        </a:rPr>
                        <a:t>버튼 클릭 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Please select a patient in a patient list.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0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sz="800" u="none" strike="noStrike" dirty="0">
                          <a:effectLst/>
                        </a:rPr>
                        <a:t>Patient xml </a:t>
                      </a:r>
                      <a:r>
                        <a:rPr lang="ko-KR" altLang="en-US" sz="800" u="none" strike="noStrike" dirty="0">
                          <a:effectLst/>
                        </a:rPr>
                        <a:t>파일 또는 </a:t>
                      </a:r>
                      <a:r>
                        <a:rPr lang="en-US" altLang="ko-KR" sz="800" u="none" strike="noStrike" dirty="0">
                          <a:effectLst/>
                        </a:rPr>
                        <a:t>Dental.case.xml </a:t>
                      </a:r>
                      <a:r>
                        <a:rPr lang="ko-KR" altLang="en-US" sz="800" u="none" strike="noStrike" dirty="0">
                          <a:effectLst/>
                        </a:rPr>
                        <a:t>파일이 없는 경우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Failed to import case.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>
                          <a:effectLst/>
                        </a:rPr>
                        <a:t>Patient.Case.xml file or Dental.Case.xml file does not exist.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1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케이스 </a:t>
                      </a:r>
                      <a:r>
                        <a:rPr lang="en-US" altLang="ko-KR" sz="800" u="none" strike="noStrike" dirty="0">
                          <a:effectLst/>
                        </a:rPr>
                        <a:t>Import </a:t>
                      </a:r>
                      <a:r>
                        <a:rPr lang="ko-KR" altLang="en-US" sz="800" u="none" strike="noStrike" dirty="0">
                          <a:effectLst/>
                        </a:rPr>
                        <a:t>실패한 경우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Failed to import case.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0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Delete </a:t>
                      </a:r>
                      <a:r>
                        <a:rPr lang="ko-KR" altLang="en-US" sz="800" u="none" strike="noStrike" dirty="0">
                          <a:effectLst/>
                        </a:rPr>
                        <a:t>버튼 클릭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케이스 썸네일에서 우클릭한 후</a:t>
                      </a:r>
                      <a:r>
                        <a:rPr lang="en-US" altLang="ko-KR" sz="800" u="none" strike="noStrike" dirty="0">
                          <a:effectLst/>
                        </a:rPr>
                        <a:t>, Delete </a:t>
                      </a:r>
                      <a:r>
                        <a:rPr lang="ko-KR" altLang="en-US" sz="800" u="none" strike="noStrike" dirty="0">
                          <a:effectLst/>
                        </a:rPr>
                        <a:t>클릭 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Are you sure to delete this case?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>
                          <a:effectLst/>
                        </a:rPr>
                        <a:t>If deleting case information, all data related the case information is also deleted.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1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New </a:t>
                      </a:r>
                      <a:r>
                        <a:rPr lang="ko-KR" altLang="en-US" sz="800" u="none" strike="noStrike" dirty="0">
                          <a:effectLst/>
                        </a:rPr>
                        <a:t>버튼 클릭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800" u="none" strike="noStrike" dirty="0">
                          <a:effectLst/>
                        </a:rPr>
                        <a:t>환자 선택 하지 않고 </a:t>
                      </a:r>
                      <a:r>
                        <a:rPr lang="en-US" altLang="ko-KR" sz="800" u="none" strike="noStrike" dirty="0">
                          <a:effectLst/>
                        </a:rPr>
                        <a:t>New Case </a:t>
                      </a:r>
                      <a:r>
                        <a:rPr lang="ko-KR" altLang="en-US" sz="800" u="none" strike="noStrike" dirty="0">
                          <a:effectLst/>
                        </a:rPr>
                        <a:t>버튼 클릭 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Please select a patient in a patient list.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74" marR="4174" marT="4174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491880" y="5810085"/>
            <a:ext cx="252028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900" b="1" dirty="0"/>
              <a:t>[</a:t>
            </a:r>
            <a:r>
              <a:rPr lang="ko-KR" altLang="en-US" sz="900" b="1" dirty="0"/>
              <a:t>예시</a:t>
            </a:r>
            <a:r>
              <a:rPr lang="en-US" altLang="ko-KR" sz="900" b="1" dirty="0"/>
              <a:t>] OneGuide </a:t>
            </a:r>
            <a:r>
              <a:rPr lang="ko-KR" altLang="en-US" sz="900" b="1" dirty="0"/>
              <a:t>예외처리 정의 </a:t>
            </a:r>
            <a:r>
              <a:rPr lang="en-US" altLang="ko-KR" sz="900" b="1" dirty="0"/>
              <a:t>Sample</a:t>
            </a:r>
            <a:endParaRPr lang="ko-KR" altLang="en-US" sz="900" b="1" dirty="0"/>
          </a:p>
        </p:txBody>
      </p:sp>
      <p:sp>
        <p:nvSpPr>
          <p:cNvPr id="9" name="제목 3"/>
          <p:cNvSpPr txBox="1">
            <a:spLocks/>
          </p:cNvSpPr>
          <p:nvPr/>
        </p:nvSpPr>
        <p:spPr>
          <a:xfrm>
            <a:off x="251520" y="116632"/>
            <a:ext cx="286673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000" b="1" dirty="0">
                <a:solidFill>
                  <a:schemeClr val="bg1"/>
                </a:solidFill>
              </a:rPr>
              <a:t>4. </a:t>
            </a:r>
            <a:r>
              <a:rPr lang="ko-KR" altLang="en-US" sz="2000" b="1" dirty="0">
                <a:solidFill>
                  <a:schemeClr val="bg1"/>
                </a:solidFill>
              </a:rPr>
              <a:t>통합 테스트 예외처리</a:t>
            </a:r>
          </a:p>
        </p:txBody>
      </p:sp>
      <p:sp>
        <p:nvSpPr>
          <p:cNvPr id="10" name="텍스트 개체 틀 4"/>
          <p:cNvSpPr txBox="1">
            <a:spLocks/>
          </p:cNvSpPr>
          <p:nvPr/>
        </p:nvSpPr>
        <p:spPr>
          <a:xfrm>
            <a:off x="771196" y="744264"/>
            <a:ext cx="4442489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4-2.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테스트 예외처리를 하기 위해서 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?</a:t>
            </a:r>
            <a:endParaRPr lang="ko-KR" altLang="en-US" sz="20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8970680"/>
      </p:ext>
    </p:extLst>
  </p:cSld>
  <p:clrMapOvr>
    <a:masterClrMapping/>
  </p:clrMapOvr>
</p:sld>
</file>

<file path=ppt/theme/theme1.xml><?xml version="1.0" encoding="utf-8"?>
<a:theme xmlns:a="http://schemas.openxmlformats.org/drawingml/2006/main" name="사내용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</a:spPr>
      <a:bodyPr wrap="none" rtlCol="0" anchor="ctr">
        <a:noAutofit/>
      </a:bodyPr>
      <a:lstStyle>
        <a:defPPr algn="ctr">
          <a:lnSpc>
            <a:spcPct val="150000"/>
          </a:lnSpc>
          <a:defRPr sz="1600" dirty="0" err="1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txDef>
      <a:spPr>
        <a:noFill/>
      </a:spPr>
      <a:bodyPr wrap="none" lIns="36000" tIns="36000" rIns="36000" bIns="36000" rtlCol="0">
        <a:spAutoFit/>
      </a:bodyPr>
      <a:lstStyle>
        <a:defPPr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8299</TotalTime>
  <Words>9323</Words>
  <Application>Microsoft Office PowerPoint</Application>
  <PresentationFormat>화면 슬라이드 쇼(4:3)</PresentationFormat>
  <Paragraphs>2239</Paragraphs>
  <Slides>28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돋움</vt:lpstr>
      <vt:lpstr>맑은 고딕</vt:lpstr>
      <vt:lpstr>Arial</vt:lpstr>
      <vt:lpstr>Calibri</vt:lpstr>
      <vt:lpstr>Wingdings</vt:lpstr>
      <vt:lpstr>사내용 디자인</vt:lpstr>
      <vt:lpstr>통합 테스트케이스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 통합 테스트케이스 설계</vt:lpstr>
      <vt:lpstr>3. 통합 테스트케이스 설계</vt:lpstr>
      <vt:lpstr>3. 통합 테스트케이스 설계</vt:lpstr>
      <vt:lpstr>3. 통합 테스트케이스 설계</vt:lpstr>
      <vt:lpstr>3. 통합 테스트케이스 설계</vt:lpstr>
      <vt:lpstr>3. 통합 테스트케이스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Windows 사용자</dc:creator>
  <cp:lastModifiedBy>김원중/OW총괄본부/과장</cp:lastModifiedBy>
  <cp:revision>510</cp:revision>
  <dcterms:created xsi:type="dcterms:W3CDTF">2018-06-07T06:08:32Z</dcterms:created>
  <dcterms:modified xsi:type="dcterms:W3CDTF">2026-02-04T04:45:47Z</dcterms:modified>
</cp:coreProperties>
</file>